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73" r:id="rId16"/>
    <p:sldId id="274" r:id="rId17"/>
    <p:sldId id="275" r:id="rId18"/>
    <p:sldId id="27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0136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F2A3D"/>
          </a:solidFill>
          <a:ln/>
        </p:spPr>
      </p:sp>
      <p:sp>
        <p:nvSpPr>
          <p:cNvPr id="3" name="Shape 1"/>
          <p:cNvSpPr/>
          <p:nvPr/>
        </p:nvSpPr>
        <p:spPr>
          <a:xfrm>
            <a:off x="10607040" y="-548640"/>
            <a:ext cx="2377440" cy="2377440"/>
          </a:xfrm>
          <a:prstGeom prst="ellipse">
            <a:avLst/>
          </a:prstGeom>
          <a:solidFill>
            <a:srgbClr val="263349"/>
          </a:solidFill>
          <a:ln/>
        </p:spPr>
      </p:sp>
      <p:sp>
        <p:nvSpPr>
          <p:cNvPr id="4" name="Shape 2"/>
          <p:cNvSpPr/>
          <p:nvPr/>
        </p:nvSpPr>
        <p:spPr>
          <a:xfrm>
            <a:off x="-1280160" y="5120640"/>
            <a:ext cx="3291840" cy="3291840"/>
          </a:xfrm>
          <a:prstGeom prst="ellipse">
            <a:avLst/>
          </a:prstGeom>
          <a:solidFill>
            <a:srgbClr val="1F2A3D"/>
          </a:solidFill>
          <a:ln/>
        </p:spPr>
      </p:sp>
      <p:sp>
        <p:nvSpPr>
          <p:cNvPr id="5" name="Text 3"/>
          <p:cNvSpPr/>
          <p:nvPr/>
        </p:nvSpPr>
        <p:spPr>
          <a:xfrm>
            <a:off x="822960" y="640080"/>
            <a:ext cx="9144000" cy="365760"/>
          </a:xfrm>
          <a:prstGeom prst="rect">
            <a:avLst/>
          </a:prstGeom>
          <a:noFill/>
          <a:ln/>
        </p:spPr>
        <p:txBody>
          <a:bodyPr wrap="square" rtlCol="0" anchor="ctr"/>
          <a:lstStyle/>
          <a:p>
            <a:pPr marL="0" indent="0">
              <a:buNone/>
            </a:pPr>
            <a:r>
              <a:rPr lang="en-US" sz="1300" b="1" kern="0" spc="300" dirty="0">
                <a:solidFill>
                  <a:srgbClr val="D7FF3D"/>
                </a:solidFill>
                <a:latin typeface="Calibri" pitchFamily="34" charset="0"/>
                <a:ea typeface="Calibri" pitchFamily="34" charset="-122"/>
                <a:cs typeface="Calibri" pitchFamily="34" charset="-120"/>
              </a:rPr>
              <a:t>GRADUATION PROJECT  •  FITNESS &amp; GYM MANAGEMENT PLATFORM</a:t>
            </a:r>
            <a:endParaRPr lang="en-US" sz="1300" dirty="0"/>
          </a:p>
        </p:txBody>
      </p:sp>
      <p:sp>
        <p:nvSpPr>
          <p:cNvPr id="6" name="Text 4"/>
          <p:cNvSpPr/>
          <p:nvPr/>
        </p:nvSpPr>
        <p:spPr>
          <a:xfrm>
            <a:off x="777240" y="2011680"/>
            <a:ext cx="8778240" cy="2377440"/>
          </a:xfrm>
          <a:prstGeom prst="rect">
            <a:avLst/>
          </a:prstGeom>
          <a:noFill/>
          <a:ln/>
        </p:spPr>
        <p:txBody>
          <a:bodyPr wrap="square" rtlCol="0" anchor="ctr"/>
          <a:lstStyle/>
          <a:p>
            <a:pPr marL="0" indent="0">
              <a:lnSpc>
                <a:spcPts val="6000"/>
              </a:lnSpc>
              <a:buNone/>
            </a:pPr>
            <a:r>
              <a:rPr lang="en-US" sz="5800" b="1" dirty="0">
                <a:solidFill>
                  <a:srgbClr val="FFFFFF"/>
                </a:solidFill>
                <a:latin typeface="Cambria" pitchFamily="34" charset="0"/>
                <a:ea typeface="Cambria" pitchFamily="34" charset="-122"/>
                <a:cs typeface="Cambria" pitchFamily="34" charset="-120"/>
              </a:rPr>
              <a:t>YOUR GYM, </a:t>
            </a:r>
            <a:r>
              <a:rPr lang="en-US" sz="5800" b="1" dirty="0">
                <a:solidFill>
                  <a:srgbClr val="D7FF3D"/>
                </a:solidFill>
                <a:latin typeface="Cambria" pitchFamily="34" charset="0"/>
                <a:ea typeface="Cambria" pitchFamily="34" charset="-122"/>
                <a:cs typeface="Cambria" pitchFamily="34" charset="-120"/>
              </a:rPr>
              <a:t>FULLY</a:t>
            </a:r>
            <a:endParaRPr lang="en-US" sz="5800" dirty="0"/>
          </a:p>
          <a:p>
            <a:pPr marL="0" indent="0">
              <a:lnSpc>
                <a:spcPts val="6000"/>
              </a:lnSpc>
              <a:buNone/>
            </a:pPr>
            <a:r>
              <a:rPr lang="en-US" sz="5800" b="1" dirty="0">
                <a:solidFill>
                  <a:srgbClr val="D7FF3D"/>
                </a:solidFill>
                <a:latin typeface="Cambria" pitchFamily="34" charset="0"/>
                <a:ea typeface="Cambria" pitchFamily="34" charset="-122"/>
                <a:cs typeface="Cambria" pitchFamily="34" charset="-120"/>
              </a:rPr>
              <a:t>CONNECTED.</a:t>
            </a:r>
            <a:endParaRPr lang="en-US" sz="5800" dirty="0"/>
          </a:p>
        </p:txBody>
      </p:sp>
      <p:sp>
        <p:nvSpPr>
          <p:cNvPr id="7" name="Text 5"/>
          <p:cNvSpPr/>
          <p:nvPr/>
        </p:nvSpPr>
        <p:spPr>
          <a:xfrm>
            <a:off x="822960" y="4343400"/>
            <a:ext cx="7680960" cy="822960"/>
          </a:xfrm>
          <a:prstGeom prst="rect">
            <a:avLst/>
          </a:prstGeom>
          <a:noFill/>
          <a:ln/>
        </p:spPr>
        <p:txBody>
          <a:bodyPr wrap="square" rtlCol="0" anchor="ctr"/>
          <a:lstStyle/>
          <a:p>
            <a:pPr marL="0" indent="0">
              <a:buNone/>
            </a:pPr>
            <a:r>
              <a:rPr lang="en-US" sz="1500" dirty="0">
                <a:solidFill>
                  <a:srgbClr val="AAB4C4"/>
                </a:solidFill>
                <a:latin typeface="Calibri" pitchFamily="34" charset="0"/>
                <a:ea typeface="Calibri" pitchFamily="34" charset="-122"/>
                <a:cs typeface="Calibri" pitchFamily="34" charset="-120"/>
              </a:rPr>
              <a:t>One platform for memberships, classes, private training, attendance, payments and the gym shop — built for members, trainers and admins alike.</a:t>
            </a:r>
            <a:endParaRPr lang="en-US" sz="1500" dirty="0"/>
          </a:p>
        </p:txBody>
      </p:sp>
      <p:sp>
        <p:nvSpPr>
          <p:cNvPr id="8" name="Shape 6"/>
          <p:cNvSpPr/>
          <p:nvPr/>
        </p:nvSpPr>
        <p:spPr>
          <a:xfrm>
            <a:off x="822960" y="5394960"/>
            <a:ext cx="2103120" cy="566928"/>
          </a:xfrm>
          <a:prstGeom prst="rect">
            <a:avLst/>
          </a:prstGeom>
          <a:solidFill>
            <a:srgbClr val="D7FF3D"/>
          </a:solidFill>
          <a:ln/>
        </p:spPr>
      </p:sp>
      <p:sp>
        <p:nvSpPr>
          <p:cNvPr id="9" name="Text 7"/>
          <p:cNvSpPr/>
          <p:nvPr/>
        </p:nvSpPr>
        <p:spPr>
          <a:xfrm>
            <a:off x="822960" y="5394960"/>
            <a:ext cx="2103120" cy="566928"/>
          </a:xfrm>
          <a:prstGeom prst="rect">
            <a:avLst/>
          </a:prstGeom>
          <a:noFill/>
          <a:ln/>
        </p:spPr>
        <p:txBody>
          <a:bodyPr wrap="square" rtlCol="0" anchor="ctr"/>
          <a:lstStyle/>
          <a:p>
            <a:pPr marL="0" indent="0" algn="ctr">
              <a:buNone/>
            </a:pPr>
            <a:r>
              <a:rPr lang="en-US" sz="2200" b="1" dirty="0">
                <a:solidFill>
                  <a:srgbClr val="121826"/>
                </a:solidFill>
                <a:latin typeface="Cambria" pitchFamily="34" charset="0"/>
                <a:ea typeface="Cambria" pitchFamily="34" charset="-122"/>
                <a:cs typeface="Cambria" pitchFamily="34" charset="-120"/>
              </a:rPr>
              <a:t>FITCORE</a:t>
            </a:r>
            <a:endParaRPr lang="en-US" sz="2200" dirty="0"/>
          </a:p>
        </p:txBody>
      </p:sp>
      <p:sp>
        <p:nvSpPr>
          <p:cNvPr id="10" name="Text 8"/>
          <p:cNvSpPr/>
          <p:nvPr/>
        </p:nvSpPr>
        <p:spPr>
          <a:xfrm>
            <a:off x="3108960" y="5440680"/>
            <a:ext cx="4572000" cy="457200"/>
          </a:xfrm>
          <a:prstGeom prst="rect">
            <a:avLst/>
          </a:prstGeom>
          <a:noFill/>
          <a:ln/>
        </p:spPr>
        <p:txBody>
          <a:bodyPr wrap="square" rtlCol="0" anchor="ctr"/>
          <a:lstStyle/>
          <a:p>
            <a:pPr marL="0" indent="0">
              <a:buNone/>
            </a:pPr>
            <a:r>
              <a:rPr lang="en-US" sz="1250" dirty="0">
                <a:solidFill>
                  <a:srgbClr val="AAB4C4"/>
                </a:solidFill>
                <a:latin typeface="Calibri" pitchFamily="34" charset="0"/>
                <a:ea typeface="Calibri" pitchFamily="34" charset="-122"/>
                <a:cs typeface="Calibri" pitchFamily="34" charset="-120"/>
              </a:rPr>
              <a:t>ASP.NET Core Web API  ·  SQL Server  ·  Stripe</a:t>
            </a:r>
            <a:endParaRPr lang="en-US" sz="1250" dirty="0"/>
          </a:p>
        </p:txBody>
      </p:sp>
      <p:sp>
        <p:nvSpPr>
          <p:cNvPr id="11" name="Text 9"/>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AAB4C4"/>
                </a:solidFill>
                <a:latin typeface="Calibri" pitchFamily="34" charset="0"/>
                <a:ea typeface="Calibri" pitchFamily="34" charset="-122"/>
                <a:cs typeface="Calibri" pitchFamily="34" charset="-120"/>
              </a:rPr>
              <a:t>FITCORE  |  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dumbbell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INTRODUCTION</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Project Summary</a:t>
            </a:r>
            <a:endParaRPr lang="en-US" sz="3000" dirty="0"/>
          </a:p>
        </p:txBody>
      </p:sp>
      <p:sp>
        <p:nvSpPr>
          <p:cNvPr id="6" name="Text 3"/>
          <p:cNvSpPr/>
          <p:nvPr/>
        </p:nvSpPr>
        <p:spPr>
          <a:xfrm>
            <a:off x="502920" y="1508760"/>
            <a:ext cx="6400800" cy="2331720"/>
          </a:xfrm>
          <a:prstGeom prst="rect">
            <a:avLst/>
          </a:prstGeom>
          <a:noFill/>
          <a:ln/>
        </p:spPr>
        <p:txBody>
          <a:bodyPr wrap="square" rtlCol="0" anchor="ctr"/>
          <a:lstStyle/>
          <a:p>
            <a:pPr marL="0" indent="0">
              <a:lnSpc>
                <a:spcPct val="125000"/>
              </a:lnSpc>
              <a:buNone/>
            </a:pPr>
            <a:r>
              <a:rPr lang="en-US" sz="1350" dirty="0">
                <a:solidFill>
                  <a:srgbClr val="121826"/>
                </a:solidFill>
                <a:latin typeface="Calibri" pitchFamily="34" charset="0"/>
                <a:ea typeface="Calibri" pitchFamily="34" charset="-122"/>
                <a:cs typeface="Calibri" pitchFamily="34" charset="-120"/>
              </a:rPr>
              <a:t>FitCore is a fully developed gym management platform built to bring every side of running a gym — memberships, classes, private training, attendance, payments and the retail shop — into one connected system. Members can subscribe to plans, book classes and private sessions, check in with a QR code, and shop for products, while trainers manage their schedules and admins oversee the whole operation through a dedicated dashboard with full audit tracking.</a:t>
            </a:r>
            <a:endParaRPr lang="en-US" sz="1350" dirty="0"/>
          </a:p>
        </p:txBody>
      </p:sp>
      <p:sp>
        <p:nvSpPr>
          <p:cNvPr id="7" name="Shape 4"/>
          <p:cNvSpPr/>
          <p:nvPr/>
        </p:nvSpPr>
        <p:spPr>
          <a:xfrm>
            <a:off x="502920" y="3977640"/>
            <a:ext cx="6400800" cy="502920"/>
          </a:xfrm>
          <a:prstGeom prst="rect">
            <a:avLst/>
          </a:prstGeom>
          <a:solidFill>
            <a:srgbClr val="121826"/>
          </a:solidFill>
          <a:ln/>
        </p:spPr>
      </p:sp>
      <p:sp>
        <p:nvSpPr>
          <p:cNvPr id="8" name="Text 5"/>
          <p:cNvSpPr/>
          <p:nvPr/>
        </p:nvSpPr>
        <p:spPr>
          <a:xfrm>
            <a:off x="685800" y="3977640"/>
            <a:ext cx="6035040" cy="502920"/>
          </a:xfrm>
          <a:prstGeom prst="rect">
            <a:avLst/>
          </a:prstGeom>
          <a:noFill/>
          <a:ln/>
        </p:spPr>
        <p:txBody>
          <a:bodyPr wrap="square" rtlCol="0" anchor="ctr"/>
          <a:lstStyle/>
          <a:p>
            <a:pPr marL="0" indent="0">
              <a:buNone/>
            </a:pPr>
            <a:r>
              <a:rPr lang="en-US" sz="1200" i="1" dirty="0">
                <a:solidFill>
                  <a:srgbClr val="D7FF3D"/>
                </a:solidFill>
                <a:latin typeface="Calibri" pitchFamily="34" charset="0"/>
                <a:ea typeface="Calibri" pitchFamily="34" charset="-122"/>
                <a:cs typeface="Calibri" pitchFamily="34" charset="-120"/>
              </a:rPr>
              <a:t>Built with ASP.NET Core Web API (.NET 9) and SQL Server, using a layered API / BLL / DAL architecture.</a:t>
            </a:r>
            <a:endParaRPr lang="en-US" sz="1200" dirty="0"/>
          </a:p>
        </p:txBody>
      </p:sp>
      <p:sp>
        <p:nvSpPr>
          <p:cNvPr id="9" name="Shape 6"/>
          <p:cNvSpPr/>
          <p:nvPr/>
        </p:nvSpPr>
        <p:spPr>
          <a:xfrm>
            <a:off x="7223760" y="1508760"/>
            <a:ext cx="4480560" cy="4892040"/>
          </a:xfrm>
          <a:prstGeom prst="roundRect">
            <a:avLst>
              <a:gd name="adj" fmla="val 1633"/>
            </a:avLst>
          </a:prstGeom>
          <a:solidFill>
            <a:srgbClr val="1F2A3D"/>
          </a:solidFill>
          <a:ln/>
          <a:effectLst>
            <a:outerShdw blurRad="101600" dist="38100" dir="5400000" algn="bl" rotWithShape="0">
              <a:srgbClr val="000000">
                <a:alpha val="25000"/>
              </a:srgbClr>
            </a:outerShdw>
          </a:effectLst>
        </p:spPr>
      </p:sp>
      <p:sp>
        <p:nvSpPr>
          <p:cNvPr id="10" name="Shape 7"/>
          <p:cNvSpPr/>
          <p:nvPr/>
        </p:nvSpPr>
        <p:spPr>
          <a:xfrm>
            <a:off x="7498080" y="1783080"/>
            <a:ext cx="502920" cy="502920"/>
          </a:xfrm>
          <a:prstGeom prst="ellipse">
            <a:avLst/>
          </a:prstGeom>
          <a:solidFill>
            <a:srgbClr val="D7FF3D"/>
          </a:solidFill>
          <a:ln/>
        </p:spPr>
      </p:sp>
      <p:pic>
        <p:nvPicPr>
          <p:cNvPr id="11" name="Image 1" descr="/home/claude/work/icons/times_navy.png"/>
          <p:cNvPicPr>
            <a:picLocks noChangeAspect="1"/>
          </p:cNvPicPr>
          <p:nvPr/>
        </p:nvPicPr>
        <p:blipFill>
          <a:blip r:embed="rId4"/>
          <a:stretch>
            <a:fillRect/>
          </a:stretch>
        </p:blipFill>
        <p:spPr>
          <a:xfrm>
            <a:off x="7626096" y="1911096"/>
            <a:ext cx="246888" cy="246888"/>
          </a:xfrm>
          <a:prstGeom prst="rect">
            <a:avLst/>
          </a:prstGeom>
        </p:spPr>
      </p:pic>
      <p:sp>
        <p:nvSpPr>
          <p:cNvPr id="12" name="Text 8"/>
          <p:cNvSpPr/>
          <p:nvPr/>
        </p:nvSpPr>
        <p:spPr>
          <a:xfrm>
            <a:off x="8183880" y="1783080"/>
            <a:ext cx="3291840" cy="457200"/>
          </a:xfrm>
          <a:prstGeom prst="rect">
            <a:avLst/>
          </a:prstGeom>
          <a:noFill/>
          <a:ln/>
        </p:spPr>
        <p:txBody>
          <a:bodyPr wrap="square" rtlCol="0" anchor="ctr"/>
          <a:lstStyle/>
          <a:p>
            <a:pPr marL="0" indent="0">
              <a:buNone/>
            </a:pPr>
            <a:r>
              <a:rPr lang="en-US" sz="1400" b="1" kern="0" spc="150" dirty="0">
                <a:solidFill>
                  <a:srgbClr val="D7FF3D"/>
                </a:solidFill>
                <a:latin typeface="Calibri" pitchFamily="34" charset="0"/>
                <a:ea typeface="Calibri" pitchFamily="34" charset="-122"/>
                <a:cs typeface="Calibri" pitchFamily="34" charset="-120"/>
              </a:rPr>
              <a:t>THE PROBLEM</a:t>
            </a:r>
            <a:endParaRPr lang="en-US" sz="1400" dirty="0"/>
          </a:p>
        </p:txBody>
      </p:sp>
      <p:sp>
        <p:nvSpPr>
          <p:cNvPr id="13" name="Text 9"/>
          <p:cNvSpPr/>
          <p:nvPr/>
        </p:nvSpPr>
        <p:spPr>
          <a:xfrm>
            <a:off x="7498080" y="2423160"/>
            <a:ext cx="3931920" cy="3794760"/>
          </a:xfrm>
          <a:prstGeom prst="rect">
            <a:avLst/>
          </a:prstGeom>
          <a:noFill/>
          <a:ln/>
        </p:spPr>
        <p:txBody>
          <a:bodyPr wrap="square" rtlCol="0" anchor="ctr"/>
          <a:lstStyle/>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Most gyms still juggle spreadsheets, paper sign-in sheets, and separate tools for bookings, payments and stock. Members have no self-service way to track subscriptions, book classes or private sessions, and admins lack a single, accountable view of what changed and when across the business.</a:t>
            </a:r>
            <a:endParaRPr lang="en-US" sz="1250" dirty="0"/>
          </a:p>
          <a:p>
            <a:pPr marL="0" indent="0">
              <a:lnSpc>
                <a:spcPct val="130000"/>
              </a:lnSpc>
              <a:buNone/>
            </a:pPr>
            <a:endParaRPr lang="en-US" sz="1250" dirty="0"/>
          </a:p>
          <a:p>
            <a:pPr marL="0" indent="0">
              <a:lnSpc>
                <a:spcPct val="130000"/>
              </a:lnSpc>
              <a:buNone/>
            </a:pPr>
            <a:r>
              <a:rPr lang="en-US" sz="1250" dirty="0">
                <a:solidFill>
                  <a:srgbClr val="FFFFFF"/>
                </a:solidFill>
                <a:latin typeface="Calibri" pitchFamily="34" charset="0"/>
                <a:ea typeface="Calibri" pitchFamily="34" charset="-122"/>
                <a:cs typeface="Calibri" pitchFamily="34" charset="-120"/>
              </a:rPr>
              <a:t>FitCore solves this by replacing scattered manual processes with one secure platform where every membership, booking, payment and inventory change is tracked, automated and accessible in real time.</a:t>
            </a:r>
            <a:endParaRPr lang="en-US" sz="1250" dirty="0"/>
          </a:p>
        </p:txBody>
      </p:sp>
      <p:sp>
        <p:nvSpPr>
          <p:cNvPr id="14" name="Text 10"/>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F2A3D"/>
          </a:solidFill>
          <a:ln/>
        </p:spPr>
      </p:sp>
      <p:sp>
        <p:nvSpPr>
          <p:cNvPr id="3" name="Text 1"/>
          <p:cNvSpPr/>
          <p:nvPr/>
        </p:nvSpPr>
        <p:spPr>
          <a:xfrm>
            <a:off x="502920" y="384048"/>
            <a:ext cx="5486400" cy="320040"/>
          </a:xfrm>
          <a:prstGeom prst="rect">
            <a:avLst/>
          </a:prstGeom>
          <a:noFill/>
          <a:ln/>
        </p:spPr>
        <p:txBody>
          <a:bodyPr wrap="square" rtlCol="0" anchor="ctr"/>
          <a:lstStyle/>
          <a:p>
            <a:pPr marL="0" indent="0">
              <a:buNone/>
            </a:pPr>
            <a:r>
              <a:rPr lang="en-US" sz="1300" b="1" kern="0" spc="300" dirty="0">
                <a:solidFill>
                  <a:srgbClr val="D7FF3D"/>
                </a:solidFill>
                <a:latin typeface="Calibri" pitchFamily="34" charset="0"/>
                <a:ea typeface="Calibri" pitchFamily="34" charset="-122"/>
                <a:cs typeface="Calibri" pitchFamily="34" charset="-120"/>
              </a:rPr>
              <a:t>MOTIVATION</a:t>
            </a:r>
            <a:endParaRPr lang="en-US" sz="1300" dirty="0"/>
          </a:p>
        </p:txBody>
      </p:sp>
      <p:sp>
        <p:nvSpPr>
          <p:cNvPr id="4" name="Text 2"/>
          <p:cNvSpPr/>
          <p:nvPr/>
        </p:nvSpPr>
        <p:spPr>
          <a:xfrm>
            <a:off x="502920" y="77724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FitCore?</a:t>
            </a:r>
            <a:endParaRPr lang="en-US" sz="3200" dirty="0"/>
          </a:p>
        </p:txBody>
      </p:sp>
      <p:sp>
        <p:nvSpPr>
          <p:cNvPr id="5" name="Text 3"/>
          <p:cNvSpPr/>
          <p:nvPr/>
        </p:nvSpPr>
        <p:spPr>
          <a:xfrm>
            <a:off x="502920" y="1600200"/>
            <a:ext cx="10881360" cy="1280160"/>
          </a:xfrm>
          <a:prstGeom prst="rect">
            <a:avLst/>
          </a:prstGeom>
          <a:noFill/>
          <a:ln/>
        </p:spPr>
        <p:txBody>
          <a:bodyPr wrap="square" rtlCol="0" anchor="ctr"/>
          <a:lstStyle/>
          <a:p>
            <a:pPr marL="0" indent="0">
              <a:lnSpc>
                <a:spcPct val="130000"/>
              </a:lnSpc>
              <a:buNone/>
            </a:pPr>
            <a:r>
              <a:rPr lang="en-US" sz="1450" dirty="0">
                <a:solidFill>
                  <a:srgbClr val="AAB4C4"/>
                </a:solidFill>
                <a:latin typeface="Calibri" pitchFamily="34" charset="0"/>
                <a:ea typeface="Calibri" pitchFamily="34" charset="-122"/>
                <a:cs typeface="Calibri" pitchFamily="34" charset="-120"/>
              </a:rPr>
              <a:t>The fitness industry is growing fast, but the software behind most local gyms hasn't kept up. Membership tracking is still done on paper or in spreadsheets, class schedules are managed over WhatsApp groups, and payments are collected in cash with little accountability. That gap between a modern member experience and outdated back-office tools was our starting point.</a:t>
            </a:r>
            <a:endParaRPr lang="en-US" sz="1450" dirty="0"/>
          </a:p>
        </p:txBody>
      </p:sp>
      <p:sp>
        <p:nvSpPr>
          <p:cNvPr id="6" name="Text 4"/>
          <p:cNvSpPr/>
          <p:nvPr/>
        </p:nvSpPr>
        <p:spPr>
          <a:xfrm>
            <a:off x="502920" y="3063240"/>
            <a:ext cx="10881360" cy="1188720"/>
          </a:xfrm>
          <a:prstGeom prst="rect">
            <a:avLst/>
          </a:prstGeom>
          <a:noFill/>
          <a:ln/>
        </p:spPr>
        <p:txBody>
          <a:bodyPr wrap="square" rtlCol="0" anchor="ctr"/>
          <a:lstStyle/>
          <a:p>
            <a:pPr marL="0" indent="0">
              <a:lnSpc>
                <a:spcPct val="130000"/>
              </a:lnSpc>
              <a:buNone/>
            </a:pPr>
            <a:r>
              <a:rPr lang="en-US" sz="1450" dirty="0">
                <a:solidFill>
                  <a:srgbClr val="AAB4C4"/>
                </a:solidFill>
                <a:latin typeface="Calibri" pitchFamily="34" charset="0"/>
                <a:ea typeface="Calibri" pitchFamily="34" charset="-122"/>
                <a:cs typeface="Calibri" pitchFamily="34" charset="-120"/>
              </a:rPr>
              <a:t>Our motivation behind FitCore is to give gyms a reliable, modern, all-in-one digital system — one that lets members manage their own subscriptions and bookings, gives trainers a clear view of their schedule, and gives owners real visibility and control over payments, inventory and every change made in the system.</a:t>
            </a:r>
            <a:endParaRPr lang="en-US" sz="1450" dirty="0"/>
          </a:p>
        </p:txBody>
      </p:sp>
      <p:sp>
        <p:nvSpPr>
          <p:cNvPr id="7" name="Shape 5"/>
          <p:cNvSpPr/>
          <p:nvPr/>
        </p:nvSpPr>
        <p:spPr>
          <a:xfrm>
            <a:off x="502920" y="4572000"/>
            <a:ext cx="3611880" cy="1691640"/>
          </a:xfrm>
          <a:prstGeom prst="roundRect">
            <a:avLst>
              <a:gd name="adj" fmla="val 4324"/>
            </a:avLst>
          </a:prstGeom>
          <a:solidFill>
            <a:srgbClr val="1F2A3D"/>
          </a:solidFill>
          <a:ln/>
        </p:spPr>
      </p:sp>
      <p:sp>
        <p:nvSpPr>
          <p:cNvPr id="8" name="Shape 6"/>
          <p:cNvSpPr/>
          <p:nvPr/>
        </p:nvSpPr>
        <p:spPr>
          <a:xfrm>
            <a:off x="758952" y="4828032"/>
            <a:ext cx="502920" cy="502920"/>
          </a:xfrm>
          <a:prstGeom prst="ellipse">
            <a:avLst/>
          </a:prstGeom>
          <a:solidFill>
            <a:srgbClr val="D7FF3D"/>
          </a:solidFill>
          <a:ln/>
        </p:spPr>
      </p:sp>
      <p:pic>
        <p:nvPicPr>
          <p:cNvPr id="9" name="Image 0" descr="/home/claude/work/icons/heartbeat_navy.png"/>
          <p:cNvPicPr>
            <a:picLocks noChangeAspect="1"/>
          </p:cNvPicPr>
          <p:nvPr/>
        </p:nvPicPr>
        <p:blipFill>
          <a:blip r:embed="rId3"/>
          <a:stretch>
            <a:fillRect/>
          </a:stretch>
        </p:blipFill>
        <p:spPr>
          <a:xfrm>
            <a:off x="886968" y="4956048"/>
            <a:ext cx="246888" cy="246888"/>
          </a:xfrm>
          <a:prstGeom prst="rect">
            <a:avLst/>
          </a:prstGeom>
        </p:spPr>
      </p:pic>
      <p:sp>
        <p:nvSpPr>
          <p:cNvPr id="10" name="Text 7"/>
          <p:cNvSpPr/>
          <p:nvPr/>
        </p:nvSpPr>
        <p:spPr>
          <a:xfrm>
            <a:off x="758952" y="5440680"/>
            <a:ext cx="31089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Member-first</a:t>
            </a:r>
            <a:endParaRPr lang="en-US" sz="1400" dirty="0"/>
          </a:p>
        </p:txBody>
      </p:sp>
      <p:sp>
        <p:nvSpPr>
          <p:cNvPr id="11" name="Text 8"/>
          <p:cNvSpPr/>
          <p:nvPr/>
        </p:nvSpPr>
        <p:spPr>
          <a:xfrm>
            <a:off x="758952" y="5760720"/>
            <a:ext cx="3200400" cy="457200"/>
          </a:xfrm>
          <a:prstGeom prst="rect">
            <a:avLst/>
          </a:prstGeom>
          <a:noFill/>
          <a:ln/>
        </p:spPr>
        <p:txBody>
          <a:bodyPr wrap="square" rtlCol="0" anchor="ctr"/>
          <a:lstStyle/>
          <a:p>
            <a:pPr marL="0" indent="0">
              <a:lnSpc>
                <a:spcPct val="115000"/>
              </a:lnSpc>
              <a:buNone/>
            </a:pPr>
            <a:r>
              <a:rPr lang="en-US" sz="1100" dirty="0">
                <a:solidFill>
                  <a:srgbClr val="AAB4C4"/>
                </a:solidFill>
                <a:latin typeface="Calibri" pitchFamily="34" charset="0"/>
                <a:ea typeface="Calibri" pitchFamily="34" charset="-122"/>
                <a:cs typeface="Calibri" pitchFamily="34" charset="-120"/>
              </a:rPr>
              <a:t>Self-service subscriptions, bookings and QR check-in.</a:t>
            </a:r>
            <a:endParaRPr lang="en-US" sz="1100" dirty="0"/>
          </a:p>
        </p:txBody>
      </p:sp>
      <p:sp>
        <p:nvSpPr>
          <p:cNvPr id="12" name="Shape 9"/>
          <p:cNvSpPr/>
          <p:nvPr/>
        </p:nvSpPr>
        <p:spPr>
          <a:xfrm>
            <a:off x="4343400" y="4572000"/>
            <a:ext cx="3611880" cy="1691640"/>
          </a:xfrm>
          <a:prstGeom prst="roundRect">
            <a:avLst>
              <a:gd name="adj" fmla="val 4324"/>
            </a:avLst>
          </a:prstGeom>
          <a:solidFill>
            <a:srgbClr val="1F2A3D"/>
          </a:solidFill>
          <a:ln/>
        </p:spPr>
      </p:sp>
      <p:sp>
        <p:nvSpPr>
          <p:cNvPr id="13" name="Shape 10"/>
          <p:cNvSpPr/>
          <p:nvPr/>
        </p:nvSpPr>
        <p:spPr>
          <a:xfrm>
            <a:off x="4599432" y="4828032"/>
            <a:ext cx="502920" cy="502920"/>
          </a:xfrm>
          <a:prstGeom prst="ellipse">
            <a:avLst/>
          </a:prstGeom>
          <a:solidFill>
            <a:srgbClr val="D7FF3D"/>
          </a:solidFill>
          <a:ln/>
        </p:spPr>
      </p:sp>
      <p:pic>
        <p:nvPicPr>
          <p:cNvPr id="14" name="Image 1" descr="/home/claude/work/icons/usertie_navy.png"/>
          <p:cNvPicPr>
            <a:picLocks noChangeAspect="1"/>
          </p:cNvPicPr>
          <p:nvPr/>
        </p:nvPicPr>
        <p:blipFill>
          <a:blip r:embed="rId4"/>
          <a:stretch>
            <a:fillRect/>
          </a:stretch>
        </p:blipFill>
        <p:spPr>
          <a:xfrm>
            <a:off x="4727448" y="4956048"/>
            <a:ext cx="246888" cy="246888"/>
          </a:xfrm>
          <a:prstGeom prst="rect">
            <a:avLst/>
          </a:prstGeom>
        </p:spPr>
      </p:pic>
      <p:sp>
        <p:nvSpPr>
          <p:cNvPr id="15" name="Text 11"/>
          <p:cNvSpPr/>
          <p:nvPr/>
        </p:nvSpPr>
        <p:spPr>
          <a:xfrm>
            <a:off x="4599432" y="5440680"/>
            <a:ext cx="31089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Trainer-ready</a:t>
            </a:r>
            <a:endParaRPr lang="en-US" sz="1400" dirty="0"/>
          </a:p>
        </p:txBody>
      </p:sp>
      <p:sp>
        <p:nvSpPr>
          <p:cNvPr id="16" name="Text 12"/>
          <p:cNvSpPr/>
          <p:nvPr/>
        </p:nvSpPr>
        <p:spPr>
          <a:xfrm>
            <a:off x="4599432" y="5760720"/>
            <a:ext cx="3200400" cy="457200"/>
          </a:xfrm>
          <a:prstGeom prst="rect">
            <a:avLst/>
          </a:prstGeom>
          <a:noFill/>
          <a:ln/>
        </p:spPr>
        <p:txBody>
          <a:bodyPr wrap="square" rtlCol="0" anchor="ctr"/>
          <a:lstStyle/>
          <a:p>
            <a:pPr marL="0" indent="0">
              <a:lnSpc>
                <a:spcPct val="115000"/>
              </a:lnSpc>
              <a:buNone/>
            </a:pPr>
            <a:r>
              <a:rPr lang="en-US" sz="1100" dirty="0">
                <a:solidFill>
                  <a:srgbClr val="AAB4C4"/>
                </a:solidFill>
                <a:latin typeface="Calibri" pitchFamily="34" charset="0"/>
                <a:ea typeface="Calibri" pitchFamily="34" charset="-122"/>
                <a:cs typeface="Calibri" pitchFamily="34" charset="-120"/>
              </a:rPr>
              <a:t>Clear schedules for classes and private sessions.</a:t>
            </a:r>
            <a:endParaRPr lang="en-US" sz="1100" dirty="0"/>
          </a:p>
        </p:txBody>
      </p:sp>
      <p:sp>
        <p:nvSpPr>
          <p:cNvPr id="17" name="Shape 13"/>
          <p:cNvSpPr/>
          <p:nvPr/>
        </p:nvSpPr>
        <p:spPr>
          <a:xfrm>
            <a:off x="8183880" y="4572000"/>
            <a:ext cx="3611880" cy="1691640"/>
          </a:xfrm>
          <a:prstGeom prst="roundRect">
            <a:avLst>
              <a:gd name="adj" fmla="val 4324"/>
            </a:avLst>
          </a:prstGeom>
          <a:solidFill>
            <a:srgbClr val="1F2A3D"/>
          </a:solidFill>
          <a:ln/>
        </p:spPr>
      </p:sp>
      <p:sp>
        <p:nvSpPr>
          <p:cNvPr id="18" name="Shape 14"/>
          <p:cNvSpPr/>
          <p:nvPr/>
        </p:nvSpPr>
        <p:spPr>
          <a:xfrm>
            <a:off x="8439912" y="4828032"/>
            <a:ext cx="502920" cy="502920"/>
          </a:xfrm>
          <a:prstGeom prst="ellipse">
            <a:avLst/>
          </a:prstGeom>
          <a:solidFill>
            <a:srgbClr val="D7FF3D"/>
          </a:solidFill>
          <a:ln/>
        </p:spPr>
      </p:sp>
      <p:pic>
        <p:nvPicPr>
          <p:cNvPr id="19" name="Image 2" descr="/home/claude/work/icons/shield_navy.png"/>
          <p:cNvPicPr>
            <a:picLocks noChangeAspect="1"/>
          </p:cNvPicPr>
          <p:nvPr/>
        </p:nvPicPr>
        <p:blipFill>
          <a:blip r:embed="rId5"/>
          <a:stretch>
            <a:fillRect/>
          </a:stretch>
        </p:blipFill>
        <p:spPr>
          <a:xfrm>
            <a:off x="8567928" y="4956048"/>
            <a:ext cx="246888" cy="246888"/>
          </a:xfrm>
          <a:prstGeom prst="rect">
            <a:avLst/>
          </a:prstGeom>
        </p:spPr>
      </p:pic>
      <p:sp>
        <p:nvSpPr>
          <p:cNvPr id="20" name="Text 15"/>
          <p:cNvSpPr/>
          <p:nvPr/>
        </p:nvSpPr>
        <p:spPr>
          <a:xfrm>
            <a:off x="8439912" y="5440680"/>
            <a:ext cx="31089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Admin control</a:t>
            </a:r>
            <a:endParaRPr lang="en-US" sz="1400" dirty="0"/>
          </a:p>
        </p:txBody>
      </p:sp>
      <p:sp>
        <p:nvSpPr>
          <p:cNvPr id="21" name="Text 16"/>
          <p:cNvSpPr/>
          <p:nvPr/>
        </p:nvSpPr>
        <p:spPr>
          <a:xfrm>
            <a:off x="8439912" y="5760720"/>
            <a:ext cx="3200400" cy="457200"/>
          </a:xfrm>
          <a:prstGeom prst="rect">
            <a:avLst/>
          </a:prstGeom>
          <a:noFill/>
          <a:ln/>
        </p:spPr>
        <p:txBody>
          <a:bodyPr wrap="square" rtlCol="0" anchor="ctr"/>
          <a:lstStyle/>
          <a:p>
            <a:pPr marL="0" indent="0">
              <a:lnSpc>
                <a:spcPct val="115000"/>
              </a:lnSpc>
              <a:buNone/>
            </a:pPr>
            <a:r>
              <a:rPr lang="en-US" sz="1100" dirty="0">
                <a:solidFill>
                  <a:srgbClr val="AAB4C4"/>
                </a:solidFill>
                <a:latin typeface="Calibri" pitchFamily="34" charset="0"/>
                <a:ea typeface="Calibri" pitchFamily="34" charset="-122"/>
                <a:cs typeface="Calibri" pitchFamily="34" charset="-120"/>
              </a:rPr>
              <a:t>Full dashboard with an auditable trail of every change.</a:t>
            </a:r>
            <a:endParaRPr lang="en-US" sz="1100" dirty="0"/>
          </a:p>
        </p:txBody>
      </p:sp>
      <p:sp>
        <p:nvSpPr>
          <p:cNvPr id="22" name="Text 17"/>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AAB4C4"/>
                </a:solidFill>
                <a:latin typeface="Calibri" pitchFamily="34" charset="0"/>
                <a:ea typeface="Calibri" pitchFamily="34" charset="-122"/>
                <a:cs typeface="Calibri" pitchFamily="34" charset="-120"/>
              </a:rPr>
              <a:t>FITCORE  |  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bullseye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GOALS</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Project Objectives</a:t>
            </a:r>
            <a:endParaRPr lang="en-US" sz="3000" dirty="0"/>
          </a:p>
        </p:txBody>
      </p:sp>
      <p:sp>
        <p:nvSpPr>
          <p:cNvPr id="6" name="Shape 3"/>
          <p:cNvSpPr/>
          <p:nvPr/>
        </p:nvSpPr>
        <p:spPr>
          <a:xfrm>
            <a:off x="502920" y="1600200"/>
            <a:ext cx="457200" cy="457200"/>
          </a:xfrm>
          <a:prstGeom prst="ellipse">
            <a:avLst/>
          </a:prstGeom>
          <a:solidFill>
            <a:srgbClr val="121826"/>
          </a:solidFill>
          <a:ln/>
        </p:spPr>
      </p:sp>
      <p:pic>
        <p:nvPicPr>
          <p:cNvPr id="7" name="Image 1" descr="/home/claude/work/icons/check_navy.png"/>
          <p:cNvPicPr>
            <a:picLocks noChangeAspect="1"/>
          </p:cNvPicPr>
          <p:nvPr/>
        </p:nvPicPr>
        <p:blipFill>
          <a:blip r:embed="rId4"/>
          <a:stretch>
            <a:fillRect/>
          </a:stretch>
        </p:blipFill>
        <p:spPr>
          <a:xfrm>
            <a:off x="603504" y="1700784"/>
            <a:ext cx="256032" cy="256032"/>
          </a:xfrm>
          <a:prstGeom prst="rect">
            <a:avLst/>
          </a:prstGeom>
        </p:spPr>
      </p:pic>
      <p:sp>
        <p:nvSpPr>
          <p:cNvPr id="8" name="Text 4"/>
          <p:cNvSpPr/>
          <p:nvPr/>
        </p:nvSpPr>
        <p:spPr>
          <a:xfrm>
            <a:off x="1097280" y="1554480"/>
            <a:ext cx="4800600" cy="320040"/>
          </a:xfrm>
          <a:prstGeom prst="rect">
            <a:avLst/>
          </a:prstGeom>
          <a:noFill/>
          <a:ln/>
        </p:spPr>
        <p:txBody>
          <a:bodyPr wrap="square" rtlCol="0" anchor="ctr"/>
          <a:lstStyle/>
          <a:p>
            <a:pPr marL="0" indent="0">
              <a:buNone/>
            </a:pPr>
            <a:r>
              <a:rPr lang="en-US" sz="1400" b="1" dirty="0">
                <a:solidFill>
                  <a:srgbClr val="121826"/>
                </a:solidFill>
                <a:latin typeface="Calibri" pitchFamily="34" charset="0"/>
                <a:ea typeface="Calibri" pitchFamily="34" charset="-122"/>
                <a:cs typeface="Calibri" pitchFamily="34" charset="-120"/>
              </a:rPr>
              <a:t>Centralize gym operations</a:t>
            </a:r>
            <a:endParaRPr lang="en-US" sz="1400" dirty="0"/>
          </a:p>
        </p:txBody>
      </p:sp>
      <p:sp>
        <p:nvSpPr>
          <p:cNvPr id="9" name="Text 5"/>
          <p:cNvSpPr/>
          <p:nvPr/>
        </p:nvSpPr>
        <p:spPr>
          <a:xfrm>
            <a:off x="1097280" y="1901952"/>
            <a:ext cx="4800600" cy="777240"/>
          </a:xfrm>
          <a:prstGeom prst="rect">
            <a:avLst/>
          </a:prstGeom>
          <a:noFill/>
          <a:ln/>
        </p:spPr>
        <p:txBody>
          <a:bodyPr wrap="square"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Bring memberships, classes, private sessions, payments and the shop into one platform.</a:t>
            </a:r>
            <a:endParaRPr lang="en-US" sz="1150" dirty="0"/>
          </a:p>
        </p:txBody>
      </p:sp>
      <p:sp>
        <p:nvSpPr>
          <p:cNvPr id="10" name="Shape 6"/>
          <p:cNvSpPr/>
          <p:nvPr/>
        </p:nvSpPr>
        <p:spPr>
          <a:xfrm>
            <a:off x="6400800" y="1600200"/>
            <a:ext cx="457200" cy="457200"/>
          </a:xfrm>
          <a:prstGeom prst="ellipse">
            <a:avLst/>
          </a:prstGeom>
          <a:solidFill>
            <a:srgbClr val="121826"/>
          </a:solidFill>
          <a:ln/>
        </p:spPr>
      </p:sp>
      <p:pic>
        <p:nvPicPr>
          <p:cNvPr id="11" name="Image 2" descr="/home/claude/work/icons/check_navy.png"/>
          <p:cNvPicPr>
            <a:picLocks noChangeAspect="1"/>
          </p:cNvPicPr>
          <p:nvPr/>
        </p:nvPicPr>
        <p:blipFill>
          <a:blip r:embed="rId4"/>
          <a:stretch>
            <a:fillRect/>
          </a:stretch>
        </p:blipFill>
        <p:spPr>
          <a:xfrm>
            <a:off x="6501384" y="1700784"/>
            <a:ext cx="256032" cy="256032"/>
          </a:xfrm>
          <a:prstGeom prst="rect">
            <a:avLst/>
          </a:prstGeom>
        </p:spPr>
      </p:pic>
      <p:sp>
        <p:nvSpPr>
          <p:cNvPr id="12" name="Text 7"/>
          <p:cNvSpPr/>
          <p:nvPr/>
        </p:nvSpPr>
        <p:spPr>
          <a:xfrm>
            <a:off x="6995160" y="1554480"/>
            <a:ext cx="4800600" cy="320040"/>
          </a:xfrm>
          <a:prstGeom prst="rect">
            <a:avLst/>
          </a:prstGeom>
          <a:noFill/>
          <a:ln/>
        </p:spPr>
        <p:txBody>
          <a:bodyPr wrap="square" rtlCol="0" anchor="ctr"/>
          <a:lstStyle/>
          <a:p>
            <a:pPr marL="0" indent="0">
              <a:buNone/>
            </a:pPr>
            <a:r>
              <a:rPr lang="en-US" sz="1400" b="1" dirty="0">
                <a:solidFill>
                  <a:srgbClr val="121826"/>
                </a:solidFill>
                <a:latin typeface="Calibri" pitchFamily="34" charset="0"/>
                <a:ea typeface="Calibri" pitchFamily="34" charset="-122"/>
                <a:cs typeface="Calibri" pitchFamily="34" charset="-120"/>
              </a:rPr>
              <a:t>Automate the money side</a:t>
            </a:r>
            <a:endParaRPr lang="en-US" sz="1400" dirty="0"/>
          </a:p>
        </p:txBody>
      </p:sp>
      <p:sp>
        <p:nvSpPr>
          <p:cNvPr id="13" name="Text 8"/>
          <p:cNvSpPr/>
          <p:nvPr/>
        </p:nvSpPr>
        <p:spPr>
          <a:xfrm>
            <a:off x="6995160" y="1901952"/>
            <a:ext cx="4800600" cy="777240"/>
          </a:xfrm>
          <a:prstGeom prst="rect">
            <a:avLst/>
          </a:prstGeom>
          <a:noFill/>
          <a:ln/>
        </p:spPr>
        <p:txBody>
          <a:bodyPr wrap="square"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Subscriptions, invoices and online payments handled end-to-end through Stripe.</a:t>
            </a:r>
            <a:endParaRPr lang="en-US" sz="1150" dirty="0"/>
          </a:p>
        </p:txBody>
      </p:sp>
      <p:sp>
        <p:nvSpPr>
          <p:cNvPr id="14" name="Shape 9"/>
          <p:cNvSpPr/>
          <p:nvPr/>
        </p:nvSpPr>
        <p:spPr>
          <a:xfrm>
            <a:off x="502920" y="3108960"/>
            <a:ext cx="457200" cy="457200"/>
          </a:xfrm>
          <a:prstGeom prst="ellipse">
            <a:avLst/>
          </a:prstGeom>
          <a:solidFill>
            <a:srgbClr val="121826"/>
          </a:solidFill>
          <a:ln/>
        </p:spPr>
      </p:sp>
      <p:pic>
        <p:nvPicPr>
          <p:cNvPr id="15" name="Image 3" descr="/home/claude/work/icons/check_navy.png"/>
          <p:cNvPicPr>
            <a:picLocks noChangeAspect="1"/>
          </p:cNvPicPr>
          <p:nvPr/>
        </p:nvPicPr>
        <p:blipFill>
          <a:blip r:embed="rId4"/>
          <a:stretch>
            <a:fillRect/>
          </a:stretch>
        </p:blipFill>
        <p:spPr>
          <a:xfrm>
            <a:off x="603504" y="3209544"/>
            <a:ext cx="256032" cy="256032"/>
          </a:xfrm>
          <a:prstGeom prst="rect">
            <a:avLst/>
          </a:prstGeom>
        </p:spPr>
      </p:pic>
      <p:sp>
        <p:nvSpPr>
          <p:cNvPr id="16" name="Text 10"/>
          <p:cNvSpPr/>
          <p:nvPr/>
        </p:nvSpPr>
        <p:spPr>
          <a:xfrm>
            <a:off x="1097280" y="3063240"/>
            <a:ext cx="4800600" cy="320040"/>
          </a:xfrm>
          <a:prstGeom prst="rect">
            <a:avLst/>
          </a:prstGeom>
          <a:noFill/>
          <a:ln/>
        </p:spPr>
        <p:txBody>
          <a:bodyPr wrap="square" rtlCol="0" anchor="ctr"/>
          <a:lstStyle/>
          <a:p>
            <a:pPr marL="0" indent="0">
              <a:buNone/>
            </a:pPr>
            <a:r>
              <a:rPr lang="en-US" sz="1400" b="1" dirty="0">
                <a:solidFill>
                  <a:srgbClr val="121826"/>
                </a:solidFill>
                <a:latin typeface="Calibri" pitchFamily="34" charset="0"/>
                <a:ea typeface="Calibri" pitchFamily="34" charset="-122"/>
                <a:cs typeface="Calibri" pitchFamily="34" charset="-120"/>
              </a:rPr>
              <a:t>Give members self-service tools</a:t>
            </a:r>
            <a:endParaRPr lang="en-US" sz="1400" dirty="0"/>
          </a:p>
        </p:txBody>
      </p:sp>
      <p:sp>
        <p:nvSpPr>
          <p:cNvPr id="17" name="Text 11"/>
          <p:cNvSpPr/>
          <p:nvPr/>
        </p:nvSpPr>
        <p:spPr>
          <a:xfrm>
            <a:off x="1097280" y="3410712"/>
            <a:ext cx="4800600" cy="777240"/>
          </a:xfrm>
          <a:prstGeom prst="rect">
            <a:avLst/>
          </a:prstGeom>
          <a:noFill/>
          <a:ln/>
        </p:spPr>
        <p:txBody>
          <a:bodyPr wrap="square"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Subscribe, book, check in with a QR code and shop, without staff intervention.</a:t>
            </a:r>
            <a:endParaRPr lang="en-US" sz="1150" dirty="0"/>
          </a:p>
        </p:txBody>
      </p:sp>
      <p:sp>
        <p:nvSpPr>
          <p:cNvPr id="18" name="Shape 12"/>
          <p:cNvSpPr/>
          <p:nvPr/>
        </p:nvSpPr>
        <p:spPr>
          <a:xfrm>
            <a:off x="6400800" y="3108960"/>
            <a:ext cx="457200" cy="457200"/>
          </a:xfrm>
          <a:prstGeom prst="ellipse">
            <a:avLst/>
          </a:prstGeom>
          <a:solidFill>
            <a:srgbClr val="121826"/>
          </a:solidFill>
          <a:ln/>
        </p:spPr>
      </p:sp>
      <p:pic>
        <p:nvPicPr>
          <p:cNvPr id="19" name="Image 4" descr="/home/claude/work/icons/check_navy.png"/>
          <p:cNvPicPr>
            <a:picLocks noChangeAspect="1"/>
          </p:cNvPicPr>
          <p:nvPr/>
        </p:nvPicPr>
        <p:blipFill>
          <a:blip r:embed="rId4"/>
          <a:stretch>
            <a:fillRect/>
          </a:stretch>
        </p:blipFill>
        <p:spPr>
          <a:xfrm>
            <a:off x="6501384" y="3209544"/>
            <a:ext cx="256032" cy="256032"/>
          </a:xfrm>
          <a:prstGeom prst="rect">
            <a:avLst/>
          </a:prstGeom>
        </p:spPr>
      </p:pic>
      <p:sp>
        <p:nvSpPr>
          <p:cNvPr id="20" name="Text 13"/>
          <p:cNvSpPr/>
          <p:nvPr/>
        </p:nvSpPr>
        <p:spPr>
          <a:xfrm>
            <a:off x="6995160" y="3063240"/>
            <a:ext cx="4800600" cy="320040"/>
          </a:xfrm>
          <a:prstGeom prst="rect">
            <a:avLst/>
          </a:prstGeom>
          <a:noFill/>
          <a:ln/>
        </p:spPr>
        <p:txBody>
          <a:bodyPr wrap="square" rtlCol="0" anchor="ctr"/>
          <a:lstStyle/>
          <a:p>
            <a:pPr marL="0" indent="0">
              <a:buNone/>
            </a:pPr>
            <a:r>
              <a:rPr lang="en-US" sz="1400" b="1" dirty="0">
                <a:solidFill>
                  <a:srgbClr val="121826"/>
                </a:solidFill>
                <a:latin typeface="Calibri" pitchFamily="34" charset="0"/>
                <a:ea typeface="Calibri" pitchFamily="34" charset="-122"/>
                <a:cs typeface="Calibri" pitchFamily="34" charset="-120"/>
              </a:rPr>
              <a:t>Give trainers a clear schedule</a:t>
            </a:r>
            <a:endParaRPr lang="en-US" sz="1400" dirty="0"/>
          </a:p>
        </p:txBody>
      </p:sp>
      <p:sp>
        <p:nvSpPr>
          <p:cNvPr id="21" name="Text 14"/>
          <p:cNvSpPr/>
          <p:nvPr/>
        </p:nvSpPr>
        <p:spPr>
          <a:xfrm>
            <a:off x="6995160" y="3410712"/>
            <a:ext cx="4800600" cy="777240"/>
          </a:xfrm>
          <a:prstGeom prst="rect">
            <a:avLst/>
          </a:prstGeom>
          <a:noFill/>
          <a:ln/>
        </p:spPr>
        <p:txBody>
          <a:bodyPr wrap="square"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Manage working hours, classes and private sessions from one place.</a:t>
            </a:r>
            <a:endParaRPr lang="en-US" sz="1150" dirty="0"/>
          </a:p>
        </p:txBody>
      </p:sp>
      <p:sp>
        <p:nvSpPr>
          <p:cNvPr id="22" name="Shape 15"/>
          <p:cNvSpPr/>
          <p:nvPr/>
        </p:nvSpPr>
        <p:spPr>
          <a:xfrm>
            <a:off x="502920" y="4617720"/>
            <a:ext cx="457200" cy="457200"/>
          </a:xfrm>
          <a:prstGeom prst="ellipse">
            <a:avLst/>
          </a:prstGeom>
          <a:solidFill>
            <a:srgbClr val="121826"/>
          </a:solidFill>
          <a:ln/>
        </p:spPr>
      </p:sp>
      <p:pic>
        <p:nvPicPr>
          <p:cNvPr id="23" name="Image 5" descr="/home/claude/work/icons/check_navy.png"/>
          <p:cNvPicPr>
            <a:picLocks noChangeAspect="1"/>
          </p:cNvPicPr>
          <p:nvPr/>
        </p:nvPicPr>
        <p:blipFill>
          <a:blip r:embed="rId4"/>
          <a:stretch>
            <a:fillRect/>
          </a:stretch>
        </p:blipFill>
        <p:spPr>
          <a:xfrm>
            <a:off x="603504" y="4718304"/>
            <a:ext cx="256032" cy="256032"/>
          </a:xfrm>
          <a:prstGeom prst="rect">
            <a:avLst/>
          </a:prstGeom>
        </p:spPr>
      </p:pic>
      <p:sp>
        <p:nvSpPr>
          <p:cNvPr id="24" name="Text 16"/>
          <p:cNvSpPr/>
          <p:nvPr/>
        </p:nvSpPr>
        <p:spPr>
          <a:xfrm>
            <a:off x="1097280" y="4572000"/>
            <a:ext cx="4800600" cy="320040"/>
          </a:xfrm>
          <a:prstGeom prst="rect">
            <a:avLst/>
          </a:prstGeom>
          <a:noFill/>
          <a:ln/>
        </p:spPr>
        <p:txBody>
          <a:bodyPr wrap="square" rtlCol="0" anchor="ctr"/>
          <a:lstStyle/>
          <a:p>
            <a:pPr marL="0" indent="0">
              <a:buNone/>
            </a:pPr>
            <a:r>
              <a:rPr lang="en-US" sz="1400" b="1" dirty="0">
                <a:solidFill>
                  <a:srgbClr val="121826"/>
                </a:solidFill>
                <a:latin typeface="Calibri" pitchFamily="34" charset="0"/>
                <a:ea typeface="Calibri" pitchFamily="34" charset="-122"/>
                <a:cs typeface="Calibri" pitchFamily="34" charset="-120"/>
              </a:rPr>
              <a:t>Give admins full control</a:t>
            </a:r>
            <a:endParaRPr lang="en-US" sz="1400" dirty="0"/>
          </a:p>
        </p:txBody>
      </p:sp>
      <p:sp>
        <p:nvSpPr>
          <p:cNvPr id="25" name="Text 17"/>
          <p:cNvSpPr/>
          <p:nvPr/>
        </p:nvSpPr>
        <p:spPr>
          <a:xfrm>
            <a:off x="1097280" y="4919472"/>
            <a:ext cx="4800600" cy="777240"/>
          </a:xfrm>
          <a:prstGeom prst="rect">
            <a:avLst/>
          </a:prstGeom>
          <a:noFill/>
          <a:ln/>
        </p:spPr>
        <p:txBody>
          <a:bodyPr wrap="square"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A dashboard covering users, inventory, roles and a complete audit trail.</a:t>
            </a:r>
            <a:endParaRPr lang="en-US" sz="1150" dirty="0"/>
          </a:p>
        </p:txBody>
      </p:sp>
      <p:sp>
        <p:nvSpPr>
          <p:cNvPr id="26" name="Shape 18"/>
          <p:cNvSpPr/>
          <p:nvPr/>
        </p:nvSpPr>
        <p:spPr>
          <a:xfrm>
            <a:off x="6400800" y="4617720"/>
            <a:ext cx="457200" cy="457200"/>
          </a:xfrm>
          <a:prstGeom prst="ellipse">
            <a:avLst/>
          </a:prstGeom>
          <a:solidFill>
            <a:srgbClr val="121826"/>
          </a:solidFill>
          <a:ln/>
        </p:spPr>
      </p:sp>
      <p:pic>
        <p:nvPicPr>
          <p:cNvPr id="27" name="Image 6" descr="/home/claude/work/icons/check_navy.png"/>
          <p:cNvPicPr>
            <a:picLocks noChangeAspect="1"/>
          </p:cNvPicPr>
          <p:nvPr/>
        </p:nvPicPr>
        <p:blipFill>
          <a:blip r:embed="rId4"/>
          <a:stretch>
            <a:fillRect/>
          </a:stretch>
        </p:blipFill>
        <p:spPr>
          <a:xfrm>
            <a:off x="6501384" y="4718304"/>
            <a:ext cx="256032" cy="256032"/>
          </a:xfrm>
          <a:prstGeom prst="rect">
            <a:avLst/>
          </a:prstGeom>
        </p:spPr>
      </p:pic>
      <p:sp>
        <p:nvSpPr>
          <p:cNvPr id="28" name="Text 19"/>
          <p:cNvSpPr/>
          <p:nvPr/>
        </p:nvSpPr>
        <p:spPr>
          <a:xfrm>
            <a:off x="6995160" y="4572000"/>
            <a:ext cx="4800600" cy="320040"/>
          </a:xfrm>
          <a:prstGeom prst="rect">
            <a:avLst/>
          </a:prstGeom>
          <a:noFill/>
          <a:ln/>
        </p:spPr>
        <p:txBody>
          <a:bodyPr wrap="square" rtlCol="0" anchor="ctr"/>
          <a:lstStyle/>
          <a:p>
            <a:pPr marL="0" indent="0">
              <a:buNone/>
            </a:pPr>
            <a:r>
              <a:rPr lang="en-US" sz="1400" b="1" dirty="0">
                <a:solidFill>
                  <a:srgbClr val="121826"/>
                </a:solidFill>
                <a:latin typeface="Calibri" pitchFamily="34" charset="0"/>
                <a:ea typeface="Calibri" pitchFamily="34" charset="-122"/>
                <a:cs typeface="Calibri" pitchFamily="34" charset="-120"/>
              </a:rPr>
              <a:t>Build for the long run</a:t>
            </a:r>
            <a:endParaRPr lang="en-US" sz="1400" dirty="0"/>
          </a:p>
        </p:txBody>
      </p:sp>
      <p:sp>
        <p:nvSpPr>
          <p:cNvPr id="29" name="Text 20"/>
          <p:cNvSpPr/>
          <p:nvPr/>
        </p:nvSpPr>
        <p:spPr>
          <a:xfrm>
            <a:off x="6995160" y="4919472"/>
            <a:ext cx="4800600" cy="777240"/>
          </a:xfrm>
          <a:prstGeom prst="rect">
            <a:avLst/>
          </a:prstGeom>
          <a:noFill/>
          <a:ln/>
        </p:spPr>
        <p:txBody>
          <a:bodyPr wrap="square"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A layered, secure architecture ready to scale with more features and load.</a:t>
            </a:r>
            <a:endParaRPr lang="en-US" sz="1150" dirty="0"/>
          </a:p>
        </p:txBody>
      </p:sp>
      <p:sp>
        <p:nvSpPr>
          <p:cNvPr id="30" name="Text 21"/>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search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MARKET RESEARCH</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Where FitCore Fits</a:t>
            </a:r>
            <a:endParaRPr lang="en-US" sz="3000" dirty="0"/>
          </a:p>
        </p:txBody>
      </p:sp>
      <p:sp>
        <p:nvSpPr>
          <p:cNvPr id="6" name="Shape 3"/>
          <p:cNvSpPr/>
          <p:nvPr/>
        </p:nvSpPr>
        <p:spPr>
          <a:xfrm>
            <a:off x="502920" y="1554480"/>
            <a:ext cx="6492240" cy="4846320"/>
          </a:xfrm>
          <a:prstGeom prst="roundRect">
            <a:avLst>
              <a:gd name="adj" fmla="val 1509"/>
            </a:avLst>
          </a:prstGeom>
          <a:solidFill>
            <a:srgbClr val="FFFFFF"/>
          </a:solidFill>
          <a:ln w="12700">
            <a:solidFill>
              <a:srgbClr val="D7DCE3"/>
            </a:solidFill>
            <a:prstDash val="solid"/>
          </a:ln>
        </p:spPr>
      </p:sp>
      <p:sp>
        <p:nvSpPr>
          <p:cNvPr id="7" name="Text 4"/>
          <p:cNvSpPr/>
          <p:nvPr/>
        </p:nvSpPr>
        <p:spPr>
          <a:xfrm>
            <a:off x="777240" y="1783080"/>
            <a:ext cx="5943600" cy="320040"/>
          </a:xfrm>
          <a:prstGeom prst="rect">
            <a:avLst/>
          </a:prstGeom>
          <a:noFill/>
          <a:ln/>
        </p:spPr>
        <p:txBody>
          <a:bodyPr wrap="square" rtlCol="0" anchor="ctr"/>
          <a:lstStyle/>
          <a:p>
            <a:pPr marL="0" indent="0">
              <a:buNone/>
            </a:pPr>
            <a:r>
              <a:rPr lang="en-US" sz="1300" b="1" kern="0" spc="150" dirty="0">
                <a:solidFill>
                  <a:srgbClr val="9AAF2E"/>
                </a:solidFill>
                <a:latin typeface="Calibri" pitchFamily="34" charset="0"/>
                <a:ea typeface="Calibri" pitchFamily="34" charset="-122"/>
                <a:cs typeface="Calibri" pitchFamily="34" charset="-120"/>
              </a:rPr>
              <a:t>THE CURRENT LANDSCAPE</a:t>
            </a:r>
            <a:endParaRPr lang="en-US" sz="1300" dirty="0"/>
          </a:p>
        </p:txBody>
      </p:sp>
      <p:sp>
        <p:nvSpPr>
          <p:cNvPr id="8" name="Text 5"/>
          <p:cNvSpPr/>
          <p:nvPr/>
        </p:nvSpPr>
        <p:spPr>
          <a:xfrm>
            <a:off x="777240" y="2194560"/>
            <a:ext cx="5943600" cy="4023360"/>
          </a:xfrm>
          <a:prstGeom prst="rect">
            <a:avLst/>
          </a:prstGeom>
          <a:noFill/>
          <a:ln/>
        </p:spPr>
        <p:txBody>
          <a:bodyPr wrap="square" rtlCol="0" anchor="ctr"/>
          <a:lstStyle/>
          <a:p>
            <a:pPr marL="0" indent="0">
              <a:lnSpc>
                <a:spcPct val="130000"/>
              </a:lnSpc>
              <a:buNone/>
            </a:pPr>
            <a:r>
              <a:rPr lang="en-US" sz="1250" dirty="0">
                <a:solidFill>
                  <a:srgbClr val="121826"/>
                </a:solidFill>
                <a:latin typeface="Calibri" pitchFamily="34" charset="0"/>
                <a:ea typeface="Calibri" pitchFamily="34" charset="-122"/>
                <a:cs typeface="Calibri" pitchFamily="34" charset="-120"/>
              </a:rPr>
              <a:t>International platforms such as Mindbody, Glofox and Trainerize offer strong booking and payment tools, but they are priced and designed for large, multi-branch studios and rarely fit the workflow of a single local gym. On the other end, many gyms rely on generic spreadsheets, paper sign-in sheets and messaging apps, which don't scale and leave no audit trail.</a:t>
            </a:r>
            <a:endParaRPr lang="en-US" sz="1250" dirty="0"/>
          </a:p>
          <a:p>
            <a:pPr marL="0" indent="0">
              <a:lnSpc>
                <a:spcPct val="130000"/>
              </a:lnSpc>
              <a:buNone/>
            </a:pPr>
            <a:endParaRPr lang="en-US" sz="1250" dirty="0"/>
          </a:p>
          <a:p>
            <a:pPr marL="0" indent="0">
              <a:lnSpc>
                <a:spcPct val="130000"/>
              </a:lnSpc>
              <a:buNone/>
            </a:pPr>
            <a:r>
              <a:rPr lang="en-US" sz="1250" dirty="0">
                <a:solidFill>
                  <a:srgbClr val="121826"/>
                </a:solidFill>
                <a:latin typeface="Calibri" pitchFamily="34" charset="0"/>
                <a:ea typeface="Calibri" pitchFamily="34" charset="-122"/>
                <a:cs typeface="Calibri" pitchFamily="34" charset="-120"/>
              </a:rPr>
              <a:t>The market shows a clear middle gap: gyms want an affordable, all-in-one system that covers memberships, classes, private training, attendance and even a retail shop — without the overhead of enterprise franchise software.</a:t>
            </a:r>
            <a:endParaRPr lang="en-US" sz="1250" dirty="0"/>
          </a:p>
        </p:txBody>
      </p:sp>
      <p:sp>
        <p:nvSpPr>
          <p:cNvPr id="9" name="Shape 6"/>
          <p:cNvSpPr/>
          <p:nvPr/>
        </p:nvSpPr>
        <p:spPr>
          <a:xfrm>
            <a:off x="7269480" y="1554480"/>
            <a:ext cx="4434840" cy="4846320"/>
          </a:xfrm>
          <a:prstGeom prst="roundRect">
            <a:avLst>
              <a:gd name="adj" fmla="val 1649"/>
            </a:avLst>
          </a:prstGeom>
          <a:solidFill>
            <a:srgbClr val="121826"/>
          </a:solidFill>
          <a:ln/>
        </p:spPr>
      </p:sp>
      <p:sp>
        <p:nvSpPr>
          <p:cNvPr id="10" name="Text 7"/>
          <p:cNvSpPr/>
          <p:nvPr/>
        </p:nvSpPr>
        <p:spPr>
          <a:xfrm>
            <a:off x="7543800" y="1783080"/>
            <a:ext cx="3840480" cy="320040"/>
          </a:xfrm>
          <a:prstGeom prst="rect">
            <a:avLst/>
          </a:prstGeom>
          <a:noFill/>
          <a:ln/>
        </p:spPr>
        <p:txBody>
          <a:bodyPr wrap="square" rtlCol="0" anchor="ctr"/>
          <a:lstStyle/>
          <a:p>
            <a:pPr marL="0" indent="0">
              <a:buNone/>
            </a:pPr>
            <a:r>
              <a:rPr lang="en-US" sz="1300" b="1" kern="0" spc="150" dirty="0">
                <a:solidFill>
                  <a:srgbClr val="D7FF3D"/>
                </a:solidFill>
                <a:latin typeface="Calibri" pitchFamily="34" charset="0"/>
                <a:ea typeface="Calibri" pitchFamily="34" charset="-122"/>
                <a:cs typeface="Calibri" pitchFamily="34" charset="-120"/>
              </a:rPr>
              <a:t>FITCORE'S ADVANTAGE</a:t>
            </a:r>
            <a:endParaRPr lang="en-US" sz="1300" dirty="0"/>
          </a:p>
        </p:txBody>
      </p:sp>
      <p:sp>
        <p:nvSpPr>
          <p:cNvPr id="11" name="Shape 8"/>
          <p:cNvSpPr/>
          <p:nvPr/>
        </p:nvSpPr>
        <p:spPr>
          <a:xfrm>
            <a:off x="7543800" y="2267712"/>
            <a:ext cx="201168" cy="201168"/>
          </a:xfrm>
          <a:prstGeom prst="ellipse">
            <a:avLst/>
          </a:prstGeom>
          <a:solidFill>
            <a:srgbClr val="D7FF3D"/>
          </a:solidFill>
          <a:ln/>
        </p:spPr>
      </p:sp>
      <p:sp>
        <p:nvSpPr>
          <p:cNvPr id="12" name="Text 9"/>
          <p:cNvSpPr/>
          <p:nvPr/>
        </p:nvSpPr>
        <p:spPr>
          <a:xfrm>
            <a:off x="7863840" y="2167128"/>
            <a:ext cx="3749040" cy="685800"/>
          </a:xfrm>
          <a:prstGeom prst="rect">
            <a:avLst/>
          </a:prstGeom>
          <a:noFill/>
          <a:ln/>
        </p:spPr>
        <p:txBody>
          <a:bodyPr wrap="square"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One system for memberships, bookings, attendance, payments AND shop/inventory</a:t>
            </a:r>
            <a:endParaRPr lang="en-US" sz="1150" dirty="0"/>
          </a:p>
        </p:txBody>
      </p:sp>
      <p:sp>
        <p:nvSpPr>
          <p:cNvPr id="13" name="Shape 10"/>
          <p:cNvSpPr/>
          <p:nvPr/>
        </p:nvSpPr>
        <p:spPr>
          <a:xfrm>
            <a:off x="7543800" y="3108960"/>
            <a:ext cx="201168" cy="201168"/>
          </a:xfrm>
          <a:prstGeom prst="ellipse">
            <a:avLst/>
          </a:prstGeom>
          <a:solidFill>
            <a:srgbClr val="D7FF3D"/>
          </a:solidFill>
          <a:ln/>
        </p:spPr>
      </p:sp>
      <p:sp>
        <p:nvSpPr>
          <p:cNvPr id="14" name="Text 11"/>
          <p:cNvSpPr/>
          <p:nvPr/>
        </p:nvSpPr>
        <p:spPr>
          <a:xfrm>
            <a:off x="7863840" y="3008376"/>
            <a:ext cx="3749040" cy="685800"/>
          </a:xfrm>
          <a:prstGeom prst="rect">
            <a:avLst/>
          </a:prstGeom>
          <a:noFill/>
          <a:ln/>
        </p:spPr>
        <p:txBody>
          <a:bodyPr wrap="square"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Built for a single gym's workflow, not enterprise franchise overhead</a:t>
            </a:r>
            <a:endParaRPr lang="en-US" sz="1150" dirty="0"/>
          </a:p>
        </p:txBody>
      </p:sp>
      <p:sp>
        <p:nvSpPr>
          <p:cNvPr id="15" name="Shape 12"/>
          <p:cNvSpPr/>
          <p:nvPr/>
        </p:nvSpPr>
        <p:spPr>
          <a:xfrm>
            <a:off x="7543800" y="3950208"/>
            <a:ext cx="201168" cy="201168"/>
          </a:xfrm>
          <a:prstGeom prst="ellipse">
            <a:avLst/>
          </a:prstGeom>
          <a:solidFill>
            <a:srgbClr val="D7FF3D"/>
          </a:solidFill>
          <a:ln/>
        </p:spPr>
      </p:sp>
      <p:sp>
        <p:nvSpPr>
          <p:cNvPr id="16" name="Text 13"/>
          <p:cNvSpPr/>
          <p:nvPr/>
        </p:nvSpPr>
        <p:spPr>
          <a:xfrm>
            <a:off x="7863840" y="3849624"/>
            <a:ext cx="3749040" cy="685800"/>
          </a:xfrm>
          <a:prstGeom prst="rect">
            <a:avLst/>
          </a:prstGeom>
          <a:noFill/>
          <a:ln/>
        </p:spPr>
        <p:txBody>
          <a:bodyPr wrap="square"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Full audit trail admins can trust for accountability</a:t>
            </a:r>
            <a:endParaRPr lang="en-US" sz="1150" dirty="0"/>
          </a:p>
        </p:txBody>
      </p:sp>
      <p:sp>
        <p:nvSpPr>
          <p:cNvPr id="17" name="Shape 14"/>
          <p:cNvSpPr/>
          <p:nvPr/>
        </p:nvSpPr>
        <p:spPr>
          <a:xfrm>
            <a:off x="7543800" y="4791456"/>
            <a:ext cx="201168" cy="201168"/>
          </a:xfrm>
          <a:prstGeom prst="ellipse">
            <a:avLst/>
          </a:prstGeom>
          <a:solidFill>
            <a:srgbClr val="D7FF3D"/>
          </a:solidFill>
          <a:ln/>
        </p:spPr>
      </p:sp>
      <p:sp>
        <p:nvSpPr>
          <p:cNvPr id="18" name="Text 15"/>
          <p:cNvSpPr/>
          <p:nvPr/>
        </p:nvSpPr>
        <p:spPr>
          <a:xfrm>
            <a:off x="7863840" y="4690872"/>
            <a:ext cx="3749040" cy="685800"/>
          </a:xfrm>
          <a:prstGeom prst="rect">
            <a:avLst/>
          </a:prstGeom>
          <a:noFill/>
          <a:ln/>
        </p:spPr>
        <p:txBody>
          <a:bodyPr wrap="square"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QR check-in instead of costly biometric hardware</a:t>
            </a:r>
            <a:endParaRPr lang="en-US" sz="1150" dirty="0"/>
          </a:p>
        </p:txBody>
      </p:sp>
      <p:sp>
        <p:nvSpPr>
          <p:cNvPr id="19" name="Shape 16"/>
          <p:cNvSpPr/>
          <p:nvPr/>
        </p:nvSpPr>
        <p:spPr>
          <a:xfrm>
            <a:off x="7543800" y="5632704"/>
            <a:ext cx="201168" cy="201168"/>
          </a:xfrm>
          <a:prstGeom prst="ellipse">
            <a:avLst/>
          </a:prstGeom>
          <a:solidFill>
            <a:srgbClr val="D7FF3D"/>
          </a:solidFill>
          <a:ln/>
        </p:spPr>
      </p:sp>
      <p:sp>
        <p:nvSpPr>
          <p:cNvPr id="20" name="Text 17"/>
          <p:cNvSpPr/>
          <p:nvPr/>
        </p:nvSpPr>
        <p:spPr>
          <a:xfrm>
            <a:off x="7863840" y="5532120"/>
            <a:ext cx="3749040" cy="685800"/>
          </a:xfrm>
          <a:prstGeom prst="rect">
            <a:avLst/>
          </a:prstGeom>
          <a:noFill/>
          <a:ln/>
        </p:spPr>
        <p:txBody>
          <a:bodyPr wrap="square" rtlCol="0" anchor="ctr"/>
          <a:lstStyle/>
          <a:p>
            <a:pPr marL="0" indent="0">
              <a:lnSpc>
                <a:spcPct val="120000"/>
              </a:lnSpc>
              <a:buNone/>
            </a:pPr>
            <a:r>
              <a:rPr lang="en-US" sz="1150" dirty="0">
                <a:solidFill>
                  <a:srgbClr val="FFFFFF"/>
                </a:solidFill>
                <a:latin typeface="Calibri" pitchFamily="34" charset="0"/>
                <a:ea typeface="Calibri" pitchFamily="34" charset="-122"/>
                <a:cs typeface="Calibri" pitchFamily="34" charset="-120"/>
              </a:rPr>
              <a:t>Modern, secure stack (JWT, HTTPS, Stripe) at a fraction of enterprise cost</a:t>
            </a:r>
            <a:endParaRPr lang="en-US" sz="1150" dirty="0"/>
          </a:p>
        </p:txBody>
      </p:sp>
      <p:sp>
        <p:nvSpPr>
          <p:cNvPr id="21" name="Text 18"/>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layers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BOUNDARIES</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Project Scope</a:t>
            </a:r>
            <a:endParaRPr lang="en-US" sz="3000" dirty="0"/>
          </a:p>
        </p:txBody>
      </p:sp>
      <p:sp>
        <p:nvSpPr>
          <p:cNvPr id="6" name="Shape 3"/>
          <p:cNvSpPr/>
          <p:nvPr/>
        </p:nvSpPr>
        <p:spPr>
          <a:xfrm>
            <a:off x="502920" y="1508760"/>
            <a:ext cx="5486400" cy="4892040"/>
          </a:xfrm>
          <a:prstGeom prst="roundRect">
            <a:avLst>
              <a:gd name="adj" fmla="val 1495"/>
            </a:avLst>
          </a:prstGeom>
          <a:solidFill>
            <a:srgbClr val="FFFFFF"/>
          </a:solidFill>
          <a:ln w="12700">
            <a:solidFill>
              <a:srgbClr val="D7DCE3"/>
            </a:solidFill>
            <a:prstDash val="solid"/>
          </a:ln>
        </p:spPr>
      </p:sp>
      <p:sp>
        <p:nvSpPr>
          <p:cNvPr id="7" name="Shape 4"/>
          <p:cNvSpPr/>
          <p:nvPr/>
        </p:nvSpPr>
        <p:spPr>
          <a:xfrm>
            <a:off x="777240" y="1737360"/>
            <a:ext cx="438912" cy="438912"/>
          </a:xfrm>
          <a:prstGeom prst="ellipse">
            <a:avLst/>
          </a:prstGeom>
          <a:solidFill>
            <a:srgbClr val="121826"/>
          </a:solidFill>
          <a:ln/>
        </p:spPr>
      </p:sp>
      <p:pic>
        <p:nvPicPr>
          <p:cNvPr id="8" name="Image 1" descr="/home/claude/work/icons/check_navy.png"/>
          <p:cNvPicPr>
            <a:picLocks noChangeAspect="1"/>
          </p:cNvPicPr>
          <p:nvPr/>
        </p:nvPicPr>
        <p:blipFill>
          <a:blip r:embed="rId4"/>
          <a:stretch>
            <a:fillRect/>
          </a:stretch>
        </p:blipFill>
        <p:spPr>
          <a:xfrm>
            <a:off x="886968" y="1847088"/>
            <a:ext cx="219456" cy="219456"/>
          </a:xfrm>
          <a:prstGeom prst="rect">
            <a:avLst/>
          </a:prstGeom>
        </p:spPr>
      </p:pic>
      <p:sp>
        <p:nvSpPr>
          <p:cNvPr id="9" name="Text 5"/>
          <p:cNvSpPr/>
          <p:nvPr/>
        </p:nvSpPr>
        <p:spPr>
          <a:xfrm>
            <a:off x="1325880" y="1737360"/>
            <a:ext cx="3657600" cy="457200"/>
          </a:xfrm>
          <a:prstGeom prst="rect">
            <a:avLst/>
          </a:prstGeom>
          <a:noFill/>
          <a:ln/>
        </p:spPr>
        <p:txBody>
          <a:bodyPr wrap="square" rtlCol="0" anchor="ctr"/>
          <a:lstStyle/>
          <a:p>
            <a:pPr marL="0" indent="0">
              <a:buNone/>
            </a:pPr>
            <a:r>
              <a:rPr lang="en-US" sz="1400" b="1" kern="0" spc="100" dirty="0">
                <a:solidFill>
                  <a:srgbClr val="121826"/>
                </a:solidFill>
                <a:latin typeface="Calibri" pitchFamily="34" charset="0"/>
                <a:ea typeface="Calibri" pitchFamily="34" charset="-122"/>
                <a:cs typeface="Calibri" pitchFamily="34" charset="-120"/>
              </a:rPr>
              <a:t>IN SCOPE</a:t>
            </a:r>
            <a:endParaRPr lang="en-US" sz="1400" dirty="0"/>
          </a:p>
        </p:txBody>
      </p:sp>
      <p:sp>
        <p:nvSpPr>
          <p:cNvPr id="10" name="Text 6"/>
          <p:cNvSpPr/>
          <p:nvPr/>
        </p:nvSpPr>
        <p:spPr>
          <a:xfrm>
            <a:off x="777240" y="2331720"/>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11" name="Text 7"/>
          <p:cNvSpPr/>
          <p:nvPr/>
        </p:nvSpPr>
        <p:spPr>
          <a:xfrm>
            <a:off x="1005840" y="2331720"/>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Registration, JWT login &amp; role management (Admin, Trainer, Member, Receptionist)</a:t>
            </a:r>
            <a:endParaRPr lang="en-US" sz="1100" dirty="0"/>
          </a:p>
        </p:txBody>
      </p:sp>
      <p:sp>
        <p:nvSpPr>
          <p:cNvPr id="12" name="Text 8"/>
          <p:cNvSpPr/>
          <p:nvPr/>
        </p:nvSpPr>
        <p:spPr>
          <a:xfrm>
            <a:off x="777240" y="2761488"/>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13" name="Text 9"/>
          <p:cNvSpPr/>
          <p:nvPr/>
        </p:nvSpPr>
        <p:spPr>
          <a:xfrm>
            <a:off x="1005840" y="2761488"/>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Membership plans, subscriptions &amp; renewals</a:t>
            </a:r>
            <a:endParaRPr lang="en-US" sz="1100" dirty="0"/>
          </a:p>
        </p:txBody>
      </p:sp>
      <p:sp>
        <p:nvSpPr>
          <p:cNvPr id="14" name="Text 10"/>
          <p:cNvSpPr/>
          <p:nvPr/>
        </p:nvSpPr>
        <p:spPr>
          <a:xfrm>
            <a:off x="777240" y="3191256"/>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15" name="Text 11"/>
          <p:cNvSpPr/>
          <p:nvPr/>
        </p:nvSpPr>
        <p:spPr>
          <a:xfrm>
            <a:off x="1005840" y="3191256"/>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Class scheduling &amp; booking</a:t>
            </a:r>
            <a:endParaRPr lang="en-US" sz="1100" dirty="0"/>
          </a:p>
        </p:txBody>
      </p:sp>
      <p:sp>
        <p:nvSpPr>
          <p:cNvPr id="16" name="Text 12"/>
          <p:cNvSpPr/>
          <p:nvPr/>
        </p:nvSpPr>
        <p:spPr>
          <a:xfrm>
            <a:off x="777240" y="3621024"/>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17" name="Text 13"/>
          <p:cNvSpPr/>
          <p:nvPr/>
        </p:nvSpPr>
        <p:spPr>
          <a:xfrm>
            <a:off x="1005840" y="3621024"/>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Private training session booking</a:t>
            </a:r>
            <a:endParaRPr lang="en-US" sz="1100" dirty="0"/>
          </a:p>
        </p:txBody>
      </p:sp>
      <p:sp>
        <p:nvSpPr>
          <p:cNvPr id="18" name="Text 14"/>
          <p:cNvSpPr/>
          <p:nvPr/>
        </p:nvSpPr>
        <p:spPr>
          <a:xfrm>
            <a:off x="777240" y="4050792"/>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19" name="Text 15"/>
          <p:cNvSpPr/>
          <p:nvPr/>
        </p:nvSpPr>
        <p:spPr>
          <a:xfrm>
            <a:off x="1005840" y="4050792"/>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Trainer working-hours management</a:t>
            </a:r>
            <a:endParaRPr lang="en-US" sz="1100" dirty="0"/>
          </a:p>
        </p:txBody>
      </p:sp>
      <p:sp>
        <p:nvSpPr>
          <p:cNvPr id="20" name="Text 16"/>
          <p:cNvSpPr/>
          <p:nvPr/>
        </p:nvSpPr>
        <p:spPr>
          <a:xfrm>
            <a:off x="777240" y="4480560"/>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21" name="Text 17"/>
          <p:cNvSpPr/>
          <p:nvPr/>
        </p:nvSpPr>
        <p:spPr>
          <a:xfrm>
            <a:off x="1005840" y="4480560"/>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QR-based attendance check-in</a:t>
            </a:r>
            <a:endParaRPr lang="en-US" sz="1100" dirty="0"/>
          </a:p>
        </p:txBody>
      </p:sp>
      <p:sp>
        <p:nvSpPr>
          <p:cNvPr id="22" name="Text 18"/>
          <p:cNvSpPr/>
          <p:nvPr/>
        </p:nvSpPr>
        <p:spPr>
          <a:xfrm>
            <a:off x="777240" y="4910328"/>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23" name="Text 19"/>
          <p:cNvSpPr/>
          <p:nvPr/>
        </p:nvSpPr>
        <p:spPr>
          <a:xfrm>
            <a:off x="1005840" y="4910328"/>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Online payments &amp; automatic invoicing (Stripe)</a:t>
            </a:r>
            <a:endParaRPr lang="en-US" sz="1100" dirty="0"/>
          </a:p>
        </p:txBody>
      </p:sp>
      <p:sp>
        <p:nvSpPr>
          <p:cNvPr id="24" name="Text 20"/>
          <p:cNvSpPr/>
          <p:nvPr/>
        </p:nvSpPr>
        <p:spPr>
          <a:xfrm>
            <a:off x="777240" y="5340096"/>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25" name="Text 21"/>
          <p:cNvSpPr/>
          <p:nvPr/>
        </p:nvSpPr>
        <p:spPr>
          <a:xfrm>
            <a:off x="1005840" y="5340096"/>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Shop: products, cart, checkout, inventory &amp; suppliers</a:t>
            </a:r>
            <a:endParaRPr lang="en-US" sz="1100" dirty="0"/>
          </a:p>
        </p:txBody>
      </p:sp>
      <p:sp>
        <p:nvSpPr>
          <p:cNvPr id="26" name="Text 22"/>
          <p:cNvSpPr/>
          <p:nvPr/>
        </p:nvSpPr>
        <p:spPr>
          <a:xfrm>
            <a:off x="777240" y="5769864"/>
            <a:ext cx="228600" cy="365760"/>
          </a:xfrm>
          <a:prstGeom prst="rect">
            <a:avLst/>
          </a:prstGeom>
          <a:noFill/>
          <a:ln/>
        </p:spPr>
        <p:txBody>
          <a:bodyPr wrap="square" rtlCol="0" anchor="ctr"/>
          <a:lstStyle/>
          <a:p>
            <a:pPr marL="0" indent="0">
              <a:buNone/>
            </a:pPr>
            <a:r>
              <a:rPr lang="en-US" sz="1200" b="1" dirty="0">
                <a:solidFill>
                  <a:srgbClr val="9AAF2E"/>
                </a:solidFill>
                <a:latin typeface="Calibri" pitchFamily="34" charset="0"/>
                <a:ea typeface="Calibri" pitchFamily="34" charset="-122"/>
                <a:cs typeface="Calibri" pitchFamily="34" charset="-120"/>
              </a:rPr>
              <a:t>•</a:t>
            </a:r>
            <a:endParaRPr lang="en-US" sz="1200" dirty="0"/>
          </a:p>
        </p:txBody>
      </p:sp>
      <p:sp>
        <p:nvSpPr>
          <p:cNvPr id="27" name="Text 23"/>
          <p:cNvSpPr/>
          <p:nvPr/>
        </p:nvSpPr>
        <p:spPr>
          <a:xfrm>
            <a:off x="1005840" y="5769864"/>
            <a:ext cx="4846320" cy="384048"/>
          </a:xfrm>
          <a:prstGeom prst="rect">
            <a:avLst/>
          </a:prstGeom>
          <a:noFill/>
          <a:ln/>
        </p:spPr>
        <p:txBody>
          <a:bodyPr wrap="square" rtlCol="0" anchor="ctr"/>
          <a:lstStyle/>
          <a:p>
            <a:pPr marL="0" indent="0">
              <a:lnSpc>
                <a:spcPct val="105000"/>
              </a:lnSpc>
              <a:buNone/>
            </a:pPr>
            <a:r>
              <a:rPr lang="en-US" sz="1100" dirty="0">
                <a:solidFill>
                  <a:srgbClr val="121826"/>
                </a:solidFill>
                <a:latin typeface="Calibri" pitchFamily="34" charset="0"/>
                <a:ea typeface="Calibri" pitchFamily="34" charset="-122"/>
                <a:cs typeface="Calibri" pitchFamily="34" charset="-120"/>
              </a:rPr>
              <a:t>Notifications, admin dashboard &amp; audit logs</a:t>
            </a:r>
            <a:endParaRPr lang="en-US" sz="1100" dirty="0"/>
          </a:p>
        </p:txBody>
      </p:sp>
      <p:sp>
        <p:nvSpPr>
          <p:cNvPr id="28" name="Shape 24"/>
          <p:cNvSpPr/>
          <p:nvPr/>
        </p:nvSpPr>
        <p:spPr>
          <a:xfrm>
            <a:off x="6199632" y="1508760"/>
            <a:ext cx="5486400" cy="4892040"/>
          </a:xfrm>
          <a:prstGeom prst="roundRect">
            <a:avLst>
              <a:gd name="adj" fmla="val 1495"/>
            </a:avLst>
          </a:prstGeom>
          <a:solidFill>
            <a:srgbClr val="1F2A3D"/>
          </a:solidFill>
          <a:ln/>
        </p:spPr>
      </p:sp>
      <p:sp>
        <p:nvSpPr>
          <p:cNvPr id="29" name="Shape 25"/>
          <p:cNvSpPr/>
          <p:nvPr/>
        </p:nvSpPr>
        <p:spPr>
          <a:xfrm>
            <a:off x="6473952" y="1737360"/>
            <a:ext cx="438912" cy="438912"/>
          </a:xfrm>
          <a:prstGeom prst="ellipse">
            <a:avLst/>
          </a:prstGeom>
          <a:solidFill>
            <a:srgbClr val="D7FF3D"/>
          </a:solidFill>
          <a:ln/>
        </p:spPr>
      </p:sp>
      <p:pic>
        <p:nvPicPr>
          <p:cNvPr id="30" name="Image 2" descr="/home/claude/work/icons/times_navy.png"/>
          <p:cNvPicPr>
            <a:picLocks noChangeAspect="1"/>
          </p:cNvPicPr>
          <p:nvPr/>
        </p:nvPicPr>
        <p:blipFill>
          <a:blip r:embed="rId5"/>
          <a:stretch>
            <a:fillRect/>
          </a:stretch>
        </p:blipFill>
        <p:spPr>
          <a:xfrm>
            <a:off x="6583680" y="1847088"/>
            <a:ext cx="219456" cy="219456"/>
          </a:xfrm>
          <a:prstGeom prst="rect">
            <a:avLst/>
          </a:prstGeom>
        </p:spPr>
      </p:pic>
      <p:sp>
        <p:nvSpPr>
          <p:cNvPr id="31" name="Text 26"/>
          <p:cNvSpPr/>
          <p:nvPr/>
        </p:nvSpPr>
        <p:spPr>
          <a:xfrm>
            <a:off x="7022592" y="1737360"/>
            <a:ext cx="3657600" cy="457200"/>
          </a:xfrm>
          <a:prstGeom prst="rect">
            <a:avLst/>
          </a:prstGeom>
          <a:noFill/>
          <a:ln/>
        </p:spPr>
        <p:txBody>
          <a:bodyPr wrap="square" rtlCol="0" anchor="ctr"/>
          <a:lstStyle/>
          <a:p>
            <a:pPr marL="0" indent="0">
              <a:buNone/>
            </a:pPr>
            <a:r>
              <a:rPr lang="en-US" sz="1400" b="1" kern="0" spc="100" dirty="0">
                <a:solidFill>
                  <a:srgbClr val="FFFFFF"/>
                </a:solidFill>
                <a:latin typeface="Calibri" pitchFamily="34" charset="0"/>
                <a:ea typeface="Calibri" pitchFamily="34" charset="-122"/>
                <a:cs typeface="Calibri" pitchFamily="34" charset="-120"/>
              </a:rPr>
              <a:t>OUT OF SCOPE</a:t>
            </a:r>
            <a:endParaRPr lang="en-US" sz="1400" dirty="0"/>
          </a:p>
        </p:txBody>
      </p:sp>
      <p:sp>
        <p:nvSpPr>
          <p:cNvPr id="32" name="Text 27"/>
          <p:cNvSpPr/>
          <p:nvPr/>
        </p:nvSpPr>
        <p:spPr>
          <a:xfrm>
            <a:off x="6473952" y="2331720"/>
            <a:ext cx="228600" cy="365760"/>
          </a:xfrm>
          <a:prstGeom prst="rect">
            <a:avLst/>
          </a:prstGeom>
          <a:noFill/>
          <a:ln/>
        </p:spPr>
        <p:txBody>
          <a:bodyPr wrap="square" rtlCol="0" anchor="ctr"/>
          <a:lstStyle/>
          <a:p>
            <a:pPr marL="0" indent="0">
              <a:buNone/>
            </a:pPr>
            <a:r>
              <a:rPr lang="en-US" sz="1200" b="1" dirty="0">
                <a:solidFill>
                  <a:srgbClr val="D7FF3D"/>
                </a:solidFill>
                <a:latin typeface="Calibri" pitchFamily="34" charset="0"/>
                <a:ea typeface="Calibri" pitchFamily="34" charset="-122"/>
                <a:cs typeface="Calibri" pitchFamily="34" charset="-120"/>
              </a:rPr>
              <a:t>•</a:t>
            </a:r>
            <a:endParaRPr lang="en-US" sz="1200" dirty="0"/>
          </a:p>
        </p:txBody>
      </p:sp>
      <p:sp>
        <p:nvSpPr>
          <p:cNvPr id="33" name="Text 28"/>
          <p:cNvSpPr/>
          <p:nvPr/>
        </p:nvSpPr>
        <p:spPr>
          <a:xfrm>
            <a:off x="6702552" y="2331720"/>
            <a:ext cx="4846320" cy="384048"/>
          </a:xfrm>
          <a:prstGeom prst="rect">
            <a:avLst/>
          </a:prstGeom>
          <a:noFill/>
          <a:ln/>
        </p:spPr>
        <p:txBody>
          <a:bodyPr wrap="square" rtlCol="0" anchor="ctr"/>
          <a:lstStyle/>
          <a:p>
            <a:pPr marL="0" indent="0">
              <a:lnSpc>
                <a:spcPct val="105000"/>
              </a:lnSpc>
              <a:buNone/>
            </a:pPr>
            <a:r>
              <a:rPr lang="en-US" sz="1100" dirty="0">
                <a:solidFill>
                  <a:srgbClr val="AAB4C4"/>
                </a:solidFill>
                <a:latin typeface="Calibri" pitchFamily="34" charset="0"/>
                <a:ea typeface="Calibri" pitchFamily="34" charset="-122"/>
                <a:cs typeface="Calibri" pitchFamily="34" charset="-120"/>
              </a:rPr>
              <a:t>Native mobile applications (iOS / Android)</a:t>
            </a:r>
            <a:endParaRPr lang="en-US" sz="1100" dirty="0"/>
          </a:p>
        </p:txBody>
      </p:sp>
      <p:sp>
        <p:nvSpPr>
          <p:cNvPr id="34" name="Text 29"/>
          <p:cNvSpPr/>
          <p:nvPr/>
        </p:nvSpPr>
        <p:spPr>
          <a:xfrm>
            <a:off x="6473952" y="2761488"/>
            <a:ext cx="228600" cy="365760"/>
          </a:xfrm>
          <a:prstGeom prst="rect">
            <a:avLst/>
          </a:prstGeom>
          <a:noFill/>
          <a:ln/>
        </p:spPr>
        <p:txBody>
          <a:bodyPr wrap="square" rtlCol="0" anchor="ctr"/>
          <a:lstStyle/>
          <a:p>
            <a:pPr marL="0" indent="0">
              <a:buNone/>
            </a:pPr>
            <a:r>
              <a:rPr lang="en-US" sz="1200" b="1" dirty="0">
                <a:solidFill>
                  <a:srgbClr val="D7FF3D"/>
                </a:solidFill>
                <a:latin typeface="Calibri" pitchFamily="34" charset="0"/>
                <a:ea typeface="Calibri" pitchFamily="34" charset="-122"/>
                <a:cs typeface="Calibri" pitchFamily="34" charset="-120"/>
              </a:rPr>
              <a:t>•</a:t>
            </a:r>
            <a:endParaRPr lang="en-US" sz="1200" dirty="0"/>
          </a:p>
        </p:txBody>
      </p:sp>
      <p:sp>
        <p:nvSpPr>
          <p:cNvPr id="35" name="Text 30"/>
          <p:cNvSpPr/>
          <p:nvPr/>
        </p:nvSpPr>
        <p:spPr>
          <a:xfrm>
            <a:off x="6702552" y="2761488"/>
            <a:ext cx="4846320" cy="384048"/>
          </a:xfrm>
          <a:prstGeom prst="rect">
            <a:avLst/>
          </a:prstGeom>
          <a:noFill/>
          <a:ln/>
        </p:spPr>
        <p:txBody>
          <a:bodyPr wrap="square" rtlCol="0" anchor="ctr"/>
          <a:lstStyle/>
          <a:p>
            <a:pPr marL="0" indent="0">
              <a:lnSpc>
                <a:spcPct val="105000"/>
              </a:lnSpc>
              <a:buNone/>
            </a:pPr>
            <a:r>
              <a:rPr lang="en-US" sz="1100" dirty="0">
                <a:solidFill>
                  <a:srgbClr val="AAB4C4"/>
                </a:solidFill>
                <a:latin typeface="Calibri" pitchFamily="34" charset="0"/>
                <a:ea typeface="Calibri" pitchFamily="34" charset="-122"/>
                <a:cs typeface="Calibri" pitchFamily="34" charset="-120"/>
              </a:rPr>
              <a:t>AI-based workout or nutrition recommendation engine</a:t>
            </a:r>
            <a:endParaRPr lang="en-US" sz="1100" dirty="0"/>
          </a:p>
        </p:txBody>
      </p:sp>
      <p:sp>
        <p:nvSpPr>
          <p:cNvPr id="36" name="Text 31"/>
          <p:cNvSpPr/>
          <p:nvPr/>
        </p:nvSpPr>
        <p:spPr>
          <a:xfrm>
            <a:off x="6473952" y="3191256"/>
            <a:ext cx="228600" cy="365760"/>
          </a:xfrm>
          <a:prstGeom prst="rect">
            <a:avLst/>
          </a:prstGeom>
          <a:noFill/>
          <a:ln/>
        </p:spPr>
        <p:txBody>
          <a:bodyPr wrap="square" rtlCol="0" anchor="ctr"/>
          <a:lstStyle/>
          <a:p>
            <a:pPr marL="0" indent="0">
              <a:buNone/>
            </a:pPr>
            <a:r>
              <a:rPr lang="en-US" sz="1200" b="1" dirty="0">
                <a:solidFill>
                  <a:srgbClr val="D7FF3D"/>
                </a:solidFill>
                <a:latin typeface="Calibri" pitchFamily="34" charset="0"/>
                <a:ea typeface="Calibri" pitchFamily="34" charset="-122"/>
                <a:cs typeface="Calibri" pitchFamily="34" charset="-120"/>
              </a:rPr>
              <a:t>•</a:t>
            </a:r>
            <a:endParaRPr lang="en-US" sz="1200" dirty="0"/>
          </a:p>
        </p:txBody>
      </p:sp>
      <p:sp>
        <p:nvSpPr>
          <p:cNvPr id="37" name="Text 32"/>
          <p:cNvSpPr/>
          <p:nvPr/>
        </p:nvSpPr>
        <p:spPr>
          <a:xfrm>
            <a:off x="6702552" y="3191256"/>
            <a:ext cx="4846320" cy="384048"/>
          </a:xfrm>
          <a:prstGeom prst="rect">
            <a:avLst/>
          </a:prstGeom>
          <a:noFill/>
          <a:ln/>
        </p:spPr>
        <p:txBody>
          <a:bodyPr wrap="square" rtlCol="0" anchor="ctr"/>
          <a:lstStyle/>
          <a:p>
            <a:pPr marL="0" indent="0">
              <a:lnSpc>
                <a:spcPct val="105000"/>
              </a:lnSpc>
              <a:buNone/>
            </a:pPr>
            <a:r>
              <a:rPr lang="en-US" sz="1100" dirty="0">
                <a:solidFill>
                  <a:srgbClr val="AAB4C4"/>
                </a:solidFill>
                <a:latin typeface="Calibri" pitchFamily="34" charset="0"/>
                <a:ea typeface="Calibri" pitchFamily="34" charset="-122"/>
                <a:cs typeface="Calibri" pitchFamily="34" charset="-120"/>
              </a:rPr>
              <a:t>Multi-gym / multi-branch franchise management</a:t>
            </a:r>
            <a:endParaRPr lang="en-US" sz="1100" dirty="0"/>
          </a:p>
        </p:txBody>
      </p:sp>
      <p:sp>
        <p:nvSpPr>
          <p:cNvPr id="38" name="Text 33"/>
          <p:cNvSpPr/>
          <p:nvPr/>
        </p:nvSpPr>
        <p:spPr>
          <a:xfrm>
            <a:off x="6473952" y="3621024"/>
            <a:ext cx="228600" cy="365760"/>
          </a:xfrm>
          <a:prstGeom prst="rect">
            <a:avLst/>
          </a:prstGeom>
          <a:noFill/>
          <a:ln/>
        </p:spPr>
        <p:txBody>
          <a:bodyPr wrap="square" rtlCol="0" anchor="ctr"/>
          <a:lstStyle/>
          <a:p>
            <a:pPr marL="0" indent="0">
              <a:buNone/>
            </a:pPr>
            <a:r>
              <a:rPr lang="en-US" sz="1200" b="1" dirty="0">
                <a:solidFill>
                  <a:srgbClr val="D7FF3D"/>
                </a:solidFill>
                <a:latin typeface="Calibri" pitchFamily="34" charset="0"/>
                <a:ea typeface="Calibri" pitchFamily="34" charset="-122"/>
                <a:cs typeface="Calibri" pitchFamily="34" charset="-120"/>
              </a:rPr>
              <a:t>•</a:t>
            </a:r>
            <a:endParaRPr lang="en-US" sz="1200" dirty="0"/>
          </a:p>
        </p:txBody>
      </p:sp>
      <p:sp>
        <p:nvSpPr>
          <p:cNvPr id="39" name="Text 34"/>
          <p:cNvSpPr/>
          <p:nvPr/>
        </p:nvSpPr>
        <p:spPr>
          <a:xfrm>
            <a:off x="6702552" y="3621024"/>
            <a:ext cx="4846320" cy="384048"/>
          </a:xfrm>
          <a:prstGeom prst="rect">
            <a:avLst/>
          </a:prstGeom>
          <a:noFill/>
          <a:ln/>
        </p:spPr>
        <p:txBody>
          <a:bodyPr wrap="square" rtlCol="0" anchor="ctr"/>
          <a:lstStyle/>
          <a:p>
            <a:pPr marL="0" indent="0">
              <a:lnSpc>
                <a:spcPct val="105000"/>
              </a:lnSpc>
              <a:buNone/>
            </a:pPr>
            <a:r>
              <a:rPr lang="en-US" sz="1100" dirty="0">
                <a:solidFill>
                  <a:srgbClr val="AAB4C4"/>
                </a:solidFill>
                <a:latin typeface="Calibri" pitchFamily="34" charset="0"/>
                <a:ea typeface="Calibri" pitchFamily="34" charset="-122"/>
                <a:cs typeface="Calibri" pitchFamily="34" charset="-120"/>
              </a:rPr>
              <a:t>Wearable device integration (heart-rate, steps, etc.)</a:t>
            </a:r>
            <a:endParaRPr lang="en-US" sz="1100" dirty="0"/>
          </a:p>
        </p:txBody>
      </p:sp>
      <p:sp>
        <p:nvSpPr>
          <p:cNvPr id="40" name="Text 35"/>
          <p:cNvSpPr/>
          <p:nvPr/>
        </p:nvSpPr>
        <p:spPr>
          <a:xfrm>
            <a:off x="6473952" y="4050792"/>
            <a:ext cx="228600" cy="365760"/>
          </a:xfrm>
          <a:prstGeom prst="rect">
            <a:avLst/>
          </a:prstGeom>
          <a:noFill/>
          <a:ln/>
        </p:spPr>
        <p:txBody>
          <a:bodyPr wrap="square" rtlCol="0" anchor="ctr"/>
          <a:lstStyle/>
          <a:p>
            <a:pPr marL="0" indent="0">
              <a:buNone/>
            </a:pPr>
            <a:r>
              <a:rPr lang="en-US" sz="1200" b="1" dirty="0">
                <a:solidFill>
                  <a:srgbClr val="D7FF3D"/>
                </a:solidFill>
                <a:latin typeface="Calibri" pitchFamily="34" charset="0"/>
                <a:ea typeface="Calibri" pitchFamily="34" charset="-122"/>
                <a:cs typeface="Calibri" pitchFamily="34" charset="-120"/>
              </a:rPr>
              <a:t>•</a:t>
            </a:r>
            <a:endParaRPr lang="en-US" sz="1200" dirty="0"/>
          </a:p>
        </p:txBody>
      </p:sp>
      <p:sp>
        <p:nvSpPr>
          <p:cNvPr id="41" name="Text 36"/>
          <p:cNvSpPr/>
          <p:nvPr/>
        </p:nvSpPr>
        <p:spPr>
          <a:xfrm>
            <a:off x="6702552" y="4050792"/>
            <a:ext cx="4846320" cy="384048"/>
          </a:xfrm>
          <a:prstGeom prst="rect">
            <a:avLst/>
          </a:prstGeom>
          <a:noFill/>
          <a:ln/>
        </p:spPr>
        <p:txBody>
          <a:bodyPr wrap="square" rtlCol="0" anchor="ctr"/>
          <a:lstStyle/>
          <a:p>
            <a:pPr marL="0" indent="0">
              <a:lnSpc>
                <a:spcPct val="105000"/>
              </a:lnSpc>
              <a:buNone/>
            </a:pPr>
            <a:r>
              <a:rPr lang="en-US" sz="1100" dirty="0">
                <a:solidFill>
                  <a:srgbClr val="AAB4C4"/>
                </a:solidFill>
                <a:latin typeface="Calibri" pitchFamily="34" charset="0"/>
                <a:ea typeface="Calibri" pitchFamily="34" charset="-122"/>
                <a:cs typeface="Calibri" pitchFamily="34" charset="-120"/>
              </a:rPr>
              <a:t>Real-time in-app chat between members and trainers</a:t>
            </a:r>
            <a:endParaRPr lang="en-US" sz="1100" dirty="0"/>
          </a:p>
        </p:txBody>
      </p:sp>
      <p:sp>
        <p:nvSpPr>
          <p:cNvPr id="42" name="Text 37"/>
          <p:cNvSpPr/>
          <p:nvPr/>
        </p:nvSpPr>
        <p:spPr>
          <a:xfrm>
            <a:off x="6473952" y="4480560"/>
            <a:ext cx="228600" cy="365760"/>
          </a:xfrm>
          <a:prstGeom prst="rect">
            <a:avLst/>
          </a:prstGeom>
          <a:noFill/>
          <a:ln/>
        </p:spPr>
        <p:txBody>
          <a:bodyPr wrap="square" rtlCol="0" anchor="ctr"/>
          <a:lstStyle/>
          <a:p>
            <a:pPr marL="0" indent="0">
              <a:buNone/>
            </a:pPr>
            <a:r>
              <a:rPr lang="en-US" sz="1200" b="1" dirty="0">
                <a:solidFill>
                  <a:srgbClr val="D7FF3D"/>
                </a:solidFill>
                <a:latin typeface="Calibri" pitchFamily="34" charset="0"/>
                <a:ea typeface="Calibri" pitchFamily="34" charset="-122"/>
                <a:cs typeface="Calibri" pitchFamily="34" charset="-120"/>
              </a:rPr>
              <a:t>•</a:t>
            </a:r>
            <a:endParaRPr lang="en-US" sz="1200" dirty="0"/>
          </a:p>
        </p:txBody>
      </p:sp>
      <p:sp>
        <p:nvSpPr>
          <p:cNvPr id="43" name="Text 38"/>
          <p:cNvSpPr/>
          <p:nvPr/>
        </p:nvSpPr>
        <p:spPr>
          <a:xfrm>
            <a:off x="6702552" y="4480560"/>
            <a:ext cx="4846320" cy="384048"/>
          </a:xfrm>
          <a:prstGeom prst="rect">
            <a:avLst/>
          </a:prstGeom>
          <a:noFill/>
          <a:ln/>
        </p:spPr>
        <p:txBody>
          <a:bodyPr wrap="square" rtlCol="0" anchor="ctr"/>
          <a:lstStyle/>
          <a:p>
            <a:pPr marL="0" indent="0">
              <a:lnSpc>
                <a:spcPct val="105000"/>
              </a:lnSpc>
              <a:buNone/>
            </a:pPr>
            <a:r>
              <a:rPr lang="en-US" sz="1100" dirty="0">
                <a:solidFill>
                  <a:srgbClr val="AAB4C4"/>
                </a:solidFill>
                <a:latin typeface="Calibri" pitchFamily="34" charset="0"/>
                <a:ea typeface="Calibri" pitchFamily="34" charset="-122"/>
                <a:cs typeface="Calibri" pitchFamily="34" charset="-120"/>
              </a:rPr>
              <a:t>Third-party marketplace for external trainers</a:t>
            </a:r>
            <a:endParaRPr lang="en-US" sz="1100" dirty="0"/>
          </a:p>
        </p:txBody>
      </p:sp>
      <p:sp>
        <p:nvSpPr>
          <p:cNvPr id="44" name="Text 39"/>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clipboard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REQUIREMENTS</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Functional &amp; Non-Functional</a:t>
            </a:r>
            <a:endParaRPr lang="en-US" sz="3000" dirty="0"/>
          </a:p>
        </p:txBody>
      </p:sp>
      <p:sp>
        <p:nvSpPr>
          <p:cNvPr id="6" name="Text 3"/>
          <p:cNvSpPr/>
          <p:nvPr/>
        </p:nvSpPr>
        <p:spPr>
          <a:xfrm>
            <a:off x="502920" y="1481328"/>
            <a:ext cx="5486400" cy="292608"/>
          </a:xfrm>
          <a:prstGeom prst="rect">
            <a:avLst/>
          </a:prstGeom>
          <a:noFill/>
          <a:ln/>
        </p:spPr>
        <p:txBody>
          <a:bodyPr wrap="square" rtlCol="0" anchor="ctr"/>
          <a:lstStyle/>
          <a:p>
            <a:pPr marL="0" indent="0">
              <a:buNone/>
            </a:pPr>
            <a:r>
              <a:rPr lang="en-US" sz="1300" b="1" kern="0" spc="150" dirty="0">
                <a:solidFill>
                  <a:srgbClr val="9AAF2E"/>
                </a:solidFill>
                <a:latin typeface="Calibri" pitchFamily="34" charset="0"/>
                <a:ea typeface="Calibri" pitchFamily="34" charset="-122"/>
                <a:cs typeface="Calibri" pitchFamily="34" charset="-120"/>
              </a:rPr>
              <a:t>FUNCTIONAL</a:t>
            </a:r>
            <a:endParaRPr lang="en-US" sz="1300" dirty="0"/>
          </a:p>
        </p:txBody>
      </p:sp>
      <p:sp>
        <p:nvSpPr>
          <p:cNvPr id="7" name="Text 4"/>
          <p:cNvSpPr/>
          <p:nvPr/>
        </p:nvSpPr>
        <p:spPr>
          <a:xfrm>
            <a:off x="502920" y="1828800"/>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914400" y="1828800"/>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User &amp; role management with JWT authentication</a:t>
            </a:r>
            <a:endParaRPr lang="en-US" sz="1150" dirty="0"/>
          </a:p>
        </p:txBody>
      </p:sp>
      <p:sp>
        <p:nvSpPr>
          <p:cNvPr id="9" name="Text 6"/>
          <p:cNvSpPr/>
          <p:nvPr/>
        </p:nvSpPr>
        <p:spPr>
          <a:xfrm>
            <a:off x="502920" y="2313432"/>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7"/>
          <p:cNvSpPr/>
          <p:nvPr/>
        </p:nvSpPr>
        <p:spPr>
          <a:xfrm>
            <a:off x="914400" y="2313432"/>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Membership subscriptions, renewals &amp; tracking</a:t>
            </a:r>
            <a:endParaRPr lang="en-US" sz="1150" dirty="0"/>
          </a:p>
        </p:txBody>
      </p:sp>
      <p:sp>
        <p:nvSpPr>
          <p:cNvPr id="11" name="Text 8"/>
          <p:cNvSpPr/>
          <p:nvPr/>
        </p:nvSpPr>
        <p:spPr>
          <a:xfrm>
            <a:off x="502920" y="2798064"/>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9"/>
          <p:cNvSpPr/>
          <p:nvPr/>
        </p:nvSpPr>
        <p:spPr>
          <a:xfrm>
            <a:off x="914400" y="2798064"/>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Class scheduling &amp; booking with capacity limits</a:t>
            </a:r>
            <a:endParaRPr lang="en-US" sz="1150" dirty="0"/>
          </a:p>
        </p:txBody>
      </p:sp>
      <p:sp>
        <p:nvSpPr>
          <p:cNvPr id="13" name="Text 10"/>
          <p:cNvSpPr/>
          <p:nvPr/>
        </p:nvSpPr>
        <p:spPr>
          <a:xfrm>
            <a:off x="502920" y="3282696"/>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4" name="Text 11"/>
          <p:cNvSpPr/>
          <p:nvPr/>
        </p:nvSpPr>
        <p:spPr>
          <a:xfrm>
            <a:off x="914400" y="3282696"/>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Private session requests between members &amp; trainers</a:t>
            </a:r>
            <a:endParaRPr lang="en-US" sz="1150" dirty="0"/>
          </a:p>
        </p:txBody>
      </p:sp>
      <p:sp>
        <p:nvSpPr>
          <p:cNvPr id="15" name="Text 12"/>
          <p:cNvSpPr/>
          <p:nvPr/>
        </p:nvSpPr>
        <p:spPr>
          <a:xfrm>
            <a:off x="502920" y="3767328"/>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6" name="Text 13"/>
          <p:cNvSpPr/>
          <p:nvPr/>
        </p:nvSpPr>
        <p:spPr>
          <a:xfrm>
            <a:off x="914400" y="3767328"/>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QR-based attendance logging</a:t>
            </a:r>
            <a:endParaRPr lang="en-US" sz="1150" dirty="0"/>
          </a:p>
        </p:txBody>
      </p:sp>
      <p:sp>
        <p:nvSpPr>
          <p:cNvPr id="17" name="Text 14"/>
          <p:cNvSpPr/>
          <p:nvPr/>
        </p:nvSpPr>
        <p:spPr>
          <a:xfrm>
            <a:off x="502920" y="4251960"/>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8" name="Text 15"/>
          <p:cNvSpPr/>
          <p:nvPr/>
        </p:nvSpPr>
        <p:spPr>
          <a:xfrm>
            <a:off x="914400" y="4251960"/>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Stripe checkout &amp; automatic invoice generation</a:t>
            </a:r>
            <a:endParaRPr lang="en-US" sz="1150" dirty="0"/>
          </a:p>
        </p:txBody>
      </p:sp>
      <p:sp>
        <p:nvSpPr>
          <p:cNvPr id="19" name="Text 16"/>
          <p:cNvSpPr/>
          <p:nvPr/>
        </p:nvSpPr>
        <p:spPr>
          <a:xfrm>
            <a:off x="502920" y="4736592"/>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0" name="Text 17"/>
          <p:cNvSpPr/>
          <p:nvPr/>
        </p:nvSpPr>
        <p:spPr>
          <a:xfrm>
            <a:off x="914400" y="4736592"/>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Shop: products, cart, stock &amp; supplier management</a:t>
            </a:r>
            <a:endParaRPr lang="en-US" sz="1150" dirty="0"/>
          </a:p>
        </p:txBody>
      </p:sp>
      <p:sp>
        <p:nvSpPr>
          <p:cNvPr id="21" name="Text 18"/>
          <p:cNvSpPr/>
          <p:nvPr/>
        </p:nvSpPr>
        <p:spPr>
          <a:xfrm>
            <a:off x="502920" y="5221224"/>
            <a:ext cx="320040" cy="365760"/>
          </a:xfrm>
          <a:prstGeom prst="rect">
            <a:avLst/>
          </a:prstGeom>
          <a:solidFill>
            <a:srgbClr val="121826"/>
          </a:solid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2" name="Text 19"/>
          <p:cNvSpPr/>
          <p:nvPr/>
        </p:nvSpPr>
        <p:spPr>
          <a:xfrm>
            <a:off x="914400" y="5221224"/>
            <a:ext cx="5029200" cy="365760"/>
          </a:xfrm>
          <a:prstGeom prst="rect">
            <a:avLst/>
          </a:prstGeom>
          <a:noFill/>
          <a:ln/>
        </p:spPr>
        <p:txBody>
          <a:bodyPr wrap="square" rtlCol="0" anchor="ctr"/>
          <a:lstStyle/>
          <a:p>
            <a:pPr marL="0" indent="0">
              <a:buNone/>
            </a:pPr>
            <a:r>
              <a:rPr lang="en-US" sz="1150" dirty="0">
                <a:solidFill>
                  <a:srgbClr val="121826"/>
                </a:solidFill>
                <a:latin typeface="Calibri" pitchFamily="34" charset="0"/>
                <a:ea typeface="Calibri" pitchFamily="34" charset="-122"/>
                <a:cs typeface="Calibri" pitchFamily="34" charset="-120"/>
              </a:rPr>
              <a:t>Admin dashboard with full audit logging</a:t>
            </a:r>
            <a:endParaRPr lang="en-US" sz="1150" dirty="0"/>
          </a:p>
        </p:txBody>
      </p:sp>
      <p:sp>
        <p:nvSpPr>
          <p:cNvPr id="23" name="Shape 20"/>
          <p:cNvSpPr/>
          <p:nvPr/>
        </p:nvSpPr>
        <p:spPr>
          <a:xfrm>
            <a:off x="6355080" y="1508760"/>
            <a:ext cx="0" cy="4892040"/>
          </a:xfrm>
          <a:prstGeom prst="line">
            <a:avLst/>
          </a:prstGeom>
          <a:noFill/>
          <a:ln w="19050">
            <a:solidFill>
              <a:srgbClr val="D7DCE3"/>
            </a:solidFill>
            <a:prstDash val="dash"/>
          </a:ln>
        </p:spPr>
      </p:sp>
      <p:sp>
        <p:nvSpPr>
          <p:cNvPr id="24" name="Text 21"/>
          <p:cNvSpPr/>
          <p:nvPr/>
        </p:nvSpPr>
        <p:spPr>
          <a:xfrm>
            <a:off x="6675120" y="1481328"/>
            <a:ext cx="5486400" cy="292608"/>
          </a:xfrm>
          <a:prstGeom prst="rect">
            <a:avLst/>
          </a:prstGeom>
          <a:noFill/>
          <a:ln/>
        </p:spPr>
        <p:txBody>
          <a:bodyPr wrap="square" rtlCol="0" anchor="ctr"/>
          <a:lstStyle/>
          <a:p>
            <a:pPr marL="0" indent="0">
              <a:buNone/>
            </a:pPr>
            <a:r>
              <a:rPr lang="en-US" sz="1300" b="1" kern="0" spc="150" dirty="0">
                <a:solidFill>
                  <a:srgbClr val="9AAF2E"/>
                </a:solidFill>
                <a:latin typeface="Calibri" pitchFamily="34" charset="0"/>
                <a:ea typeface="Calibri" pitchFamily="34" charset="-122"/>
                <a:cs typeface="Calibri" pitchFamily="34" charset="-120"/>
              </a:rPr>
              <a:t>NON-FUNCTIONAL</a:t>
            </a:r>
            <a:endParaRPr lang="en-US" sz="1300" dirty="0"/>
          </a:p>
        </p:txBody>
      </p:sp>
      <p:sp>
        <p:nvSpPr>
          <p:cNvPr id="25" name="Text 22"/>
          <p:cNvSpPr/>
          <p:nvPr/>
        </p:nvSpPr>
        <p:spPr>
          <a:xfrm>
            <a:off x="6675120" y="1828800"/>
            <a:ext cx="4937760" cy="274320"/>
          </a:xfrm>
          <a:prstGeom prst="rect">
            <a:avLst/>
          </a:prstGeom>
          <a:noFill/>
          <a:ln/>
        </p:spPr>
        <p:txBody>
          <a:bodyPr wrap="square"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Security</a:t>
            </a:r>
            <a:endParaRPr lang="en-US" sz="1250" dirty="0"/>
          </a:p>
        </p:txBody>
      </p:sp>
      <p:sp>
        <p:nvSpPr>
          <p:cNvPr id="26" name="Text 23"/>
          <p:cNvSpPr/>
          <p:nvPr/>
        </p:nvSpPr>
        <p:spPr>
          <a:xfrm>
            <a:off x="6675120" y="2084832"/>
            <a:ext cx="4937760" cy="45720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JWT auth, hashed credentials (ASP.NET Identity), role-based authorization, HTTPS</a:t>
            </a:r>
            <a:endParaRPr lang="en-US" sz="1050" dirty="0"/>
          </a:p>
        </p:txBody>
      </p:sp>
      <p:sp>
        <p:nvSpPr>
          <p:cNvPr id="27" name="Text 24"/>
          <p:cNvSpPr/>
          <p:nvPr/>
        </p:nvSpPr>
        <p:spPr>
          <a:xfrm>
            <a:off x="6675120" y="2615184"/>
            <a:ext cx="4937760" cy="274320"/>
          </a:xfrm>
          <a:prstGeom prst="rect">
            <a:avLst/>
          </a:prstGeom>
          <a:noFill/>
          <a:ln/>
        </p:spPr>
        <p:txBody>
          <a:bodyPr wrap="square"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Performance</a:t>
            </a:r>
            <a:endParaRPr lang="en-US" sz="1250" dirty="0"/>
          </a:p>
        </p:txBody>
      </p:sp>
      <p:sp>
        <p:nvSpPr>
          <p:cNvPr id="28" name="Text 25"/>
          <p:cNvSpPr/>
          <p:nvPr/>
        </p:nvSpPr>
        <p:spPr>
          <a:xfrm>
            <a:off x="6675120" y="2871216"/>
            <a:ext cx="4937760" cy="45720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Optimized EF Core queries and indexing for fast responses under load</a:t>
            </a:r>
            <a:endParaRPr lang="en-US" sz="1050" dirty="0"/>
          </a:p>
        </p:txBody>
      </p:sp>
      <p:sp>
        <p:nvSpPr>
          <p:cNvPr id="29" name="Text 26"/>
          <p:cNvSpPr/>
          <p:nvPr/>
        </p:nvSpPr>
        <p:spPr>
          <a:xfrm>
            <a:off x="6675120" y="3401568"/>
            <a:ext cx="4937760" cy="274320"/>
          </a:xfrm>
          <a:prstGeom prst="rect">
            <a:avLst/>
          </a:prstGeom>
          <a:noFill/>
          <a:ln/>
        </p:spPr>
        <p:txBody>
          <a:bodyPr wrap="square"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Scalability</a:t>
            </a:r>
            <a:endParaRPr lang="en-US" sz="1250" dirty="0"/>
          </a:p>
        </p:txBody>
      </p:sp>
      <p:sp>
        <p:nvSpPr>
          <p:cNvPr id="30" name="Text 27"/>
          <p:cNvSpPr/>
          <p:nvPr/>
        </p:nvSpPr>
        <p:spPr>
          <a:xfrm>
            <a:off x="6675120" y="3657600"/>
            <a:ext cx="4937760" cy="45720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Layered API / BLL / DAL / Shared architecture supports new modules easily</a:t>
            </a:r>
            <a:endParaRPr lang="en-US" sz="1050" dirty="0"/>
          </a:p>
        </p:txBody>
      </p:sp>
      <p:sp>
        <p:nvSpPr>
          <p:cNvPr id="31" name="Text 28"/>
          <p:cNvSpPr/>
          <p:nvPr/>
        </p:nvSpPr>
        <p:spPr>
          <a:xfrm>
            <a:off x="6675120" y="4187952"/>
            <a:ext cx="4937760" cy="274320"/>
          </a:xfrm>
          <a:prstGeom prst="rect">
            <a:avLst/>
          </a:prstGeom>
          <a:noFill/>
          <a:ln/>
        </p:spPr>
        <p:txBody>
          <a:bodyPr wrap="square"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Maintainability</a:t>
            </a:r>
            <a:endParaRPr lang="en-US" sz="1250" dirty="0"/>
          </a:p>
        </p:txBody>
      </p:sp>
      <p:sp>
        <p:nvSpPr>
          <p:cNvPr id="32" name="Text 29"/>
          <p:cNvSpPr/>
          <p:nvPr/>
        </p:nvSpPr>
        <p:spPr>
          <a:xfrm>
            <a:off x="6675120" y="4443984"/>
            <a:ext cx="4937760" cy="45720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Repository + service pattern with DTOs keeps concerns cleanly separated</a:t>
            </a:r>
            <a:endParaRPr lang="en-US" sz="1050" dirty="0"/>
          </a:p>
        </p:txBody>
      </p:sp>
      <p:sp>
        <p:nvSpPr>
          <p:cNvPr id="33" name="Text 30"/>
          <p:cNvSpPr/>
          <p:nvPr/>
        </p:nvSpPr>
        <p:spPr>
          <a:xfrm>
            <a:off x="6675120" y="4974336"/>
            <a:ext cx="4937760" cy="274320"/>
          </a:xfrm>
          <a:prstGeom prst="rect">
            <a:avLst/>
          </a:prstGeom>
          <a:noFill/>
          <a:ln/>
        </p:spPr>
        <p:txBody>
          <a:bodyPr wrap="square"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Reliability</a:t>
            </a:r>
            <a:endParaRPr lang="en-US" sz="1250" dirty="0"/>
          </a:p>
        </p:txBody>
      </p:sp>
      <p:sp>
        <p:nvSpPr>
          <p:cNvPr id="34" name="Text 31"/>
          <p:cNvSpPr/>
          <p:nvPr/>
        </p:nvSpPr>
        <p:spPr>
          <a:xfrm>
            <a:off x="6675120" y="5230368"/>
            <a:ext cx="4937760" cy="45720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Hangfire background jobs handle scheduled and recurring tasks safely</a:t>
            </a:r>
            <a:endParaRPr lang="en-US" sz="1050" dirty="0"/>
          </a:p>
        </p:txBody>
      </p:sp>
      <p:sp>
        <p:nvSpPr>
          <p:cNvPr id="35" name="Text 32"/>
          <p:cNvSpPr/>
          <p:nvPr/>
        </p:nvSpPr>
        <p:spPr>
          <a:xfrm>
            <a:off x="6675120" y="5760720"/>
            <a:ext cx="4937760" cy="274320"/>
          </a:xfrm>
          <a:prstGeom prst="rect">
            <a:avLst/>
          </a:prstGeom>
          <a:noFill/>
          <a:ln/>
        </p:spPr>
        <p:txBody>
          <a:bodyPr wrap="square"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Usability</a:t>
            </a:r>
            <a:endParaRPr lang="en-US" sz="1250" dirty="0"/>
          </a:p>
        </p:txBody>
      </p:sp>
      <p:sp>
        <p:nvSpPr>
          <p:cNvPr id="36" name="Text 33"/>
          <p:cNvSpPr/>
          <p:nvPr/>
        </p:nvSpPr>
        <p:spPr>
          <a:xfrm>
            <a:off x="6675120" y="6016752"/>
            <a:ext cx="4937760" cy="45720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Consistent REST contracts make the API predictable for any client</a:t>
            </a:r>
            <a:endParaRPr lang="en-US" sz="1050" dirty="0"/>
          </a:p>
        </p:txBody>
      </p:sp>
      <p:sp>
        <p:nvSpPr>
          <p:cNvPr id="37" name="Text 34"/>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users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WHO IT'S FOR</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Target Users</a:t>
            </a:r>
            <a:endParaRPr lang="en-US" sz="3000" dirty="0"/>
          </a:p>
        </p:txBody>
      </p:sp>
      <p:sp>
        <p:nvSpPr>
          <p:cNvPr id="6" name="Shape 3"/>
          <p:cNvSpPr/>
          <p:nvPr/>
        </p:nvSpPr>
        <p:spPr>
          <a:xfrm>
            <a:off x="502920" y="1691640"/>
            <a:ext cx="2697480" cy="4572000"/>
          </a:xfrm>
          <a:prstGeom prst="roundRect">
            <a:avLst>
              <a:gd name="adj" fmla="val 2712"/>
            </a:avLst>
          </a:prstGeom>
          <a:solidFill>
            <a:srgbClr val="FFFFFF"/>
          </a:solidFill>
          <a:ln w="12700">
            <a:solidFill>
              <a:srgbClr val="D7DCE3"/>
            </a:solidFill>
            <a:prstDash val="solid"/>
          </a:ln>
          <a:effectLst>
            <a:outerShdw blurRad="76200" dist="25400" dir="5400000" algn="bl" rotWithShape="0">
              <a:srgbClr val="9AA3B0">
                <a:alpha val="25000"/>
              </a:srgbClr>
            </a:outerShdw>
          </a:effectLst>
        </p:spPr>
      </p:sp>
      <p:sp>
        <p:nvSpPr>
          <p:cNvPr id="7" name="Shape 4"/>
          <p:cNvSpPr/>
          <p:nvPr/>
        </p:nvSpPr>
        <p:spPr>
          <a:xfrm>
            <a:off x="758952" y="1965960"/>
            <a:ext cx="685800" cy="685800"/>
          </a:xfrm>
          <a:prstGeom prst="ellipse">
            <a:avLst/>
          </a:prstGeom>
          <a:solidFill>
            <a:srgbClr val="121826"/>
          </a:solidFill>
          <a:ln/>
        </p:spPr>
      </p:sp>
      <p:pic>
        <p:nvPicPr>
          <p:cNvPr id="8" name="Image 1" descr="/home/claude/work/icons/users.png"/>
          <p:cNvPicPr>
            <a:picLocks noChangeAspect="1"/>
          </p:cNvPicPr>
          <p:nvPr/>
        </p:nvPicPr>
        <p:blipFill>
          <a:blip r:embed="rId3"/>
          <a:stretch>
            <a:fillRect/>
          </a:stretch>
        </p:blipFill>
        <p:spPr>
          <a:xfrm>
            <a:off x="946404" y="2148840"/>
            <a:ext cx="320040" cy="320040"/>
          </a:xfrm>
          <a:prstGeom prst="rect">
            <a:avLst/>
          </a:prstGeom>
        </p:spPr>
      </p:pic>
      <p:sp>
        <p:nvSpPr>
          <p:cNvPr id="9" name="Text 5"/>
          <p:cNvSpPr/>
          <p:nvPr/>
        </p:nvSpPr>
        <p:spPr>
          <a:xfrm>
            <a:off x="758952" y="2834640"/>
            <a:ext cx="2194560" cy="502920"/>
          </a:xfrm>
          <a:prstGeom prst="rect">
            <a:avLst/>
          </a:prstGeom>
          <a:noFill/>
          <a:ln/>
        </p:spPr>
        <p:txBody>
          <a:bodyPr wrap="square" rtlCol="0" anchor="ctr"/>
          <a:lstStyle/>
          <a:p>
            <a:pPr marL="0" indent="0">
              <a:buNone/>
            </a:pPr>
            <a:r>
              <a:rPr lang="en-US" sz="1650" b="1" dirty="0">
                <a:solidFill>
                  <a:srgbClr val="121826"/>
                </a:solidFill>
                <a:latin typeface="Cambria" pitchFamily="34" charset="0"/>
                <a:ea typeface="Cambria" pitchFamily="34" charset="-122"/>
                <a:cs typeface="Cambria" pitchFamily="34" charset="-120"/>
              </a:rPr>
              <a:t>Gym Members</a:t>
            </a:r>
            <a:endParaRPr lang="en-US" sz="1650" dirty="0"/>
          </a:p>
        </p:txBody>
      </p:sp>
      <p:sp>
        <p:nvSpPr>
          <p:cNvPr id="10" name="Text 6"/>
          <p:cNvSpPr/>
          <p:nvPr/>
        </p:nvSpPr>
        <p:spPr>
          <a:xfrm>
            <a:off x="758952" y="3337560"/>
            <a:ext cx="2194560" cy="27432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Subscribe to plans, book classes &amp; private sessions, check in via QR, and shop for products.</a:t>
            </a:r>
            <a:endParaRPr lang="en-US" sz="1150" dirty="0"/>
          </a:p>
        </p:txBody>
      </p:sp>
      <p:sp>
        <p:nvSpPr>
          <p:cNvPr id="11" name="Shape 7"/>
          <p:cNvSpPr/>
          <p:nvPr/>
        </p:nvSpPr>
        <p:spPr>
          <a:xfrm>
            <a:off x="3364992" y="1691640"/>
            <a:ext cx="2697480" cy="4572000"/>
          </a:xfrm>
          <a:prstGeom prst="roundRect">
            <a:avLst>
              <a:gd name="adj" fmla="val 2712"/>
            </a:avLst>
          </a:prstGeom>
          <a:solidFill>
            <a:srgbClr val="FFFFFF"/>
          </a:solidFill>
          <a:ln w="12700">
            <a:solidFill>
              <a:srgbClr val="D7DCE3"/>
            </a:solidFill>
            <a:prstDash val="solid"/>
          </a:ln>
          <a:effectLst>
            <a:outerShdw blurRad="76200" dist="25400" dir="5400000" algn="bl" rotWithShape="0">
              <a:srgbClr val="9AA3B0">
                <a:alpha val="25000"/>
              </a:srgbClr>
            </a:outerShdw>
          </a:effectLst>
        </p:spPr>
      </p:sp>
      <p:sp>
        <p:nvSpPr>
          <p:cNvPr id="12" name="Shape 8"/>
          <p:cNvSpPr/>
          <p:nvPr/>
        </p:nvSpPr>
        <p:spPr>
          <a:xfrm>
            <a:off x="3621024" y="1965960"/>
            <a:ext cx="685800" cy="685800"/>
          </a:xfrm>
          <a:prstGeom prst="ellipse">
            <a:avLst/>
          </a:prstGeom>
          <a:solidFill>
            <a:srgbClr val="121826"/>
          </a:solidFill>
          <a:ln/>
        </p:spPr>
      </p:sp>
      <p:pic>
        <p:nvPicPr>
          <p:cNvPr id="13" name="Image 2" descr="/home/claude/work/icons/usertie.png"/>
          <p:cNvPicPr>
            <a:picLocks noChangeAspect="1"/>
          </p:cNvPicPr>
          <p:nvPr/>
        </p:nvPicPr>
        <p:blipFill>
          <a:blip r:embed="rId4"/>
          <a:stretch>
            <a:fillRect/>
          </a:stretch>
        </p:blipFill>
        <p:spPr>
          <a:xfrm>
            <a:off x="3808476" y="2148840"/>
            <a:ext cx="320040" cy="320040"/>
          </a:xfrm>
          <a:prstGeom prst="rect">
            <a:avLst/>
          </a:prstGeom>
        </p:spPr>
      </p:pic>
      <p:sp>
        <p:nvSpPr>
          <p:cNvPr id="14" name="Text 9"/>
          <p:cNvSpPr/>
          <p:nvPr/>
        </p:nvSpPr>
        <p:spPr>
          <a:xfrm>
            <a:off x="3621024" y="2834640"/>
            <a:ext cx="2194560" cy="502920"/>
          </a:xfrm>
          <a:prstGeom prst="rect">
            <a:avLst/>
          </a:prstGeom>
          <a:noFill/>
          <a:ln/>
        </p:spPr>
        <p:txBody>
          <a:bodyPr wrap="square" rtlCol="0" anchor="ctr"/>
          <a:lstStyle/>
          <a:p>
            <a:pPr marL="0" indent="0">
              <a:buNone/>
            </a:pPr>
            <a:r>
              <a:rPr lang="en-US" sz="1650" b="1" dirty="0">
                <a:solidFill>
                  <a:srgbClr val="121826"/>
                </a:solidFill>
                <a:latin typeface="Cambria" pitchFamily="34" charset="0"/>
                <a:ea typeface="Cambria" pitchFamily="34" charset="-122"/>
                <a:cs typeface="Cambria" pitchFamily="34" charset="-120"/>
              </a:rPr>
              <a:t>Trainers</a:t>
            </a:r>
            <a:endParaRPr lang="en-US" sz="1650" dirty="0"/>
          </a:p>
        </p:txBody>
      </p:sp>
      <p:sp>
        <p:nvSpPr>
          <p:cNvPr id="15" name="Text 10"/>
          <p:cNvSpPr/>
          <p:nvPr/>
        </p:nvSpPr>
        <p:spPr>
          <a:xfrm>
            <a:off x="3621024" y="3337560"/>
            <a:ext cx="2194560" cy="27432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Manage working hours, run classes, and handle private session requests from members.</a:t>
            </a:r>
            <a:endParaRPr lang="en-US" sz="1150" dirty="0"/>
          </a:p>
        </p:txBody>
      </p:sp>
      <p:sp>
        <p:nvSpPr>
          <p:cNvPr id="16" name="Shape 11"/>
          <p:cNvSpPr/>
          <p:nvPr/>
        </p:nvSpPr>
        <p:spPr>
          <a:xfrm>
            <a:off x="6227064" y="1691640"/>
            <a:ext cx="2697480" cy="4572000"/>
          </a:xfrm>
          <a:prstGeom prst="roundRect">
            <a:avLst>
              <a:gd name="adj" fmla="val 2712"/>
            </a:avLst>
          </a:prstGeom>
          <a:solidFill>
            <a:srgbClr val="FFFFFF"/>
          </a:solidFill>
          <a:ln w="12700">
            <a:solidFill>
              <a:srgbClr val="D7DCE3"/>
            </a:solidFill>
            <a:prstDash val="solid"/>
          </a:ln>
          <a:effectLst>
            <a:outerShdw blurRad="76200" dist="25400" dir="5400000" algn="bl" rotWithShape="0">
              <a:srgbClr val="9AA3B0">
                <a:alpha val="25000"/>
              </a:srgbClr>
            </a:outerShdw>
          </a:effectLst>
        </p:spPr>
      </p:sp>
      <p:sp>
        <p:nvSpPr>
          <p:cNvPr id="17" name="Shape 12"/>
          <p:cNvSpPr/>
          <p:nvPr/>
        </p:nvSpPr>
        <p:spPr>
          <a:xfrm>
            <a:off x="6483096" y="1965960"/>
            <a:ext cx="685800" cy="685800"/>
          </a:xfrm>
          <a:prstGeom prst="ellipse">
            <a:avLst/>
          </a:prstGeom>
          <a:solidFill>
            <a:srgbClr val="121826"/>
          </a:solidFill>
          <a:ln/>
        </p:spPr>
      </p:sp>
      <p:pic>
        <p:nvPicPr>
          <p:cNvPr id="18" name="Image 3" descr="/home/claude/work/icons/shield.png"/>
          <p:cNvPicPr>
            <a:picLocks noChangeAspect="1"/>
          </p:cNvPicPr>
          <p:nvPr/>
        </p:nvPicPr>
        <p:blipFill>
          <a:blip r:embed="rId5"/>
          <a:stretch>
            <a:fillRect/>
          </a:stretch>
        </p:blipFill>
        <p:spPr>
          <a:xfrm>
            <a:off x="6670548" y="2148840"/>
            <a:ext cx="320040" cy="320040"/>
          </a:xfrm>
          <a:prstGeom prst="rect">
            <a:avLst/>
          </a:prstGeom>
        </p:spPr>
      </p:pic>
      <p:sp>
        <p:nvSpPr>
          <p:cNvPr id="19" name="Text 13"/>
          <p:cNvSpPr/>
          <p:nvPr/>
        </p:nvSpPr>
        <p:spPr>
          <a:xfrm>
            <a:off x="6483096" y="2834640"/>
            <a:ext cx="2194560" cy="502920"/>
          </a:xfrm>
          <a:prstGeom prst="rect">
            <a:avLst/>
          </a:prstGeom>
          <a:noFill/>
          <a:ln/>
        </p:spPr>
        <p:txBody>
          <a:bodyPr wrap="square" rtlCol="0" anchor="ctr"/>
          <a:lstStyle/>
          <a:p>
            <a:pPr marL="0" indent="0">
              <a:buNone/>
            </a:pPr>
            <a:r>
              <a:rPr lang="en-US" sz="1650" b="1" dirty="0">
                <a:solidFill>
                  <a:srgbClr val="121826"/>
                </a:solidFill>
                <a:latin typeface="Cambria" pitchFamily="34" charset="0"/>
                <a:ea typeface="Cambria" pitchFamily="34" charset="-122"/>
                <a:cs typeface="Cambria" pitchFamily="34" charset="-120"/>
              </a:rPr>
              <a:t>Gym Admins</a:t>
            </a:r>
            <a:endParaRPr lang="en-US" sz="1650" dirty="0"/>
          </a:p>
        </p:txBody>
      </p:sp>
      <p:sp>
        <p:nvSpPr>
          <p:cNvPr id="20" name="Text 14"/>
          <p:cNvSpPr/>
          <p:nvPr/>
        </p:nvSpPr>
        <p:spPr>
          <a:xfrm>
            <a:off x="6483096" y="3337560"/>
            <a:ext cx="2194560" cy="27432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Configure services &amp; pricing, manage inventory and suppliers, oversee users, roles &amp; audit logs.</a:t>
            </a:r>
            <a:endParaRPr lang="en-US" sz="1150" dirty="0"/>
          </a:p>
        </p:txBody>
      </p:sp>
      <p:sp>
        <p:nvSpPr>
          <p:cNvPr id="21" name="Shape 15"/>
          <p:cNvSpPr/>
          <p:nvPr/>
        </p:nvSpPr>
        <p:spPr>
          <a:xfrm>
            <a:off x="9089136" y="1691640"/>
            <a:ext cx="2697480" cy="4572000"/>
          </a:xfrm>
          <a:prstGeom prst="roundRect">
            <a:avLst>
              <a:gd name="adj" fmla="val 2712"/>
            </a:avLst>
          </a:prstGeom>
          <a:solidFill>
            <a:srgbClr val="FFFFFF"/>
          </a:solidFill>
          <a:ln w="12700">
            <a:solidFill>
              <a:srgbClr val="D7DCE3"/>
            </a:solidFill>
            <a:prstDash val="solid"/>
          </a:ln>
          <a:effectLst>
            <a:outerShdw blurRad="76200" dist="25400" dir="5400000" algn="bl" rotWithShape="0">
              <a:srgbClr val="9AA3B0">
                <a:alpha val="25000"/>
              </a:srgbClr>
            </a:outerShdw>
          </a:effectLst>
        </p:spPr>
      </p:sp>
      <p:sp>
        <p:nvSpPr>
          <p:cNvPr id="22" name="Shape 16"/>
          <p:cNvSpPr/>
          <p:nvPr/>
        </p:nvSpPr>
        <p:spPr>
          <a:xfrm>
            <a:off x="9345168" y="1965960"/>
            <a:ext cx="685800" cy="685800"/>
          </a:xfrm>
          <a:prstGeom prst="ellipse">
            <a:avLst/>
          </a:prstGeom>
          <a:solidFill>
            <a:srgbClr val="121826"/>
          </a:solidFill>
          <a:ln/>
        </p:spPr>
      </p:sp>
      <p:pic>
        <p:nvPicPr>
          <p:cNvPr id="23" name="Image 4" descr="/home/claude/work/icons/clipboard.png"/>
          <p:cNvPicPr>
            <a:picLocks noChangeAspect="1"/>
          </p:cNvPicPr>
          <p:nvPr/>
        </p:nvPicPr>
        <p:blipFill>
          <a:blip r:embed="rId6"/>
          <a:stretch>
            <a:fillRect/>
          </a:stretch>
        </p:blipFill>
        <p:spPr>
          <a:xfrm>
            <a:off x="9532620" y="2148840"/>
            <a:ext cx="320040" cy="320040"/>
          </a:xfrm>
          <a:prstGeom prst="rect">
            <a:avLst/>
          </a:prstGeom>
        </p:spPr>
      </p:pic>
      <p:sp>
        <p:nvSpPr>
          <p:cNvPr id="24" name="Text 17"/>
          <p:cNvSpPr/>
          <p:nvPr/>
        </p:nvSpPr>
        <p:spPr>
          <a:xfrm>
            <a:off x="9345168" y="2834640"/>
            <a:ext cx="2194560" cy="502920"/>
          </a:xfrm>
          <a:prstGeom prst="rect">
            <a:avLst/>
          </a:prstGeom>
          <a:noFill/>
          <a:ln/>
        </p:spPr>
        <p:txBody>
          <a:bodyPr wrap="square" rtlCol="0" anchor="ctr"/>
          <a:lstStyle/>
          <a:p>
            <a:pPr marL="0" indent="0">
              <a:buNone/>
            </a:pPr>
            <a:r>
              <a:rPr lang="en-US" sz="1650" b="1" dirty="0">
                <a:solidFill>
                  <a:srgbClr val="121826"/>
                </a:solidFill>
                <a:latin typeface="Cambria" pitchFamily="34" charset="0"/>
                <a:ea typeface="Cambria" pitchFamily="34" charset="-122"/>
                <a:cs typeface="Cambria" pitchFamily="34" charset="-120"/>
              </a:rPr>
              <a:t>Receptionists</a:t>
            </a:r>
            <a:endParaRPr lang="en-US" sz="1650" dirty="0"/>
          </a:p>
        </p:txBody>
      </p:sp>
      <p:sp>
        <p:nvSpPr>
          <p:cNvPr id="25" name="Text 18"/>
          <p:cNvSpPr/>
          <p:nvPr/>
        </p:nvSpPr>
        <p:spPr>
          <a:xfrm>
            <a:off x="9345168" y="3337560"/>
            <a:ext cx="2194560" cy="27432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Handle front-desk check-ins, walk-in support and day-to-day member assistance.</a:t>
            </a:r>
            <a:endParaRPr lang="en-US" sz="1150" dirty="0"/>
          </a:p>
        </p:txBody>
      </p:sp>
      <p:sp>
        <p:nvSpPr>
          <p:cNvPr id="26" name="Text 19"/>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826"/>
        </a:solidFill>
        <a:effectLst/>
      </p:bgPr>
    </p:bg>
    <p:spTree>
      <p:nvGrpSpPr>
        <p:cNvPr id="1" name=""/>
        <p:cNvGrpSpPr/>
        <p:nvPr/>
      </p:nvGrpSpPr>
      <p:grpSpPr>
        <a:xfrm>
          <a:off x="0" y="0"/>
          <a:ext cx="0" cy="0"/>
          <a:chOff x="0" y="0"/>
          <a:chExt cx="0" cy="0"/>
        </a:xfrm>
      </p:grpSpPr>
      <p:sp>
        <p:nvSpPr>
          <p:cNvPr id="2" name="Text 0"/>
          <p:cNvSpPr/>
          <p:nvPr/>
        </p:nvSpPr>
        <p:spPr>
          <a:xfrm>
            <a:off x="502920" y="384048"/>
            <a:ext cx="5486400" cy="320040"/>
          </a:xfrm>
          <a:prstGeom prst="rect">
            <a:avLst/>
          </a:prstGeom>
          <a:noFill/>
          <a:ln/>
        </p:spPr>
        <p:txBody>
          <a:bodyPr wrap="square" rtlCol="0" anchor="ctr"/>
          <a:lstStyle/>
          <a:p>
            <a:pPr marL="0" indent="0">
              <a:buNone/>
            </a:pPr>
            <a:r>
              <a:rPr lang="en-US" sz="1300" b="1" kern="0" spc="300" dirty="0">
                <a:solidFill>
                  <a:srgbClr val="D7FF3D"/>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02920" y="77724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4" name="Text 2"/>
          <p:cNvSpPr/>
          <p:nvPr/>
        </p:nvSpPr>
        <p:spPr>
          <a:xfrm>
            <a:off x="502920" y="1371600"/>
            <a:ext cx="8686800" cy="365760"/>
          </a:xfrm>
          <a:prstGeom prst="rect">
            <a:avLst/>
          </a:prstGeom>
          <a:noFill/>
          <a:ln/>
        </p:spPr>
        <p:txBody>
          <a:bodyPr wrap="square" rtlCol="0" anchor="ctr"/>
          <a:lstStyle/>
          <a:p>
            <a:pPr marL="0" indent="0">
              <a:buNone/>
            </a:pPr>
            <a:r>
              <a:rPr lang="en-US" sz="1300" dirty="0">
                <a:solidFill>
                  <a:srgbClr val="AAB4C4"/>
                </a:solidFill>
                <a:latin typeface="Calibri" pitchFamily="34" charset="0"/>
                <a:ea typeface="Calibri" pitchFamily="34" charset="-122"/>
                <a:cs typeface="Calibri" pitchFamily="34" charset="-120"/>
              </a:rPr>
              <a:t>A clean, layered .NET architecture that keeps API, business logic and data access fully decoupled.</a:t>
            </a:r>
            <a:endParaRPr lang="en-US" sz="1300" dirty="0"/>
          </a:p>
        </p:txBody>
      </p:sp>
      <p:sp>
        <p:nvSpPr>
          <p:cNvPr id="5" name="Shape 3"/>
          <p:cNvSpPr/>
          <p:nvPr/>
        </p:nvSpPr>
        <p:spPr>
          <a:xfrm>
            <a:off x="1280160" y="2011680"/>
            <a:ext cx="9601200" cy="914400"/>
          </a:xfrm>
          <a:prstGeom prst="roundRect">
            <a:avLst>
              <a:gd name="adj" fmla="val 7000"/>
            </a:avLst>
          </a:prstGeom>
          <a:solidFill>
            <a:srgbClr val="1F2A3D"/>
          </a:solidFill>
          <a:ln/>
        </p:spPr>
      </p:sp>
      <p:sp>
        <p:nvSpPr>
          <p:cNvPr id="6" name="Shape 4"/>
          <p:cNvSpPr/>
          <p:nvPr/>
        </p:nvSpPr>
        <p:spPr>
          <a:xfrm>
            <a:off x="1508760" y="2212848"/>
            <a:ext cx="502920" cy="502920"/>
          </a:xfrm>
          <a:prstGeom prst="ellipse">
            <a:avLst/>
          </a:prstGeom>
          <a:solidFill>
            <a:srgbClr val="D7FF3D"/>
          </a:solidFill>
          <a:ln/>
        </p:spPr>
      </p:sp>
      <p:pic>
        <p:nvPicPr>
          <p:cNvPr id="7" name="Image 0" descr="/home/claude/work/icons/mobile_navy.png"/>
          <p:cNvPicPr>
            <a:picLocks noChangeAspect="1"/>
          </p:cNvPicPr>
          <p:nvPr/>
        </p:nvPicPr>
        <p:blipFill>
          <a:blip r:embed="rId3"/>
          <a:stretch>
            <a:fillRect/>
          </a:stretch>
        </p:blipFill>
        <p:spPr>
          <a:xfrm>
            <a:off x="1636776" y="2340864"/>
            <a:ext cx="246888" cy="246888"/>
          </a:xfrm>
          <a:prstGeom prst="rect">
            <a:avLst/>
          </a:prstGeom>
        </p:spPr>
      </p:pic>
      <p:sp>
        <p:nvSpPr>
          <p:cNvPr id="8" name="Text 5"/>
          <p:cNvSpPr/>
          <p:nvPr/>
        </p:nvSpPr>
        <p:spPr>
          <a:xfrm>
            <a:off x="2194560" y="2103120"/>
            <a:ext cx="2926080" cy="320040"/>
          </a:xfrm>
          <a:prstGeom prst="rect">
            <a:avLst/>
          </a:prstGeom>
          <a:noFill/>
          <a:ln/>
        </p:spPr>
        <p:txBody>
          <a:bodyPr wrap="square" rtlCol="0" anchor="ctr"/>
          <a:lstStyle/>
          <a:p>
            <a:pPr marL="0" indent="0">
              <a:buNone/>
            </a:pPr>
            <a:r>
              <a:rPr lang="en-US" sz="1600" b="1" dirty="0">
                <a:solidFill>
                  <a:srgbClr val="D7FF3D"/>
                </a:solidFill>
                <a:latin typeface="Cambria" pitchFamily="34" charset="0"/>
                <a:ea typeface="Cambria" pitchFamily="34" charset="-122"/>
                <a:cs typeface="Cambria" pitchFamily="34" charset="-120"/>
              </a:rPr>
              <a:t>FitCore.API</a:t>
            </a:r>
            <a:endParaRPr lang="en-US" sz="1600" dirty="0"/>
          </a:p>
        </p:txBody>
      </p:sp>
      <p:sp>
        <p:nvSpPr>
          <p:cNvPr id="9" name="Text 6"/>
          <p:cNvSpPr/>
          <p:nvPr/>
        </p:nvSpPr>
        <p:spPr>
          <a:xfrm>
            <a:off x="2194560" y="2432304"/>
            <a:ext cx="8412480" cy="411480"/>
          </a:xfrm>
          <a:prstGeom prst="rect">
            <a:avLst/>
          </a:prstGeom>
          <a:noFill/>
          <a:ln/>
        </p:spPr>
        <p:txBody>
          <a:bodyPr wrap="square" rtlCol="0" anchor="ctr"/>
          <a:lstStyle/>
          <a:p>
            <a:pPr marL="0" indent="0">
              <a:buNone/>
            </a:pPr>
            <a:r>
              <a:rPr lang="en-US" sz="1150" dirty="0">
                <a:solidFill>
                  <a:srgbClr val="AAB4C4"/>
                </a:solidFill>
                <a:latin typeface="Calibri" pitchFamily="34" charset="0"/>
                <a:ea typeface="Calibri" pitchFamily="34" charset="-122"/>
                <a:cs typeface="Calibri" pitchFamily="34" charset="-120"/>
              </a:rPr>
              <a:t>Controllers, middleware, JWT auth &amp; DI wiring — the entry point for every request</a:t>
            </a:r>
            <a:endParaRPr lang="en-US" sz="1150" dirty="0"/>
          </a:p>
        </p:txBody>
      </p:sp>
      <p:sp>
        <p:nvSpPr>
          <p:cNvPr id="10" name="Shape 7"/>
          <p:cNvSpPr/>
          <p:nvPr/>
        </p:nvSpPr>
        <p:spPr>
          <a:xfrm>
            <a:off x="6080760" y="2926080"/>
            <a:ext cx="0" cy="164592"/>
          </a:xfrm>
          <a:prstGeom prst="line">
            <a:avLst/>
          </a:prstGeom>
          <a:noFill/>
          <a:ln w="25400">
            <a:solidFill>
              <a:srgbClr val="D7FF3D"/>
            </a:solidFill>
            <a:prstDash val="solid"/>
            <a:tailEnd type="triangle"/>
          </a:ln>
        </p:spPr>
      </p:sp>
      <p:sp>
        <p:nvSpPr>
          <p:cNvPr id="11" name="Shape 8"/>
          <p:cNvSpPr/>
          <p:nvPr/>
        </p:nvSpPr>
        <p:spPr>
          <a:xfrm>
            <a:off x="1280160" y="3090672"/>
            <a:ext cx="9601200" cy="914400"/>
          </a:xfrm>
          <a:prstGeom prst="roundRect">
            <a:avLst>
              <a:gd name="adj" fmla="val 7000"/>
            </a:avLst>
          </a:prstGeom>
          <a:solidFill>
            <a:srgbClr val="1F2A3D"/>
          </a:solidFill>
          <a:ln/>
        </p:spPr>
      </p:sp>
      <p:sp>
        <p:nvSpPr>
          <p:cNvPr id="12" name="Shape 9"/>
          <p:cNvSpPr/>
          <p:nvPr/>
        </p:nvSpPr>
        <p:spPr>
          <a:xfrm>
            <a:off x="1508760" y="3291840"/>
            <a:ext cx="502920" cy="502920"/>
          </a:xfrm>
          <a:prstGeom prst="ellipse">
            <a:avLst/>
          </a:prstGeom>
          <a:solidFill>
            <a:srgbClr val="D7FF3D"/>
          </a:solidFill>
          <a:ln/>
        </p:spPr>
      </p:sp>
      <p:pic>
        <p:nvPicPr>
          <p:cNvPr id="13" name="Image 1" descr="/home/claude/work/icons/cogs_navy.png"/>
          <p:cNvPicPr>
            <a:picLocks noChangeAspect="1"/>
          </p:cNvPicPr>
          <p:nvPr/>
        </p:nvPicPr>
        <p:blipFill>
          <a:blip r:embed="rId4"/>
          <a:stretch>
            <a:fillRect/>
          </a:stretch>
        </p:blipFill>
        <p:spPr>
          <a:xfrm>
            <a:off x="1636776" y="3419856"/>
            <a:ext cx="246888" cy="246888"/>
          </a:xfrm>
          <a:prstGeom prst="rect">
            <a:avLst/>
          </a:prstGeom>
        </p:spPr>
      </p:pic>
      <p:sp>
        <p:nvSpPr>
          <p:cNvPr id="14" name="Text 10"/>
          <p:cNvSpPr/>
          <p:nvPr/>
        </p:nvSpPr>
        <p:spPr>
          <a:xfrm>
            <a:off x="2194560" y="3182112"/>
            <a:ext cx="2926080" cy="320040"/>
          </a:xfrm>
          <a:prstGeom prst="rect">
            <a:avLst/>
          </a:prstGeom>
          <a:noFill/>
          <a:ln/>
        </p:spPr>
        <p:txBody>
          <a:bodyPr wrap="square" rtlCol="0" anchor="ctr"/>
          <a:lstStyle/>
          <a:p>
            <a:pPr marL="0" indent="0">
              <a:buNone/>
            </a:pPr>
            <a:r>
              <a:rPr lang="en-US" sz="1600" b="1" dirty="0">
                <a:solidFill>
                  <a:srgbClr val="D7FF3D"/>
                </a:solidFill>
                <a:latin typeface="Cambria" pitchFamily="34" charset="0"/>
                <a:ea typeface="Cambria" pitchFamily="34" charset="-122"/>
                <a:cs typeface="Cambria" pitchFamily="34" charset="-120"/>
              </a:rPr>
              <a:t>FitCore.BLL</a:t>
            </a:r>
            <a:endParaRPr lang="en-US" sz="1600" dirty="0"/>
          </a:p>
        </p:txBody>
      </p:sp>
      <p:sp>
        <p:nvSpPr>
          <p:cNvPr id="15" name="Text 11"/>
          <p:cNvSpPr/>
          <p:nvPr/>
        </p:nvSpPr>
        <p:spPr>
          <a:xfrm>
            <a:off x="2194560" y="3511296"/>
            <a:ext cx="8412480" cy="411480"/>
          </a:xfrm>
          <a:prstGeom prst="rect">
            <a:avLst/>
          </a:prstGeom>
          <a:noFill/>
          <a:ln/>
        </p:spPr>
        <p:txBody>
          <a:bodyPr wrap="square" rtlCol="0" anchor="ctr"/>
          <a:lstStyle/>
          <a:p>
            <a:pPr marL="0" indent="0">
              <a:buNone/>
            </a:pPr>
            <a:r>
              <a:rPr lang="en-US" sz="1150" dirty="0">
                <a:solidFill>
                  <a:srgbClr val="AAB4C4"/>
                </a:solidFill>
                <a:latin typeface="Calibri" pitchFamily="34" charset="0"/>
                <a:ea typeface="Calibri" pitchFamily="34" charset="-122"/>
                <a:cs typeface="Calibri" pitchFamily="34" charset="-120"/>
              </a:rPr>
              <a:t>Services, business rules, validation &amp; Stripe / Hangfire integration</a:t>
            </a:r>
            <a:endParaRPr lang="en-US" sz="1150" dirty="0"/>
          </a:p>
        </p:txBody>
      </p:sp>
      <p:sp>
        <p:nvSpPr>
          <p:cNvPr id="16" name="Shape 12"/>
          <p:cNvSpPr/>
          <p:nvPr/>
        </p:nvSpPr>
        <p:spPr>
          <a:xfrm>
            <a:off x="6080760" y="4005072"/>
            <a:ext cx="0" cy="164592"/>
          </a:xfrm>
          <a:prstGeom prst="line">
            <a:avLst/>
          </a:prstGeom>
          <a:noFill/>
          <a:ln w="25400">
            <a:solidFill>
              <a:srgbClr val="D7FF3D"/>
            </a:solidFill>
            <a:prstDash val="solid"/>
            <a:tailEnd type="triangle"/>
          </a:ln>
        </p:spPr>
      </p:sp>
      <p:sp>
        <p:nvSpPr>
          <p:cNvPr id="17" name="Shape 13"/>
          <p:cNvSpPr/>
          <p:nvPr/>
        </p:nvSpPr>
        <p:spPr>
          <a:xfrm>
            <a:off x="1280160" y="4169664"/>
            <a:ext cx="9601200" cy="914400"/>
          </a:xfrm>
          <a:prstGeom prst="roundRect">
            <a:avLst>
              <a:gd name="adj" fmla="val 7000"/>
            </a:avLst>
          </a:prstGeom>
          <a:solidFill>
            <a:srgbClr val="1F2A3D"/>
          </a:solidFill>
          <a:ln/>
        </p:spPr>
      </p:sp>
      <p:sp>
        <p:nvSpPr>
          <p:cNvPr id="18" name="Shape 14"/>
          <p:cNvSpPr/>
          <p:nvPr/>
        </p:nvSpPr>
        <p:spPr>
          <a:xfrm>
            <a:off x="1508760" y="4370832"/>
            <a:ext cx="502920" cy="502920"/>
          </a:xfrm>
          <a:prstGeom prst="ellipse">
            <a:avLst/>
          </a:prstGeom>
          <a:solidFill>
            <a:srgbClr val="D7FF3D"/>
          </a:solidFill>
          <a:ln/>
        </p:spPr>
      </p:sp>
      <p:pic>
        <p:nvPicPr>
          <p:cNvPr id="19" name="Image 2" descr="/home/claude/work/icons/database_navy.png"/>
          <p:cNvPicPr>
            <a:picLocks noChangeAspect="1"/>
          </p:cNvPicPr>
          <p:nvPr/>
        </p:nvPicPr>
        <p:blipFill>
          <a:blip r:embed="rId5"/>
          <a:stretch>
            <a:fillRect/>
          </a:stretch>
        </p:blipFill>
        <p:spPr>
          <a:xfrm>
            <a:off x="1636776" y="4498848"/>
            <a:ext cx="246888" cy="246888"/>
          </a:xfrm>
          <a:prstGeom prst="rect">
            <a:avLst/>
          </a:prstGeom>
        </p:spPr>
      </p:pic>
      <p:sp>
        <p:nvSpPr>
          <p:cNvPr id="20" name="Text 15"/>
          <p:cNvSpPr/>
          <p:nvPr/>
        </p:nvSpPr>
        <p:spPr>
          <a:xfrm>
            <a:off x="2194560" y="4261104"/>
            <a:ext cx="2926080" cy="320040"/>
          </a:xfrm>
          <a:prstGeom prst="rect">
            <a:avLst/>
          </a:prstGeom>
          <a:noFill/>
          <a:ln/>
        </p:spPr>
        <p:txBody>
          <a:bodyPr wrap="square" rtlCol="0" anchor="ctr"/>
          <a:lstStyle/>
          <a:p>
            <a:pPr marL="0" indent="0">
              <a:buNone/>
            </a:pPr>
            <a:r>
              <a:rPr lang="en-US" sz="1600" b="1" dirty="0">
                <a:solidFill>
                  <a:srgbClr val="D7FF3D"/>
                </a:solidFill>
                <a:latin typeface="Cambria" pitchFamily="34" charset="0"/>
                <a:ea typeface="Cambria" pitchFamily="34" charset="-122"/>
                <a:cs typeface="Cambria" pitchFamily="34" charset="-120"/>
              </a:rPr>
              <a:t>FitCore.DAL</a:t>
            </a:r>
            <a:endParaRPr lang="en-US" sz="1600" dirty="0"/>
          </a:p>
        </p:txBody>
      </p:sp>
      <p:sp>
        <p:nvSpPr>
          <p:cNvPr id="21" name="Text 16"/>
          <p:cNvSpPr/>
          <p:nvPr/>
        </p:nvSpPr>
        <p:spPr>
          <a:xfrm>
            <a:off x="2194560" y="4590288"/>
            <a:ext cx="8412480" cy="411480"/>
          </a:xfrm>
          <a:prstGeom prst="rect">
            <a:avLst/>
          </a:prstGeom>
          <a:noFill/>
          <a:ln/>
        </p:spPr>
        <p:txBody>
          <a:bodyPr wrap="square" rtlCol="0" anchor="ctr"/>
          <a:lstStyle/>
          <a:p>
            <a:pPr marL="0" indent="0">
              <a:buNone/>
            </a:pPr>
            <a:r>
              <a:rPr lang="en-US" sz="1150" dirty="0">
                <a:solidFill>
                  <a:srgbClr val="AAB4C4"/>
                </a:solidFill>
                <a:latin typeface="Calibri" pitchFamily="34" charset="0"/>
                <a:ea typeface="Calibri" pitchFamily="34" charset="-122"/>
                <a:cs typeface="Calibri" pitchFamily="34" charset="-120"/>
              </a:rPr>
              <a:t>Repositories, EF Core DbContext, migrations &amp; data access</a:t>
            </a:r>
            <a:endParaRPr lang="en-US" sz="1150" dirty="0"/>
          </a:p>
        </p:txBody>
      </p:sp>
      <p:sp>
        <p:nvSpPr>
          <p:cNvPr id="22" name="Shape 17"/>
          <p:cNvSpPr/>
          <p:nvPr/>
        </p:nvSpPr>
        <p:spPr>
          <a:xfrm>
            <a:off x="6080760" y="5084064"/>
            <a:ext cx="0" cy="164592"/>
          </a:xfrm>
          <a:prstGeom prst="line">
            <a:avLst/>
          </a:prstGeom>
          <a:noFill/>
          <a:ln w="25400">
            <a:solidFill>
              <a:srgbClr val="D7FF3D"/>
            </a:solidFill>
            <a:prstDash val="solid"/>
            <a:tailEnd type="triangle"/>
          </a:ln>
        </p:spPr>
      </p:sp>
      <p:sp>
        <p:nvSpPr>
          <p:cNvPr id="23" name="Shape 18"/>
          <p:cNvSpPr/>
          <p:nvPr/>
        </p:nvSpPr>
        <p:spPr>
          <a:xfrm>
            <a:off x="1280160" y="5248656"/>
            <a:ext cx="9601200" cy="914400"/>
          </a:xfrm>
          <a:prstGeom prst="roundRect">
            <a:avLst>
              <a:gd name="adj" fmla="val 7000"/>
            </a:avLst>
          </a:prstGeom>
          <a:solidFill>
            <a:srgbClr val="1F2A3D"/>
          </a:solidFill>
          <a:ln/>
        </p:spPr>
      </p:sp>
      <p:sp>
        <p:nvSpPr>
          <p:cNvPr id="24" name="Shape 19"/>
          <p:cNvSpPr/>
          <p:nvPr/>
        </p:nvSpPr>
        <p:spPr>
          <a:xfrm>
            <a:off x="1508760" y="5449824"/>
            <a:ext cx="502920" cy="502920"/>
          </a:xfrm>
          <a:prstGeom prst="ellipse">
            <a:avLst/>
          </a:prstGeom>
          <a:solidFill>
            <a:srgbClr val="D7FF3D"/>
          </a:solidFill>
          <a:ln/>
        </p:spPr>
      </p:sp>
      <p:pic>
        <p:nvPicPr>
          <p:cNvPr id="25" name="Image 3" descr="/home/claude/work/icons/layers_navy.png"/>
          <p:cNvPicPr>
            <a:picLocks noChangeAspect="1"/>
          </p:cNvPicPr>
          <p:nvPr/>
        </p:nvPicPr>
        <p:blipFill>
          <a:blip r:embed="rId6"/>
          <a:stretch>
            <a:fillRect/>
          </a:stretch>
        </p:blipFill>
        <p:spPr>
          <a:xfrm>
            <a:off x="1636776" y="5577840"/>
            <a:ext cx="246888" cy="246888"/>
          </a:xfrm>
          <a:prstGeom prst="rect">
            <a:avLst/>
          </a:prstGeom>
        </p:spPr>
      </p:pic>
      <p:sp>
        <p:nvSpPr>
          <p:cNvPr id="26" name="Text 20"/>
          <p:cNvSpPr/>
          <p:nvPr/>
        </p:nvSpPr>
        <p:spPr>
          <a:xfrm>
            <a:off x="2194560" y="5340096"/>
            <a:ext cx="2926080" cy="320040"/>
          </a:xfrm>
          <a:prstGeom prst="rect">
            <a:avLst/>
          </a:prstGeom>
          <a:noFill/>
          <a:ln/>
        </p:spPr>
        <p:txBody>
          <a:bodyPr wrap="square" rtlCol="0" anchor="ctr"/>
          <a:lstStyle/>
          <a:p>
            <a:pPr marL="0" indent="0">
              <a:buNone/>
            </a:pPr>
            <a:r>
              <a:rPr lang="en-US" sz="1600" b="1" dirty="0">
                <a:solidFill>
                  <a:srgbClr val="D7FF3D"/>
                </a:solidFill>
                <a:latin typeface="Cambria" pitchFamily="34" charset="0"/>
                <a:ea typeface="Cambria" pitchFamily="34" charset="-122"/>
                <a:cs typeface="Cambria" pitchFamily="34" charset="-120"/>
              </a:rPr>
              <a:t>FitCore.Shared</a:t>
            </a:r>
            <a:endParaRPr lang="en-US" sz="1600" dirty="0"/>
          </a:p>
        </p:txBody>
      </p:sp>
      <p:sp>
        <p:nvSpPr>
          <p:cNvPr id="27" name="Text 21"/>
          <p:cNvSpPr/>
          <p:nvPr/>
        </p:nvSpPr>
        <p:spPr>
          <a:xfrm>
            <a:off x="2194560" y="5669280"/>
            <a:ext cx="8412480" cy="411480"/>
          </a:xfrm>
          <a:prstGeom prst="rect">
            <a:avLst/>
          </a:prstGeom>
          <a:noFill/>
          <a:ln/>
        </p:spPr>
        <p:txBody>
          <a:bodyPr wrap="square" rtlCol="0" anchor="ctr"/>
          <a:lstStyle/>
          <a:p>
            <a:pPr marL="0" indent="0">
              <a:buNone/>
            </a:pPr>
            <a:r>
              <a:rPr lang="en-US" sz="1150" dirty="0">
                <a:solidFill>
                  <a:srgbClr val="AAB4C4"/>
                </a:solidFill>
                <a:latin typeface="Calibri" pitchFamily="34" charset="0"/>
                <a:ea typeface="Calibri" pitchFamily="34" charset="-122"/>
                <a:cs typeface="Calibri" pitchFamily="34" charset="-120"/>
              </a:rPr>
              <a:t>DTOs, enums &amp; contracts shared safely across every layer</a:t>
            </a:r>
            <a:endParaRPr lang="en-US" sz="1150" dirty="0"/>
          </a:p>
        </p:txBody>
      </p:sp>
      <p:sp>
        <p:nvSpPr>
          <p:cNvPr id="28" name="Text 22"/>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AAB4C4"/>
                </a:solidFill>
                <a:latin typeface="Calibri" pitchFamily="34" charset="0"/>
                <a:ea typeface="Calibri" pitchFamily="34" charset="-122"/>
                <a:cs typeface="Calibri" pitchFamily="34" charset="-120"/>
              </a:rPr>
              <a:t>FITCORE  |  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cogs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UNDER THE HOOD</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Technology Stack</a:t>
            </a:r>
            <a:endParaRPr lang="en-US" sz="3000" dirty="0"/>
          </a:p>
        </p:txBody>
      </p:sp>
      <p:sp>
        <p:nvSpPr>
          <p:cNvPr id="6" name="Shape 3"/>
          <p:cNvSpPr/>
          <p:nvPr/>
        </p:nvSpPr>
        <p:spPr>
          <a:xfrm>
            <a:off x="502920" y="1691640"/>
            <a:ext cx="2651760" cy="2148840"/>
          </a:xfrm>
          <a:prstGeom prst="roundRect">
            <a:avLst>
              <a:gd name="adj" fmla="val 3404"/>
            </a:avLst>
          </a:prstGeom>
          <a:solidFill>
            <a:srgbClr val="FFFFFF"/>
          </a:solidFill>
          <a:ln w="12700">
            <a:solidFill>
              <a:srgbClr val="D7DCE3"/>
            </a:solidFill>
            <a:prstDash val="solid"/>
          </a:ln>
        </p:spPr>
      </p:sp>
      <p:sp>
        <p:nvSpPr>
          <p:cNvPr id="7" name="Shape 4"/>
          <p:cNvSpPr/>
          <p:nvPr/>
        </p:nvSpPr>
        <p:spPr>
          <a:xfrm>
            <a:off x="1508760" y="1947672"/>
            <a:ext cx="640080" cy="640080"/>
          </a:xfrm>
          <a:prstGeom prst="ellipse">
            <a:avLst/>
          </a:prstGeom>
          <a:solidFill>
            <a:srgbClr val="121826"/>
          </a:solidFill>
          <a:ln/>
        </p:spPr>
      </p:sp>
      <p:pic>
        <p:nvPicPr>
          <p:cNvPr id="8" name="Image 1" descr="/home/claude/work/icons/code.png"/>
          <p:cNvPicPr>
            <a:picLocks noChangeAspect="1"/>
          </p:cNvPicPr>
          <p:nvPr/>
        </p:nvPicPr>
        <p:blipFill>
          <a:blip r:embed="rId4"/>
          <a:stretch>
            <a:fillRect/>
          </a:stretch>
        </p:blipFill>
        <p:spPr>
          <a:xfrm>
            <a:off x="1673352" y="2112264"/>
            <a:ext cx="310896" cy="310896"/>
          </a:xfrm>
          <a:prstGeom prst="rect">
            <a:avLst/>
          </a:prstGeom>
        </p:spPr>
      </p:pic>
      <p:sp>
        <p:nvSpPr>
          <p:cNvPr id="9" name="Text 5"/>
          <p:cNvSpPr/>
          <p:nvPr/>
        </p:nvSpPr>
        <p:spPr>
          <a:xfrm>
            <a:off x="612648" y="274320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ASP.NET Core (.NET 9)</a:t>
            </a:r>
            <a:endParaRPr lang="en-US" sz="1200" dirty="0"/>
          </a:p>
        </p:txBody>
      </p:sp>
      <p:sp>
        <p:nvSpPr>
          <p:cNvPr id="10" name="Text 6"/>
          <p:cNvSpPr/>
          <p:nvPr/>
        </p:nvSpPr>
        <p:spPr>
          <a:xfrm>
            <a:off x="612648" y="322783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Web API framework</a:t>
            </a:r>
            <a:endParaRPr lang="en-US" sz="1000" dirty="0"/>
          </a:p>
        </p:txBody>
      </p:sp>
      <p:sp>
        <p:nvSpPr>
          <p:cNvPr id="11" name="Shape 7"/>
          <p:cNvSpPr/>
          <p:nvPr/>
        </p:nvSpPr>
        <p:spPr>
          <a:xfrm>
            <a:off x="3291840" y="1691640"/>
            <a:ext cx="2651760" cy="2148840"/>
          </a:xfrm>
          <a:prstGeom prst="roundRect">
            <a:avLst>
              <a:gd name="adj" fmla="val 3404"/>
            </a:avLst>
          </a:prstGeom>
          <a:solidFill>
            <a:srgbClr val="FFFFFF"/>
          </a:solidFill>
          <a:ln w="12700">
            <a:solidFill>
              <a:srgbClr val="D7DCE3"/>
            </a:solidFill>
            <a:prstDash val="solid"/>
          </a:ln>
        </p:spPr>
      </p:sp>
      <p:sp>
        <p:nvSpPr>
          <p:cNvPr id="12" name="Shape 8"/>
          <p:cNvSpPr/>
          <p:nvPr/>
        </p:nvSpPr>
        <p:spPr>
          <a:xfrm>
            <a:off x="4297680" y="1947672"/>
            <a:ext cx="640080" cy="640080"/>
          </a:xfrm>
          <a:prstGeom prst="ellipse">
            <a:avLst/>
          </a:prstGeom>
          <a:solidFill>
            <a:srgbClr val="121826"/>
          </a:solidFill>
          <a:ln/>
        </p:spPr>
      </p:sp>
      <p:pic>
        <p:nvPicPr>
          <p:cNvPr id="13" name="Image 2" descr="/home/claude/work/icons/database.png"/>
          <p:cNvPicPr>
            <a:picLocks noChangeAspect="1"/>
          </p:cNvPicPr>
          <p:nvPr/>
        </p:nvPicPr>
        <p:blipFill>
          <a:blip r:embed="rId5"/>
          <a:stretch>
            <a:fillRect/>
          </a:stretch>
        </p:blipFill>
        <p:spPr>
          <a:xfrm>
            <a:off x="4462272" y="2112264"/>
            <a:ext cx="310896" cy="310896"/>
          </a:xfrm>
          <a:prstGeom prst="rect">
            <a:avLst/>
          </a:prstGeom>
        </p:spPr>
      </p:pic>
      <p:sp>
        <p:nvSpPr>
          <p:cNvPr id="14" name="Text 9"/>
          <p:cNvSpPr/>
          <p:nvPr/>
        </p:nvSpPr>
        <p:spPr>
          <a:xfrm>
            <a:off x="3401568" y="274320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SQL Server</a:t>
            </a:r>
            <a:endParaRPr lang="en-US" sz="1200" dirty="0"/>
          </a:p>
        </p:txBody>
      </p:sp>
      <p:sp>
        <p:nvSpPr>
          <p:cNvPr id="15" name="Text 10"/>
          <p:cNvSpPr/>
          <p:nvPr/>
        </p:nvSpPr>
        <p:spPr>
          <a:xfrm>
            <a:off x="3401568" y="322783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Relational database</a:t>
            </a:r>
            <a:endParaRPr lang="en-US" sz="1000" dirty="0"/>
          </a:p>
        </p:txBody>
      </p:sp>
      <p:sp>
        <p:nvSpPr>
          <p:cNvPr id="16" name="Shape 11"/>
          <p:cNvSpPr/>
          <p:nvPr/>
        </p:nvSpPr>
        <p:spPr>
          <a:xfrm>
            <a:off x="6080760" y="1691640"/>
            <a:ext cx="2651760" cy="2148840"/>
          </a:xfrm>
          <a:prstGeom prst="roundRect">
            <a:avLst>
              <a:gd name="adj" fmla="val 3404"/>
            </a:avLst>
          </a:prstGeom>
          <a:solidFill>
            <a:srgbClr val="FFFFFF"/>
          </a:solidFill>
          <a:ln w="12700">
            <a:solidFill>
              <a:srgbClr val="D7DCE3"/>
            </a:solidFill>
            <a:prstDash val="solid"/>
          </a:ln>
        </p:spPr>
      </p:sp>
      <p:sp>
        <p:nvSpPr>
          <p:cNvPr id="17" name="Shape 12"/>
          <p:cNvSpPr/>
          <p:nvPr/>
        </p:nvSpPr>
        <p:spPr>
          <a:xfrm>
            <a:off x="7086600" y="1947672"/>
            <a:ext cx="640080" cy="640080"/>
          </a:xfrm>
          <a:prstGeom prst="ellipse">
            <a:avLst/>
          </a:prstGeom>
          <a:solidFill>
            <a:srgbClr val="121826"/>
          </a:solidFill>
          <a:ln/>
        </p:spPr>
      </p:sp>
      <p:pic>
        <p:nvPicPr>
          <p:cNvPr id="18" name="Image 3" descr="/home/claude/work/icons/layers.png"/>
          <p:cNvPicPr>
            <a:picLocks noChangeAspect="1"/>
          </p:cNvPicPr>
          <p:nvPr/>
        </p:nvPicPr>
        <p:blipFill>
          <a:blip r:embed="rId6"/>
          <a:stretch>
            <a:fillRect/>
          </a:stretch>
        </p:blipFill>
        <p:spPr>
          <a:xfrm>
            <a:off x="7251192" y="2112264"/>
            <a:ext cx="310896" cy="310896"/>
          </a:xfrm>
          <a:prstGeom prst="rect">
            <a:avLst/>
          </a:prstGeom>
        </p:spPr>
      </p:pic>
      <p:sp>
        <p:nvSpPr>
          <p:cNvPr id="19" name="Text 13"/>
          <p:cNvSpPr/>
          <p:nvPr/>
        </p:nvSpPr>
        <p:spPr>
          <a:xfrm>
            <a:off x="6190488" y="274320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Entity Framework Core</a:t>
            </a:r>
            <a:endParaRPr lang="en-US" sz="1200" dirty="0"/>
          </a:p>
        </p:txBody>
      </p:sp>
      <p:sp>
        <p:nvSpPr>
          <p:cNvPr id="20" name="Text 14"/>
          <p:cNvSpPr/>
          <p:nvPr/>
        </p:nvSpPr>
        <p:spPr>
          <a:xfrm>
            <a:off x="6190488" y="322783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ORM &amp; migrations</a:t>
            </a:r>
            <a:endParaRPr lang="en-US" sz="1000" dirty="0"/>
          </a:p>
        </p:txBody>
      </p:sp>
      <p:sp>
        <p:nvSpPr>
          <p:cNvPr id="21" name="Shape 15"/>
          <p:cNvSpPr/>
          <p:nvPr/>
        </p:nvSpPr>
        <p:spPr>
          <a:xfrm>
            <a:off x="8869680" y="1691640"/>
            <a:ext cx="2651760" cy="2148840"/>
          </a:xfrm>
          <a:prstGeom prst="roundRect">
            <a:avLst>
              <a:gd name="adj" fmla="val 3404"/>
            </a:avLst>
          </a:prstGeom>
          <a:solidFill>
            <a:srgbClr val="FFFFFF"/>
          </a:solidFill>
          <a:ln w="12700">
            <a:solidFill>
              <a:srgbClr val="D7DCE3"/>
            </a:solidFill>
            <a:prstDash val="solid"/>
          </a:ln>
        </p:spPr>
      </p:sp>
      <p:sp>
        <p:nvSpPr>
          <p:cNvPr id="22" name="Shape 16"/>
          <p:cNvSpPr/>
          <p:nvPr/>
        </p:nvSpPr>
        <p:spPr>
          <a:xfrm>
            <a:off x="9875520" y="1947672"/>
            <a:ext cx="640080" cy="640080"/>
          </a:xfrm>
          <a:prstGeom prst="ellipse">
            <a:avLst/>
          </a:prstGeom>
          <a:solidFill>
            <a:srgbClr val="121826"/>
          </a:solidFill>
          <a:ln/>
        </p:spPr>
      </p:sp>
      <p:pic>
        <p:nvPicPr>
          <p:cNvPr id="23" name="Image 4" descr="/home/claude/work/icons/lock.png"/>
          <p:cNvPicPr>
            <a:picLocks noChangeAspect="1"/>
          </p:cNvPicPr>
          <p:nvPr/>
        </p:nvPicPr>
        <p:blipFill>
          <a:blip r:embed="rId7"/>
          <a:stretch>
            <a:fillRect/>
          </a:stretch>
        </p:blipFill>
        <p:spPr>
          <a:xfrm>
            <a:off x="10040112" y="2112264"/>
            <a:ext cx="310896" cy="310896"/>
          </a:xfrm>
          <a:prstGeom prst="rect">
            <a:avLst/>
          </a:prstGeom>
        </p:spPr>
      </p:pic>
      <p:sp>
        <p:nvSpPr>
          <p:cNvPr id="24" name="Text 17"/>
          <p:cNvSpPr/>
          <p:nvPr/>
        </p:nvSpPr>
        <p:spPr>
          <a:xfrm>
            <a:off x="8979408" y="274320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JWT + ASP.NET Identity</a:t>
            </a:r>
            <a:endParaRPr lang="en-US" sz="1200" dirty="0"/>
          </a:p>
        </p:txBody>
      </p:sp>
      <p:sp>
        <p:nvSpPr>
          <p:cNvPr id="25" name="Text 18"/>
          <p:cNvSpPr/>
          <p:nvPr/>
        </p:nvSpPr>
        <p:spPr>
          <a:xfrm>
            <a:off x="8979408" y="322783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Authentication &amp; security</a:t>
            </a:r>
            <a:endParaRPr lang="en-US" sz="1000" dirty="0"/>
          </a:p>
        </p:txBody>
      </p:sp>
      <p:sp>
        <p:nvSpPr>
          <p:cNvPr id="26" name="Shape 19"/>
          <p:cNvSpPr/>
          <p:nvPr/>
        </p:nvSpPr>
        <p:spPr>
          <a:xfrm>
            <a:off x="502920" y="4069080"/>
            <a:ext cx="2651760" cy="2148840"/>
          </a:xfrm>
          <a:prstGeom prst="roundRect">
            <a:avLst>
              <a:gd name="adj" fmla="val 3404"/>
            </a:avLst>
          </a:prstGeom>
          <a:solidFill>
            <a:srgbClr val="FFFFFF"/>
          </a:solidFill>
          <a:ln w="12700">
            <a:solidFill>
              <a:srgbClr val="D7DCE3"/>
            </a:solidFill>
            <a:prstDash val="solid"/>
          </a:ln>
        </p:spPr>
      </p:sp>
      <p:sp>
        <p:nvSpPr>
          <p:cNvPr id="27" name="Shape 20"/>
          <p:cNvSpPr/>
          <p:nvPr/>
        </p:nvSpPr>
        <p:spPr>
          <a:xfrm>
            <a:off x="1508760" y="4325112"/>
            <a:ext cx="640080" cy="640080"/>
          </a:xfrm>
          <a:prstGeom prst="ellipse">
            <a:avLst/>
          </a:prstGeom>
          <a:solidFill>
            <a:srgbClr val="121826"/>
          </a:solidFill>
          <a:ln/>
        </p:spPr>
      </p:sp>
      <p:pic>
        <p:nvPicPr>
          <p:cNvPr id="28" name="Image 5" descr="/home/claude/work/icons/creditcard.png"/>
          <p:cNvPicPr>
            <a:picLocks noChangeAspect="1"/>
          </p:cNvPicPr>
          <p:nvPr/>
        </p:nvPicPr>
        <p:blipFill>
          <a:blip r:embed="rId8"/>
          <a:stretch>
            <a:fillRect/>
          </a:stretch>
        </p:blipFill>
        <p:spPr>
          <a:xfrm>
            <a:off x="1673352" y="4489704"/>
            <a:ext cx="310896" cy="310896"/>
          </a:xfrm>
          <a:prstGeom prst="rect">
            <a:avLst/>
          </a:prstGeom>
        </p:spPr>
      </p:pic>
      <p:sp>
        <p:nvSpPr>
          <p:cNvPr id="29" name="Text 21"/>
          <p:cNvSpPr/>
          <p:nvPr/>
        </p:nvSpPr>
        <p:spPr>
          <a:xfrm>
            <a:off x="612648" y="512064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Stripe API</a:t>
            </a:r>
            <a:endParaRPr lang="en-US" sz="1200" dirty="0"/>
          </a:p>
        </p:txBody>
      </p:sp>
      <p:sp>
        <p:nvSpPr>
          <p:cNvPr id="30" name="Text 22"/>
          <p:cNvSpPr/>
          <p:nvPr/>
        </p:nvSpPr>
        <p:spPr>
          <a:xfrm>
            <a:off x="612648" y="560527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Payments &amp; checkout</a:t>
            </a:r>
            <a:endParaRPr lang="en-US" sz="1000" dirty="0"/>
          </a:p>
        </p:txBody>
      </p:sp>
      <p:sp>
        <p:nvSpPr>
          <p:cNvPr id="31" name="Shape 23"/>
          <p:cNvSpPr/>
          <p:nvPr/>
        </p:nvSpPr>
        <p:spPr>
          <a:xfrm>
            <a:off x="3291840" y="4069080"/>
            <a:ext cx="2651760" cy="2148840"/>
          </a:xfrm>
          <a:prstGeom prst="roundRect">
            <a:avLst>
              <a:gd name="adj" fmla="val 3404"/>
            </a:avLst>
          </a:prstGeom>
          <a:solidFill>
            <a:srgbClr val="FFFFFF"/>
          </a:solidFill>
          <a:ln w="12700">
            <a:solidFill>
              <a:srgbClr val="D7DCE3"/>
            </a:solidFill>
            <a:prstDash val="solid"/>
          </a:ln>
        </p:spPr>
      </p:sp>
      <p:sp>
        <p:nvSpPr>
          <p:cNvPr id="32" name="Shape 24"/>
          <p:cNvSpPr/>
          <p:nvPr/>
        </p:nvSpPr>
        <p:spPr>
          <a:xfrm>
            <a:off x="4297680" y="4325112"/>
            <a:ext cx="640080" cy="640080"/>
          </a:xfrm>
          <a:prstGeom prst="ellipse">
            <a:avLst/>
          </a:prstGeom>
          <a:solidFill>
            <a:srgbClr val="121826"/>
          </a:solidFill>
          <a:ln/>
        </p:spPr>
      </p:sp>
      <p:pic>
        <p:nvPicPr>
          <p:cNvPr id="33" name="Image 6" descr="/home/claude/work/icons/clock.png"/>
          <p:cNvPicPr>
            <a:picLocks noChangeAspect="1"/>
          </p:cNvPicPr>
          <p:nvPr/>
        </p:nvPicPr>
        <p:blipFill>
          <a:blip r:embed="rId9"/>
          <a:stretch>
            <a:fillRect/>
          </a:stretch>
        </p:blipFill>
        <p:spPr>
          <a:xfrm>
            <a:off x="4462272" y="4489704"/>
            <a:ext cx="310896" cy="310896"/>
          </a:xfrm>
          <a:prstGeom prst="rect">
            <a:avLst/>
          </a:prstGeom>
        </p:spPr>
      </p:pic>
      <p:sp>
        <p:nvSpPr>
          <p:cNvPr id="34" name="Text 25"/>
          <p:cNvSpPr/>
          <p:nvPr/>
        </p:nvSpPr>
        <p:spPr>
          <a:xfrm>
            <a:off x="3401568" y="512064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Hangfire</a:t>
            </a:r>
            <a:endParaRPr lang="en-US" sz="1200" dirty="0"/>
          </a:p>
        </p:txBody>
      </p:sp>
      <p:sp>
        <p:nvSpPr>
          <p:cNvPr id="35" name="Text 26"/>
          <p:cNvSpPr/>
          <p:nvPr/>
        </p:nvSpPr>
        <p:spPr>
          <a:xfrm>
            <a:off x="3401568" y="560527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Background job scheduling</a:t>
            </a:r>
            <a:endParaRPr lang="en-US" sz="1000" dirty="0"/>
          </a:p>
        </p:txBody>
      </p:sp>
      <p:sp>
        <p:nvSpPr>
          <p:cNvPr id="36" name="Shape 27"/>
          <p:cNvSpPr/>
          <p:nvPr/>
        </p:nvSpPr>
        <p:spPr>
          <a:xfrm>
            <a:off x="6080760" y="4069080"/>
            <a:ext cx="2651760" cy="2148840"/>
          </a:xfrm>
          <a:prstGeom prst="roundRect">
            <a:avLst>
              <a:gd name="adj" fmla="val 3404"/>
            </a:avLst>
          </a:prstGeom>
          <a:solidFill>
            <a:srgbClr val="FFFFFF"/>
          </a:solidFill>
          <a:ln w="12700">
            <a:solidFill>
              <a:srgbClr val="D7DCE3"/>
            </a:solidFill>
            <a:prstDash val="solid"/>
          </a:ln>
        </p:spPr>
      </p:sp>
      <p:sp>
        <p:nvSpPr>
          <p:cNvPr id="37" name="Shape 28"/>
          <p:cNvSpPr/>
          <p:nvPr/>
        </p:nvSpPr>
        <p:spPr>
          <a:xfrm>
            <a:off x="7086600" y="4325112"/>
            <a:ext cx="640080" cy="640080"/>
          </a:xfrm>
          <a:prstGeom prst="ellipse">
            <a:avLst/>
          </a:prstGeom>
          <a:solidFill>
            <a:srgbClr val="121826"/>
          </a:solidFill>
          <a:ln/>
        </p:spPr>
      </p:sp>
      <p:pic>
        <p:nvPicPr>
          <p:cNvPr id="38" name="Image 7" descr="/home/claude/work/icons/cogs.png"/>
          <p:cNvPicPr>
            <a:picLocks noChangeAspect="1"/>
          </p:cNvPicPr>
          <p:nvPr/>
        </p:nvPicPr>
        <p:blipFill>
          <a:blip r:embed="rId3"/>
          <a:stretch>
            <a:fillRect/>
          </a:stretch>
        </p:blipFill>
        <p:spPr>
          <a:xfrm>
            <a:off x="7251192" y="4489704"/>
            <a:ext cx="310896" cy="310896"/>
          </a:xfrm>
          <a:prstGeom prst="rect">
            <a:avLst/>
          </a:prstGeom>
        </p:spPr>
      </p:pic>
      <p:sp>
        <p:nvSpPr>
          <p:cNvPr id="39" name="Text 29"/>
          <p:cNvSpPr/>
          <p:nvPr/>
        </p:nvSpPr>
        <p:spPr>
          <a:xfrm>
            <a:off x="6190488" y="512064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Repository + Service Pattern</a:t>
            </a:r>
            <a:endParaRPr lang="en-US" sz="1200" dirty="0"/>
          </a:p>
        </p:txBody>
      </p:sp>
      <p:sp>
        <p:nvSpPr>
          <p:cNvPr id="40" name="Text 30"/>
          <p:cNvSpPr/>
          <p:nvPr/>
        </p:nvSpPr>
        <p:spPr>
          <a:xfrm>
            <a:off x="6190488" y="560527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Layered architecture</a:t>
            </a:r>
            <a:endParaRPr lang="en-US" sz="1000" dirty="0"/>
          </a:p>
        </p:txBody>
      </p:sp>
      <p:sp>
        <p:nvSpPr>
          <p:cNvPr id="41" name="Shape 31"/>
          <p:cNvSpPr/>
          <p:nvPr/>
        </p:nvSpPr>
        <p:spPr>
          <a:xfrm>
            <a:off x="8869680" y="4069080"/>
            <a:ext cx="2651760" cy="2148840"/>
          </a:xfrm>
          <a:prstGeom prst="roundRect">
            <a:avLst>
              <a:gd name="adj" fmla="val 3404"/>
            </a:avLst>
          </a:prstGeom>
          <a:solidFill>
            <a:srgbClr val="FFFFFF"/>
          </a:solidFill>
          <a:ln w="12700">
            <a:solidFill>
              <a:srgbClr val="D7DCE3"/>
            </a:solidFill>
            <a:prstDash val="solid"/>
          </a:ln>
        </p:spPr>
      </p:sp>
      <p:sp>
        <p:nvSpPr>
          <p:cNvPr id="42" name="Shape 32"/>
          <p:cNvSpPr/>
          <p:nvPr/>
        </p:nvSpPr>
        <p:spPr>
          <a:xfrm>
            <a:off x="9875520" y="4325112"/>
            <a:ext cx="640080" cy="640080"/>
          </a:xfrm>
          <a:prstGeom prst="ellipse">
            <a:avLst/>
          </a:prstGeom>
          <a:solidFill>
            <a:srgbClr val="121826"/>
          </a:solidFill>
          <a:ln/>
        </p:spPr>
      </p:sp>
      <p:pic>
        <p:nvPicPr>
          <p:cNvPr id="43" name="Image 8" descr="/home/claude/work/icons/network.png"/>
          <p:cNvPicPr>
            <a:picLocks noChangeAspect="1"/>
          </p:cNvPicPr>
          <p:nvPr/>
        </p:nvPicPr>
        <p:blipFill>
          <a:blip r:embed="rId10"/>
          <a:stretch>
            <a:fillRect/>
          </a:stretch>
        </p:blipFill>
        <p:spPr>
          <a:xfrm>
            <a:off x="10040112" y="4489704"/>
            <a:ext cx="310896" cy="310896"/>
          </a:xfrm>
          <a:prstGeom prst="rect">
            <a:avLst/>
          </a:prstGeom>
        </p:spPr>
      </p:pic>
      <p:sp>
        <p:nvSpPr>
          <p:cNvPr id="44" name="Text 33"/>
          <p:cNvSpPr/>
          <p:nvPr/>
        </p:nvSpPr>
        <p:spPr>
          <a:xfrm>
            <a:off x="8979408" y="5120640"/>
            <a:ext cx="2432304" cy="502920"/>
          </a:xfrm>
          <a:prstGeom prst="rect">
            <a:avLst/>
          </a:prstGeom>
          <a:noFill/>
          <a:ln/>
        </p:spPr>
        <p:txBody>
          <a:bodyPr wrap="square" rtlCol="0" anchor="ctr"/>
          <a:lstStyle/>
          <a:p>
            <a:pPr marL="0" indent="0" algn="ctr">
              <a:buNone/>
            </a:pPr>
            <a:r>
              <a:rPr lang="en-US" sz="1200" b="1" dirty="0">
                <a:solidFill>
                  <a:srgbClr val="121826"/>
                </a:solidFill>
                <a:latin typeface="Calibri" pitchFamily="34" charset="0"/>
                <a:ea typeface="Calibri" pitchFamily="34" charset="-122"/>
                <a:cs typeface="Calibri" pitchFamily="34" charset="-120"/>
              </a:rPr>
              <a:t>Git &amp; GitHub</a:t>
            </a:r>
            <a:endParaRPr lang="en-US" sz="1200" dirty="0"/>
          </a:p>
        </p:txBody>
      </p:sp>
      <p:sp>
        <p:nvSpPr>
          <p:cNvPr id="45" name="Text 34"/>
          <p:cNvSpPr/>
          <p:nvPr/>
        </p:nvSpPr>
        <p:spPr>
          <a:xfrm>
            <a:off x="8979408" y="5605272"/>
            <a:ext cx="2432304" cy="457200"/>
          </a:xfrm>
          <a:prstGeom prst="rect">
            <a:avLst/>
          </a:prstGeom>
          <a:noFill/>
          <a:ln/>
        </p:spPr>
        <p:txBody>
          <a:bodyPr wrap="square" rtlCol="0" anchor="ctr"/>
          <a:lstStyle/>
          <a:p>
            <a:pPr marL="0" indent="0" algn="ctr">
              <a:buNone/>
            </a:pPr>
            <a:r>
              <a:rPr lang="en-US" sz="1000" dirty="0">
                <a:solidFill>
                  <a:srgbClr val="5B6472"/>
                </a:solidFill>
                <a:latin typeface="Calibri" pitchFamily="34" charset="0"/>
                <a:ea typeface="Calibri" pitchFamily="34" charset="-122"/>
                <a:cs typeface="Calibri" pitchFamily="34" charset="-120"/>
              </a:rPr>
              <a:t>Version control &amp; collaboration</a:t>
            </a:r>
            <a:endParaRPr lang="en-US" sz="1000" dirty="0"/>
          </a:p>
        </p:txBody>
      </p:sp>
      <p:sp>
        <p:nvSpPr>
          <p:cNvPr id="46" name="Text 35"/>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clock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HOW WE BUILT IT</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Development Process</a:t>
            </a:r>
            <a:endParaRPr lang="en-US" sz="3000" dirty="0"/>
          </a:p>
        </p:txBody>
      </p:sp>
      <p:sp>
        <p:nvSpPr>
          <p:cNvPr id="6" name="Shape 3"/>
          <p:cNvSpPr/>
          <p:nvPr/>
        </p:nvSpPr>
        <p:spPr>
          <a:xfrm>
            <a:off x="502920" y="1737360"/>
            <a:ext cx="2697480" cy="3291840"/>
          </a:xfrm>
          <a:prstGeom prst="roundRect">
            <a:avLst>
              <a:gd name="adj" fmla="val 2712"/>
            </a:avLst>
          </a:prstGeom>
          <a:solidFill>
            <a:srgbClr val="FFFFFF"/>
          </a:solidFill>
          <a:ln w="12700">
            <a:solidFill>
              <a:srgbClr val="D7DCE3"/>
            </a:solidFill>
            <a:prstDash val="solid"/>
          </a:ln>
        </p:spPr>
      </p:sp>
      <p:sp>
        <p:nvSpPr>
          <p:cNvPr id="7" name="Text 4"/>
          <p:cNvSpPr/>
          <p:nvPr/>
        </p:nvSpPr>
        <p:spPr>
          <a:xfrm>
            <a:off x="640080" y="1874520"/>
            <a:ext cx="1280160" cy="640080"/>
          </a:xfrm>
          <a:prstGeom prst="rect">
            <a:avLst/>
          </a:prstGeom>
          <a:noFill/>
          <a:ln/>
        </p:spPr>
        <p:txBody>
          <a:bodyPr wrap="square" rtlCol="0" anchor="ctr"/>
          <a:lstStyle/>
          <a:p>
            <a:pPr marL="0" indent="0">
              <a:buNone/>
            </a:pPr>
            <a:r>
              <a:rPr lang="en-US" sz="3400" b="1" dirty="0">
                <a:solidFill>
                  <a:srgbClr val="E6E9EE"/>
                </a:solidFill>
                <a:latin typeface="Cambria" pitchFamily="34" charset="0"/>
                <a:ea typeface="Cambria" pitchFamily="34" charset="-122"/>
                <a:cs typeface="Cambria" pitchFamily="34" charset="-120"/>
              </a:rPr>
              <a:t>01</a:t>
            </a:r>
            <a:endParaRPr lang="en-US" sz="3400" dirty="0"/>
          </a:p>
        </p:txBody>
      </p:sp>
      <p:sp>
        <p:nvSpPr>
          <p:cNvPr id="8" name="Text 5"/>
          <p:cNvSpPr/>
          <p:nvPr/>
        </p:nvSpPr>
        <p:spPr>
          <a:xfrm>
            <a:off x="685800" y="2514600"/>
            <a:ext cx="2331720" cy="777240"/>
          </a:xfrm>
          <a:prstGeom prst="rect">
            <a:avLst/>
          </a:prstGeom>
          <a:noFill/>
          <a:ln/>
        </p:spPr>
        <p:txBody>
          <a:bodyPr wrap="square" rtlCol="0" anchor="ctr"/>
          <a:lstStyle/>
          <a:p>
            <a:pPr marL="0" indent="0">
              <a:lnSpc>
                <a:spcPct val="115000"/>
              </a:lnSpc>
              <a:buNone/>
            </a:pPr>
            <a:r>
              <a:rPr lang="en-US" sz="1300" b="1" dirty="0">
                <a:solidFill>
                  <a:srgbClr val="121826"/>
                </a:solidFill>
                <a:latin typeface="Calibri" pitchFamily="34" charset="0"/>
                <a:ea typeface="Calibri" pitchFamily="34" charset="-122"/>
                <a:cs typeface="Calibri" pitchFamily="34" charset="-120"/>
              </a:rPr>
              <a:t>Requirements &amp; Database Design</a:t>
            </a:r>
            <a:endParaRPr lang="en-US" sz="1300" dirty="0"/>
          </a:p>
        </p:txBody>
      </p:sp>
      <p:sp>
        <p:nvSpPr>
          <p:cNvPr id="9" name="Text 6"/>
          <p:cNvSpPr/>
          <p:nvPr/>
        </p:nvSpPr>
        <p:spPr>
          <a:xfrm>
            <a:off x="685800" y="3310128"/>
            <a:ext cx="2331720" cy="1600200"/>
          </a:xfrm>
          <a:prstGeom prst="rect">
            <a:avLst/>
          </a:prstGeom>
          <a:noFill/>
          <a:ln/>
        </p:spPr>
        <p:txBody>
          <a:bodyPr wrap="square" rtlCol="0" anchor="ctr"/>
          <a:lstStyle/>
          <a:p>
            <a:pPr marL="0" indent="0">
              <a:lnSpc>
                <a:spcPct val="125000"/>
              </a:lnSpc>
              <a:buNone/>
            </a:pPr>
            <a:r>
              <a:rPr lang="en-US" sz="1050" dirty="0">
                <a:solidFill>
                  <a:srgbClr val="5B6472"/>
                </a:solidFill>
                <a:latin typeface="Calibri" pitchFamily="34" charset="0"/>
                <a:ea typeface="Calibri" pitchFamily="34" charset="-122"/>
                <a:cs typeface="Calibri" pitchFamily="34" charset="-120"/>
              </a:rPr>
              <a:t>Modeled every entity — users, memberships, classes, bookings, payments, products — into a full ERD.</a:t>
            </a:r>
            <a:endParaRPr lang="en-US" sz="1050" dirty="0"/>
          </a:p>
        </p:txBody>
      </p:sp>
      <p:sp>
        <p:nvSpPr>
          <p:cNvPr id="10" name="Shape 7"/>
          <p:cNvSpPr/>
          <p:nvPr/>
        </p:nvSpPr>
        <p:spPr>
          <a:xfrm>
            <a:off x="3218688" y="3383280"/>
            <a:ext cx="192024" cy="0"/>
          </a:xfrm>
          <a:prstGeom prst="line">
            <a:avLst/>
          </a:prstGeom>
          <a:noFill/>
          <a:ln w="31750">
            <a:solidFill>
              <a:srgbClr val="9AAF2E"/>
            </a:solidFill>
            <a:prstDash val="solid"/>
            <a:tailEnd type="triangle"/>
          </a:ln>
        </p:spPr>
      </p:sp>
      <p:sp>
        <p:nvSpPr>
          <p:cNvPr id="11" name="Shape 8"/>
          <p:cNvSpPr/>
          <p:nvPr/>
        </p:nvSpPr>
        <p:spPr>
          <a:xfrm>
            <a:off x="3429000" y="1737360"/>
            <a:ext cx="2697480" cy="3291840"/>
          </a:xfrm>
          <a:prstGeom prst="roundRect">
            <a:avLst>
              <a:gd name="adj" fmla="val 2712"/>
            </a:avLst>
          </a:prstGeom>
          <a:solidFill>
            <a:srgbClr val="FFFFFF"/>
          </a:solidFill>
          <a:ln w="12700">
            <a:solidFill>
              <a:srgbClr val="D7DCE3"/>
            </a:solidFill>
            <a:prstDash val="solid"/>
          </a:ln>
        </p:spPr>
      </p:sp>
      <p:sp>
        <p:nvSpPr>
          <p:cNvPr id="12" name="Text 9"/>
          <p:cNvSpPr/>
          <p:nvPr/>
        </p:nvSpPr>
        <p:spPr>
          <a:xfrm>
            <a:off x="3566160" y="1874520"/>
            <a:ext cx="1280160" cy="640080"/>
          </a:xfrm>
          <a:prstGeom prst="rect">
            <a:avLst/>
          </a:prstGeom>
          <a:noFill/>
          <a:ln/>
        </p:spPr>
        <p:txBody>
          <a:bodyPr wrap="square" rtlCol="0" anchor="ctr"/>
          <a:lstStyle/>
          <a:p>
            <a:pPr marL="0" indent="0">
              <a:buNone/>
            </a:pPr>
            <a:r>
              <a:rPr lang="en-US" sz="3400" b="1" dirty="0">
                <a:solidFill>
                  <a:srgbClr val="E6E9EE"/>
                </a:solidFill>
                <a:latin typeface="Cambria" pitchFamily="34" charset="0"/>
                <a:ea typeface="Cambria" pitchFamily="34" charset="-122"/>
                <a:cs typeface="Cambria" pitchFamily="34" charset="-120"/>
              </a:rPr>
              <a:t>02</a:t>
            </a:r>
            <a:endParaRPr lang="en-US" sz="3400" dirty="0"/>
          </a:p>
        </p:txBody>
      </p:sp>
      <p:sp>
        <p:nvSpPr>
          <p:cNvPr id="13" name="Text 10"/>
          <p:cNvSpPr/>
          <p:nvPr/>
        </p:nvSpPr>
        <p:spPr>
          <a:xfrm>
            <a:off x="3611880" y="2514600"/>
            <a:ext cx="2331720" cy="777240"/>
          </a:xfrm>
          <a:prstGeom prst="rect">
            <a:avLst/>
          </a:prstGeom>
          <a:noFill/>
          <a:ln/>
        </p:spPr>
        <p:txBody>
          <a:bodyPr wrap="square" rtlCol="0" anchor="ctr"/>
          <a:lstStyle/>
          <a:p>
            <a:pPr marL="0" indent="0">
              <a:lnSpc>
                <a:spcPct val="115000"/>
              </a:lnSpc>
              <a:buNone/>
            </a:pPr>
            <a:r>
              <a:rPr lang="en-US" sz="1300" b="1" dirty="0">
                <a:solidFill>
                  <a:srgbClr val="121826"/>
                </a:solidFill>
                <a:latin typeface="Calibri" pitchFamily="34" charset="0"/>
                <a:ea typeface="Calibri" pitchFamily="34" charset="-122"/>
                <a:cs typeface="Calibri" pitchFamily="34" charset="-120"/>
              </a:rPr>
              <a:t>Core Services Implementation</a:t>
            </a:r>
            <a:endParaRPr lang="en-US" sz="1300" dirty="0"/>
          </a:p>
        </p:txBody>
      </p:sp>
      <p:sp>
        <p:nvSpPr>
          <p:cNvPr id="14" name="Text 11"/>
          <p:cNvSpPr/>
          <p:nvPr/>
        </p:nvSpPr>
        <p:spPr>
          <a:xfrm>
            <a:off x="3611880" y="3310128"/>
            <a:ext cx="2331720" cy="1600200"/>
          </a:xfrm>
          <a:prstGeom prst="rect">
            <a:avLst/>
          </a:prstGeom>
          <a:noFill/>
          <a:ln/>
        </p:spPr>
        <p:txBody>
          <a:bodyPr wrap="square" rtlCol="0" anchor="ctr"/>
          <a:lstStyle/>
          <a:p>
            <a:pPr marL="0" indent="0">
              <a:lnSpc>
                <a:spcPct val="125000"/>
              </a:lnSpc>
              <a:buNone/>
            </a:pPr>
            <a:r>
              <a:rPr lang="en-US" sz="1050" dirty="0">
                <a:solidFill>
                  <a:srgbClr val="5B6472"/>
                </a:solidFill>
                <a:latin typeface="Calibri" pitchFamily="34" charset="0"/>
                <a:ea typeface="Calibri" pitchFamily="34" charset="-122"/>
                <a:cs typeface="Calibri" pitchFamily="34" charset="-120"/>
              </a:rPr>
              <a:t>Built repositories and business services enforcing rules for subscriptions, bookings &amp; payments.</a:t>
            </a:r>
            <a:endParaRPr lang="en-US" sz="1050" dirty="0"/>
          </a:p>
        </p:txBody>
      </p:sp>
      <p:sp>
        <p:nvSpPr>
          <p:cNvPr id="15" name="Shape 12"/>
          <p:cNvSpPr/>
          <p:nvPr/>
        </p:nvSpPr>
        <p:spPr>
          <a:xfrm>
            <a:off x="6144768" y="3383280"/>
            <a:ext cx="192024" cy="0"/>
          </a:xfrm>
          <a:prstGeom prst="line">
            <a:avLst/>
          </a:prstGeom>
          <a:noFill/>
          <a:ln w="31750">
            <a:solidFill>
              <a:srgbClr val="9AAF2E"/>
            </a:solidFill>
            <a:prstDash val="solid"/>
            <a:tailEnd type="triangle"/>
          </a:ln>
        </p:spPr>
      </p:sp>
      <p:sp>
        <p:nvSpPr>
          <p:cNvPr id="16" name="Shape 13"/>
          <p:cNvSpPr/>
          <p:nvPr/>
        </p:nvSpPr>
        <p:spPr>
          <a:xfrm>
            <a:off x="6355080" y="1737360"/>
            <a:ext cx="2697480" cy="3291840"/>
          </a:xfrm>
          <a:prstGeom prst="roundRect">
            <a:avLst>
              <a:gd name="adj" fmla="val 2712"/>
            </a:avLst>
          </a:prstGeom>
          <a:solidFill>
            <a:srgbClr val="FFFFFF"/>
          </a:solidFill>
          <a:ln w="12700">
            <a:solidFill>
              <a:srgbClr val="D7DCE3"/>
            </a:solidFill>
            <a:prstDash val="solid"/>
          </a:ln>
        </p:spPr>
      </p:sp>
      <p:sp>
        <p:nvSpPr>
          <p:cNvPr id="17" name="Text 14"/>
          <p:cNvSpPr/>
          <p:nvPr/>
        </p:nvSpPr>
        <p:spPr>
          <a:xfrm>
            <a:off x="6492240" y="1874520"/>
            <a:ext cx="1280160" cy="640080"/>
          </a:xfrm>
          <a:prstGeom prst="rect">
            <a:avLst/>
          </a:prstGeom>
          <a:noFill/>
          <a:ln/>
        </p:spPr>
        <p:txBody>
          <a:bodyPr wrap="square" rtlCol="0" anchor="ctr"/>
          <a:lstStyle/>
          <a:p>
            <a:pPr marL="0" indent="0">
              <a:buNone/>
            </a:pPr>
            <a:r>
              <a:rPr lang="en-US" sz="3400" b="1" dirty="0">
                <a:solidFill>
                  <a:srgbClr val="E6E9EE"/>
                </a:solidFill>
                <a:latin typeface="Cambria" pitchFamily="34" charset="0"/>
                <a:ea typeface="Cambria" pitchFamily="34" charset="-122"/>
                <a:cs typeface="Cambria" pitchFamily="34" charset="-120"/>
              </a:rPr>
              <a:t>03</a:t>
            </a:r>
            <a:endParaRPr lang="en-US" sz="3400" dirty="0"/>
          </a:p>
        </p:txBody>
      </p:sp>
      <p:sp>
        <p:nvSpPr>
          <p:cNvPr id="18" name="Text 15"/>
          <p:cNvSpPr/>
          <p:nvPr/>
        </p:nvSpPr>
        <p:spPr>
          <a:xfrm>
            <a:off x="6537960" y="2514600"/>
            <a:ext cx="2331720" cy="777240"/>
          </a:xfrm>
          <a:prstGeom prst="rect">
            <a:avLst/>
          </a:prstGeom>
          <a:noFill/>
          <a:ln/>
        </p:spPr>
        <p:txBody>
          <a:bodyPr wrap="square" rtlCol="0" anchor="ctr"/>
          <a:lstStyle/>
          <a:p>
            <a:pPr marL="0" indent="0">
              <a:lnSpc>
                <a:spcPct val="115000"/>
              </a:lnSpc>
              <a:buNone/>
            </a:pPr>
            <a:r>
              <a:rPr lang="en-US" sz="1300" b="1" dirty="0">
                <a:solidFill>
                  <a:srgbClr val="121826"/>
                </a:solidFill>
                <a:latin typeface="Calibri" pitchFamily="34" charset="0"/>
                <a:ea typeface="Calibri" pitchFamily="34" charset="-122"/>
                <a:cs typeface="Calibri" pitchFamily="34" charset="-120"/>
              </a:rPr>
              <a:t>API &amp; Integrations</a:t>
            </a:r>
            <a:endParaRPr lang="en-US" sz="1300" dirty="0"/>
          </a:p>
        </p:txBody>
      </p:sp>
      <p:sp>
        <p:nvSpPr>
          <p:cNvPr id="19" name="Text 16"/>
          <p:cNvSpPr/>
          <p:nvPr/>
        </p:nvSpPr>
        <p:spPr>
          <a:xfrm>
            <a:off x="6537960" y="3310128"/>
            <a:ext cx="2331720" cy="1600200"/>
          </a:xfrm>
          <a:prstGeom prst="rect">
            <a:avLst/>
          </a:prstGeom>
          <a:noFill/>
          <a:ln/>
        </p:spPr>
        <p:txBody>
          <a:bodyPr wrap="square" rtlCol="0" anchor="ctr"/>
          <a:lstStyle/>
          <a:p>
            <a:pPr marL="0" indent="0">
              <a:lnSpc>
                <a:spcPct val="125000"/>
              </a:lnSpc>
              <a:buNone/>
            </a:pPr>
            <a:r>
              <a:rPr lang="en-US" sz="1050" dirty="0">
                <a:solidFill>
                  <a:srgbClr val="5B6472"/>
                </a:solidFill>
                <a:latin typeface="Calibri" pitchFamily="34" charset="0"/>
                <a:ea typeface="Calibri" pitchFamily="34" charset="-122"/>
                <a:cs typeface="Calibri" pitchFamily="34" charset="-120"/>
              </a:rPr>
              <a:t>Exposed REST controllers, wired JWT auth, integrated Stripe checkout and Hangfire jobs.</a:t>
            </a:r>
            <a:endParaRPr lang="en-US" sz="1050" dirty="0"/>
          </a:p>
        </p:txBody>
      </p:sp>
      <p:sp>
        <p:nvSpPr>
          <p:cNvPr id="20" name="Shape 17"/>
          <p:cNvSpPr/>
          <p:nvPr/>
        </p:nvSpPr>
        <p:spPr>
          <a:xfrm>
            <a:off x="9070848" y="3383280"/>
            <a:ext cx="192024" cy="0"/>
          </a:xfrm>
          <a:prstGeom prst="line">
            <a:avLst/>
          </a:prstGeom>
          <a:noFill/>
          <a:ln w="31750">
            <a:solidFill>
              <a:srgbClr val="9AAF2E"/>
            </a:solidFill>
            <a:prstDash val="solid"/>
            <a:tailEnd type="triangle"/>
          </a:ln>
        </p:spPr>
      </p:sp>
      <p:sp>
        <p:nvSpPr>
          <p:cNvPr id="21" name="Shape 18"/>
          <p:cNvSpPr/>
          <p:nvPr/>
        </p:nvSpPr>
        <p:spPr>
          <a:xfrm>
            <a:off x="9281160" y="1737360"/>
            <a:ext cx="2697480" cy="3291840"/>
          </a:xfrm>
          <a:prstGeom prst="roundRect">
            <a:avLst>
              <a:gd name="adj" fmla="val 2712"/>
            </a:avLst>
          </a:prstGeom>
          <a:solidFill>
            <a:srgbClr val="FFFFFF"/>
          </a:solidFill>
          <a:ln w="12700">
            <a:solidFill>
              <a:srgbClr val="D7DCE3"/>
            </a:solidFill>
            <a:prstDash val="solid"/>
          </a:ln>
        </p:spPr>
      </p:sp>
      <p:sp>
        <p:nvSpPr>
          <p:cNvPr id="22" name="Text 19"/>
          <p:cNvSpPr/>
          <p:nvPr/>
        </p:nvSpPr>
        <p:spPr>
          <a:xfrm>
            <a:off x="9418320" y="1874520"/>
            <a:ext cx="1280160" cy="640080"/>
          </a:xfrm>
          <a:prstGeom prst="rect">
            <a:avLst/>
          </a:prstGeom>
          <a:noFill/>
          <a:ln/>
        </p:spPr>
        <p:txBody>
          <a:bodyPr wrap="square" rtlCol="0" anchor="ctr"/>
          <a:lstStyle/>
          <a:p>
            <a:pPr marL="0" indent="0">
              <a:buNone/>
            </a:pPr>
            <a:r>
              <a:rPr lang="en-US" sz="3400" b="1" dirty="0">
                <a:solidFill>
                  <a:srgbClr val="E6E9EE"/>
                </a:solidFill>
                <a:latin typeface="Cambria" pitchFamily="34" charset="0"/>
                <a:ea typeface="Cambria" pitchFamily="34" charset="-122"/>
                <a:cs typeface="Cambria" pitchFamily="34" charset="-120"/>
              </a:rPr>
              <a:t>04</a:t>
            </a:r>
            <a:endParaRPr lang="en-US" sz="3400" dirty="0"/>
          </a:p>
        </p:txBody>
      </p:sp>
      <p:sp>
        <p:nvSpPr>
          <p:cNvPr id="23" name="Text 20"/>
          <p:cNvSpPr/>
          <p:nvPr/>
        </p:nvSpPr>
        <p:spPr>
          <a:xfrm>
            <a:off x="9464040" y="2514600"/>
            <a:ext cx="2331720" cy="777240"/>
          </a:xfrm>
          <a:prstGeom prst="rect">
            <a:avLst/>
          </a:prstGeom>
          <a:noFill/>
          <a:ln/>
        </p:spPr>
        <p:txBody>
          <a:bodyPr wrap="square" rtlCol="0" anchor="ctr"/>
          <a:lstStyle/>
          <a:p>
            <a:pPr marL="0" indent="0">
              <a:lnSpc>
                <a:spcPct val="115000"/>
              </a:lnSpc>
              <a:buNone/>
            </a:pPr>
            <a:r>
              <a:rPr lang="en-US" sz="1300" b="1" dirty="0">
                <a:solidFill>
                  <a:srgbClr val="121826"/>
                </a:solidFill>
                <a:latin typeface="Calibri" pitchFamily="34" charset="0"/>
                <a:ea typeface="Calibri" pitchFamily="34" charset="-122"/>
                <a:cs typeface="Calibri" pitchFamily="34" charset="-120"/>
              </a:rPr>
              <a:t>Testing &amp; Refinement</a:t>
            </a:r>
            <a:endParaRPr lang="en-US" sz="1300" dirty="0"/>
          </a:p>
        </p:txBody>
      </p:sp>
      <p:sp>
        <p:nvSpPr>
          <p:cNvPr id="24" name="Text 21"/>
          <p:cNvSpPr/>
          <p:nvPr/>
        </p:nvSpPr>
        <p:spPr>
          <a:xfrm>
            <a:off x="9464040" y="3310128"/>
            <a:ext cx="2331720" cy="1600200"/>
          </a:xfrm>
          <a:prstGeom prst="rect">
            <a:avLst/>
          </a:prstGeom>
          <a:noFill/>
          <a:ln/>
        </p:spPr>
        <p:txBody>
          <a:bodyPr wrap="square" rtlCol="0" anchor="ctr"/>
          <a:lstStyle/>
          <a:p>
            <a:pPr marL="0" indent="0">
              <a:lnSpc>
                <a:spcPct val="125000"/>
              </a:lnSpc>
              <a:buNone/>
            </a:pPr>
            <a:r>
              <a:rPr lang="en-US" sz="1050" dirty="0">
                <a:solidFill>
                  <a:srgbClr val="5B6472"/>
                </a:solidFill>
                <a:latin typeface="Calibri" pitchFamily="34" charset="0"/>
                <a:ea typeface="Calibri" pitchFamily="34" charset="-122"/>
                <a:cs typeface="Calibri" pitchFamily="34" charset="-120"/>
              </a:rPr>
              <a:t>Iterated through Postman testing, bug fixing and security hardening before delivery.</a:t>
            </a:r>
            <a:endParaRPr lang="en-US" sz="1050" dirty="0"/>
          </a:p>
        </p:txBody>
      </p:sp>
      <p:sp>
        <p:nvSpPr>
          <p:cNvPr id="25" name="Shape 22"/>
          <p:cNvSpPr/>
          <p:nvPr/>
        </p:nvSpPr>
        <p:spPr>
          <a:xfrm>
            <a:off x="502920" y="5257800"/>
            <a:ext cx="11201400" cy="822960"/>
          </a:xfrm>
          <a:prstGeom prst="roundRect">
            <a:avLst>
              <a:gd name="adj" fmla="val 8889"/>
            </a:avLst>
          </a:prstGeom>
          <a:solidFill>
            <a:srgbClr val="121826"/>
          </a:solidFill>
          <a:ln/>
        </p:spPr>
      </p:sp>
      <p:sp>
        <p:nvSpPr>
          <p:cNvPr id="26" name="Text 23"/>
          <p:cNvSpPr/>
          <p:nvPr/>
        </p:nvSpPr>
        <p:spPr>
          <a:xfrm>
            <a:off x="777240" y="5257800"/>
            <a:ext cx="10698480" cy="822960"/>
          </a:xfrm>
          <a:prstGeom prst="rect">
            <a:avLst/>
          </a:prstGeom>
          <a:noFill/>
          <a:ln/>
        </p:spPr>
        <p:txBody>
          <a:bodyPr wrap="square" rtlCol="0" anchor="ctr"/>
          <a:lstStyle/>
          <a:p>
            <a:pPr marL="0" indent="0">
              <a:buNone/>
            </a:pPr>
            <a:r>
              <a:rPr lang="en-US" sz="1300" b="1" dirty="0">
                <a:solidFill>
                  <a:srgbClr val="D7FF3D"/>
                </a:solidFill>
                <a:latin typeface="Calibri" pitchFamily="34" charset="0"/>
                <a:ea typeface="Calibri" pitchFamily="34" charset="-122"/>
                <a:cs typeface="Calibri" pitchFamily="34" charset="-120"/>
              </a:rPr>
              <a:t>Tools: </a:t>
            </a:r>
            <a:r>
              <a:rPr lang="en-US" sz="1300" dirty="0">
                <a:solidFill>
                  <a:srgbClr val="FFFFFF"/>
                </a:solidFill>
                <a:latin typeface="Calibri" pitchFamily="34" charset="0"/>
                <a:ea typeface="Calibri" pitchFamily="34" charset="-122"/>
                <a:cs typeface="Calibri" pitchFamily="34" charset="-120"/>
              </a:rPr>
              <a:t>Visual Studio  ·  SQL Server Management Studio  ·  Git &amp; GitHub  ·  Postman  ·  Agile, iterative delivery</a:t>
            </a:r>
            <a:endParaRPr lang="en-US" sz="1300" dirty="0"/>
          </a:p>
        </p:txBody>
      </p:sp>
      <p:sp>
        <p:nvSpPr>
          <p:cNvPr id="27" name="Text 24"/>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wrench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UNDER CONSTRUCTION</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Implementation</a:t>
            </a:r>
            <a:endParaRPr lang="en-US" sz="3000" dirty="0"/>
          </a:p>
        </p:txBody>
      </p:sp>
      <p:sp>
        <p:nvSpPr>
          <p:cNvPr id="6" name="Text 3"/>
          <p:cNvSpPr/>
          <p:nvPr/>
        </p:nvSpPr>
        <p:spPr>
          <a:xfrm>
            <a:off x="502920" y="1481328"/>
            <a:ext cx="4572000" cy="274320"/>
          </a:xfrm>
          <a:prstGeom prst="rect">
            <a:avLst/>
          </a:prstGeom>
          <a:noFill/>
          <a:ln/>
        </p:spPr>
        <p:txBody>
          <a:bodyPr wrap="square" rtlCol="0" anchor="ctr"/>
          <a:lstStyle/>
          <a:p>
            <a:pPr marL="0" indent="0">
              <a:buNone/>
            </a:pPr>
            <a:r>
              <a:rPr lang="en-US" sz="1250" b="1" kern="0" spc="150" dirty="0">
                <a:solidFill>
                  <a:srgbClr val="9AAF2E"/>
                </a:solidFill>
                <a:latin typeface="Calibri" pitchFamily="34" charset="0"/>
                <a:ea typeface="Calibri" pitchFamily="34" charset="-122"/>
                <a:cs typeface="Calibri" pitchFamily="34" charset="-120"/>
              </a:rPr>
              <a:t>CORE LAYERS</a:t>
            </a:r>
            <a:endParaRPr lang="en-US" sz="1250" dirty="0"/>
          </a:p>
        </p:txBody>
      </p:sp>
      <p:sp>
        <p:nvSpPr>
          <p:cNvPr id="7" name="Shape 4"/>
          <p:cNvSpPr/>
          <p:nvPr/>
        </p:nvSpPr>
        <p:spPr>
          <a:xfrm>
            <a:off x="502920" y="1828800"/>
            <a:ext cx="5394960" cy="777240"/>
          </a:xfrm>
          <a:prstGeom prst="roundRect">
            <a:avLst>
              <a:gd name="adj" fmla="val 7059"/>
            </a:avLst>
          </a:prstGeom>
          <a:solidFill>
            <a:srgbClr val="FFFFFF"/>
          </a:solidFill>
          <a:ln w="12700">
            <a:solidFill>
              <a:srgbClr val="D7DCE3"/>
            </a:solidFill>
            <a:prstDash val="solid"/>
          </a:ln>
        </p:spPr>
      </p:sp>
      <p:sp>
        <p:nvSpPr>
          <p:cNvPr id="8" name="Text 5"/>
          <p:cNvSpPr/>
          <p:nvPr/>
        </p:nvSpPr>
        <p:spPr>
          <a:xfrm>
            <a:off x="685800" y="1828800"/>
            <a:ext cx="1005840" cy="777240"/>
          </a:xfrm>
          <a:prstGeom prst="rect">
            <a:avLst/>
          </a:prstGeom>
          <a:noFill/>
          <a:ln/>
        </p:spPr>
        <p:txBody>
          <a:bodyPr wrap="square" rtlCol="0" anchor="ctr"/>
          <a:lstStyle/>
          <a:p>
            <a:pPr marL="0" indent="0">
              <a:buNone/>
            </a:pPr>
            <a:r>
              <a:rPr lang="en-US" sz="1500" b="1" dirty="0">
                <a:solidFill>
                  <a:srgbClr val="121826"/>
                </a:solidFill>
                <a:latin typeface="Cambria" pitchFamily="34" charset="0"/>
                <a:ea typeface="Cambria" pitchFamily="34" charset="-122"/>
                <a:cs typeface="Cambria" pitchFamily="34" charset="-120"/>
              </a:rPr>
              <a:t>API</a:t>
            </a:r>
            <a:endParaRPr lang="en-US" sz="1500" dirty="0"/>
          </a:p>
        </p:txBody>
      </p:sp>
      <p:sp>
        <p:nvSpPr>
          <p:cNvPr id="9" name="Text 6"/>
          <p:cNvSpPr/>
          <p:nvPr/>
        </p:nvSpPr>
        <p:spPr>
          <a:xfrm>
            <a:off x="1737360" y="1828800"/>
            <a:ext cx="4023360" cy="77724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Controllers, middleware &amp; JWT authentication handlers</a:t>
            </a:r>
            <a:endParaRPr lang="en-US" sz="1050" dirty="0"/>
          </a:p>
        </p:txBody>
      </p:sp>
      <p:sp>
        <p:nvSpPr>
          <p:cNvPr id="10" name="Shape 7"/>
          <p:cNvSpPr/>
          <p:nvPr/>
        </p:nvSpPr>
        <p:spPr>
          <a:xfrm>
            <a:off x="502920" y="2724912"/>
            <a:ext cx="5394960" cy="777240"/>
          </a:xfrm>
          <a:prstGeom prst="roundRect">
            <a:avLst>
              <a:gd name="adj" fmla="val 7059"/>
            </a:avLst>
          </a:prstGeom>
          <a:solidFill>
            <a:srgbClr val="FFFFFF"/>
          </a:solidFill>
          <a:ln w="12700">
            <a:solidFill>
              <a:srgbClr val="D7DCE3"/>
            </a:solidFill>
            <a:prstDash val="solid"/>
          </a:ln>
        </p:spPr>
      </p:sp>
      <p:sp>
        <p:nvSpPr>
          <p:cNvPr id="11" name="Text 8"/>
          <p:cNvSpPr/>
          <p:nvPr/>
        </p:nvSpPr>
        <p:spPr>
          <a:xfrm>
            <a:off x="685800" y="2724912"/>
            <a:ext cx="1005840" cy="777240"/>
          </a:xfrm>
          <a:prstGeom prst="rect">
            <a:avLst/>
          </a:prstGeom>
          <a:noFill/>
          <a:ln/>
        </p:spPr>
        <p:txBody>
          <a:bodyPr wrap="square" rtlCol="0" anchor="ctr"/>
          <a:lstStyle/>
          <a:p>
            <a:pPr marL="0" indent="0">
              <a:buNone/>
            </a:pPr>
            <a:r>
              <a:rPr lang="en-US" sz="1500" b="1" dirty="0">
                <a:solidFill>
                  <a:srgbClr val="121826"/>
                </a:solidFill>
                <a:latin typeface="Cambria" pitchFamily="34" charset="0"/>
                <a:ea typeface="Cambria" pitchFamily="34" charset="-122"/>
                <a:cs typeface="Cambria" pitchFamily="34" charset="-120"/>
              </a:rPr>
              <a:t>BLL</a:t>
            </a:r>
            <a:endParaRPr lang="en-US" sz="1500" dirty="0"/>
          </a:p>
        </p:txBody>
      </p:sp>
      <p:sp>
        <p:nvSpPr>
          <p:cNvPr id="12" name="Text 9"/>
          <p:cNvSpPr/>
          <p:nvPr/>
        </p:nvSpPr>
        <p:spPr>
          <a:xfrm>
            <a:off x="1737360" y="2724912"/>
            <a:ext cx="4023360" cy="77724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Business services, validation rules &amp; exception handling</a:t>
            </a:r>
            <a:endParaRPr lang="en-US" sz="1050" dirty="0"/>
          </a:p>
        </p:txBody>
      </p:sp>
      <p:sp>
        <p:nvSpPr>
          <p:cNvPr id="13" name="Shape 10"/>
          <p:cNvSpPr/>
          <p:nvPr/>
        </p:nvSpPr>
        <p:spPr>
          <a:xfrm>
            <a:off x="502920" y="3621024"/>
            <a:ext cx="5394960" cy="777240"/>
          </a:xfrm>
          <a:prstGeom prst="roundRect">
            <a:avLst>
              <a:gd name="adj" fmla="val 7059"/>
            </a:avLst>
          </a:prstGeom>
          <a:solidFill>
            <a:srgbClr val="FFFFFF"/>
          </a:solidFill>
          <a:ln w="12700">
            <a:solidFill>
              <a:srgbClr val="D7DCE3"/>
            </a:solidFill>
            <a:prstDash val="solid"/>
          </a:ln>
        </p:spPr>
      </p:sp>
      <p:sp>
        <p:nvSpPr>
          <p:cNvPr id="14" name="Text 11"/>
          <p:cNvSpPr/>
          <p:nvPr/>
        </p:nvSpPr>
        <p:spPr>
          <a:xfrm>
            <a:off x="685800" y="3621024"/>
            <a:ext cx="1005840" cy="777240"/>
          </a:xfrm>
          <a:prstGeom prst="rect">
            <a:avLst/>
          </a:prstGeom>
          <a:noFill/>
          <a:ln/>
        </p:spPr>
        <p:txBody>
          <a:bodyPr wrap="square" rtlCol="0" anchor="ctr"/>
          <a:lstStyle/>
          <a:p>
            <a:pPr marL="0" indent="0">
              <a:buNone/>
            </a:pPr>
            <a:r>
              <a:rPr lang="en-US" sz="1500" b="1" dirty="0">
                <a:solidFill>
                  <a:srgbClr val="121826"/>
                </a:solidFill>
                <a:latin typeface="Cambria" pitchFamily="34" charset="0"/>
                <a:ea typeface="Cambria" pitchFamily="34" charset="-122"/>
                <a:cs typeface="Cambria" pitchFamily="34" charset="-120"/>
              </a:rPr>
              <a:t>DAL</a:t>
            </a:r>
            <a:endParaRPr lang="en-US" sz="1500" dirty="0"/>
          </a:p>
        </p:txBody>
      </p:sp>
      <p:sp>
        <p:nvSpPr>
          <p:cNvPr id="15" name="Text 12"/>
          <p:cNvSpPr/>
          <p:nvPr/>
        </p:nvSpPr>
        <p:spPr>
          <a:xfrm>
            <a:off x="1737360" y="3621024"/>
            <a:ext cx="4023360" cy="77724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Generic + specific repositories, EF Core &amp; migrations</a:t>
            </a:r>
            <a:endParaRPr lang="en-US" sz="1050" dirty="0"/>
          </a:p>
        </p:txBody>
      </p:sp>
      <p:sp>
        <p:nvSpPr>
          <p:cNvPr id="16" name="Shape 13"/>
          <p:cNvSpPr/>
          <p:nvPr/>
        </p:nvSpPr>
        <p:spPr>
          <a:xfrm>
            <a:off x="502920" y="4517136"/>
            <a:ext cx="5394960" cy="777240"/>
          </a:xfrm>
          <a:prstGeom prst="roundRect">
            <a:avLst>
              <a:gd name="adj" fmla="val 7059"/>
            </a:avLst>
          </a:prstGeom>
          <a:solidFill>
            <a:srgbClr val="FFFFFF"/>
          </a:solidFill>
          <a:ln w="12700">
            <a:solidFill>
              <a:srgbClr val="D7DCE3"/>
            </a:solidFill>
            <a:prstDash val="solid"/>
          </a:ln>
        </p:spPr>
      </p:sp>
      <p:sp>
        <p:nvSpPr>
          <p:cNvPr id="17" name="Text 14"/>
          <p:cNvSpPr/>
          <p:nvPr/>
        </p:nvSpPr>
        <p:spPr>
          <a:xfrm>
            <a:off x="685800" y="4517136"/>
            <a:ext cx="1005840" cy="777240"/>
          </a:xfrm>
          <a:prstGeom prst="rect">
            <a:avLst/>
          </a:prstGeom>
          <a:noFill/>
          <a:ln/>
        </p:spPr>
        <p:txBody>
          <a:bodyPr wrap="square" rtlCol="0" anchor="ctr"/>
          <a:lstStyle/>
          <a:p>
            <a:pPr marL="0" indent="0">
              <a:buNone/>
            </a:pPr>
            <a:r>
              <a:rPr lang="en-US" sz="1500" b="1" dirty="0">
                <a:solidFill>
                  <a:srgbClr val="121826"/>
                </a:solidFill>
                <a:latin typeface="Cambria" pitchFamily="34" charset="0"/>
                <a:ea typeface="Cambria" pitchFamily="34" charset="-122"/>
                <a:cs typeface="Cambria" pitchFamily="34" charset="-120"/>
              </a:rPr>
              <a:t>Shared</a:t>
            </a:r>
            <a:endParaRPr lang="en-US" sz="1500" dirty="0"/>
          </a:p>
        </p:txBody>
      </p:sp>
      <p:sp>
        <p:nvSpPr>
          <p:cNvPr id="18" name="Text 15"/>
          <p:cNvSpPr/>
          <p:nvPr/>
        </p:nvSpPr>
        <p:spPr>
          <a:xfrm>
            <a:off x="1737360" y="4517136"/>
            <a:ext cx="4023360" cy="777240"/>
          </a:xfrm>
          <a:prstGeom prst="rect">
            <a:avLst/>
          </a:prstGeom>
          <a:noFill/>
          <a:ln/>
        </p:spPr>
        <p:txBody>
          <a:bodyPr wrap="square" rtlCol="0" anchor="ctr"/>
          <a:lstStyle/>
          <a:p>
            <a:pPr marL="0" indent="0">
              <a:lnSpc>
                <a:spcPct val="115000"/>
              </a:lnSpc>
              <a:buNone/>
            </a:pPr>
            <a:r>
              <a:rPr lang="en-US" sz="1050" dirty="0">
                <a:solidFill>
                  <a:srgbClr val="5B6472"/>
                </a:solidFill>
                <a:latin typeface="Calibri" pitchFamily="34" charset="0"/>
                <a:ea typeface="Calibri" pitchFamily="34" charset="-122"/>
                <a:cs typeface="Calibri" pitchFamily="34" charset="-120"/>
              </a:rPr>
              <a:t>DTOs and enums consumed consistently across layers</a:t>
            </a:r>
            <a:endParaRPr lang="en-US" sz="1050" dirty="0"/>
          </a:p>
        </p:txBody>
      </p:sp>
      <p:sp>
        <p:nvSpPr>
          <p:cNvPr id="19" name="Shape 16"/>
          <p:cNvSpPr/>
          <p:nvPr/>
        </p:nvSpPr>
        <p:spPr>
          <a:xfrm>
            <a:off x="6355080" y="1508760"/>
            <a:ext cx="0" cy="4892040"/>
          </a:xfrm>
          <a:prstGeom prst="line">
            <a:avLst/>
          </a:prstGeom>
          <a:noFill/>
          <a:ln w="19050">
            <a:solidFill>
              <a:srgbClr val="D7DCE3"/>
            </a:solidFill>
            <a:prstDash val="dash"/>
          </a:ln>
        </p:spPr>
      </p:sp>
      <p:sp>
        <p:nvSpPr>
          <p:cNvPr id="20" name="Text 17"/>
          <p:cNvSpPr/>
          <p:nvPr/>
        </p:nvSpPr>
        <p:spPr>
          <a:xfrm>
            <a:off x="6675120" y="1481328"/>
            <a:ext cx="5486400" cy="274320"/>
          </a:xfrm>
          <a:prstGeom prst="rect">
            <a:avLst/>
          </a:prstGeom>
          <a:noFill/>
          <a:ln/>
        </p:spPr>
        <p:txBody>
          <a:bodyPr wrap="square" rtlCol="0" anchor="ctr"/>
          <a:lstStyle/>
          <a:p>
            <a:pPr marL="0" indent="0">
              <a:buNone/>
            </a:pPr>
            <a:r>
              <a:rPr lang="en-US" sz="1250" b="1" kern="0" spc="150" dirty="0">
                <a:solidFill>
                  <a:srgbClr val="9AAF2E"/>
                </a:solidFill>
                <a:latin typeface="Calibri" pitchFamily="34" charset="0"/>
                <a:ea typeface="Calibri" pitchFamily="34" charset="-122"/>
                <a:cs typeface="Calibri" pitchFamily="34" charset="-120"/>
              </a:rPr>
              <a:t>KEY FEATURES DELIVERED</a:t>
            </a:r>
            <a:endParaRPr lang="en-US" sz="1250" dirty="0"/>
          </a:p>
        </p:txBody>
      </p:sp>
      <p:sp>
        <p:nvSpPr>
          <p:cNvPr id="21" name="Shape 18"/>
          <p:cNvSpPr/>
          <p:nvPr/>
        </p:nvSpPr>
        <p:spPr>
          <a:xfrm>
            <a:off x="6675120" y="1874520"/>
            <a:ext cx="146304" cy="146304"/>
          </a:xfrm>
          <a:prstGeom prst="ellipse">
            <a:avLst/>
          </a:prstGeom>
          <a:solidFill>
            <a:srgbClr val="9AAF2E"/>
          </a:solidFill>
          <a:ln/>
        </p:spPr>
      </p:sp>
      <p:sp>
        <p:nvSpPr>
          <p:cNvPr id="22" name="Text 19"/>
          <p:cNvSpPr/>
          <p:nvPr/>
        </p:nvSpPr>
        <p:spPr>
          <a:xfrm>
            <a:off x="6967728" y="1773936"/>
            <a:ext cx="4709160" cy="457200"/>
          </a:xfrm>
          <a:prstGeom prst="rect">
            <a:avLst/>
          </a:prstGeom>
          <a:noFill/>
          <a:ln/>
        </p:spPr>
        <p:txBody>
          <a:bodyPr wrap="square" rtlCol="0" anchor="ctr"/>
          <a:lstStyle/>
          <a:p>
            <a:pPr marL="0" indent="0">
              <a:lnSpc>
                <a:spcPct val="115000"/>
              </a:lnSpc>
              <a:buNone/>
            </a:pPr>
            <a:r>
              <a:rPr lang="en-US" sz="1150" dirty="0">
                <a:solidFill>
                  <a:srgbClr val="121826"/>
                </a:solidFill>
                <a:latin typeface="Calibri" pitchFamily="34" charset="0"/>
                <a:ea typeface="Calibri" pitchFamily="34" charset="-122"/>
                <a:cs typeface="Calibri" pitchFamily="34" charset="-120"/>
              </a:rPr>
              <a:t>Full subscription lifecycle: create, renew, freeze &amp; expire</a:t>
            </a:r>
            <a:endParaRPr lang="en-US" sz="1150" dirty="0"/>
          </a:p>
        </p:txBody>
      </p:sp>
      <p:sp>
        <p:nvSpPr>
          <p:cNvPr id="23" name="Shape 20"/>
          <p:cNvSpPr/>
          <p:nvPr/>
        </p:nvSpPr>
        <p:spPr>
          <a:xfrm>
            <a:off x="6675120" y="2423160"/>
            <a:ext cx="146304" cy="146304"/>
          </a:xfrm>
          <a:prstGeom prst="ellipse">
            <a:avLst/>
          </a:prstGeom>
          <a:solidFill>
            <a:srgbClr val="9AAF2E"/>
          </a:solidFill>
          <a:ln/>
        </p:spPr>
      </p:sp>
      <p:sp>
        <p:nvSpPr>
          <p:cNvPr id="24" name="Text 21"/>
          <p:cNvSpPr/>
          <p:nvPr/>
        </p:nvSpPr>
        <p:spPr>
          <a:xfrm>
            <a:off x="6967728" y="2322576"/>
            <a:ext cx="4709160" cy="457200"/>
          </a:xfrm>
          <a:prstGeom prst="rect">
            <a:avLst/>
          </a:prstGeom>
          <a:noFill/>
          <a:ln/>
        </p:spPr>
        <p:txBody>
          <a:bodyPr wrap="square" rtlCol="0" anchor="ctr"/>
          <a:lstStyle/>
          <a:p>
            <a:pPr marL="0" indent="0">
              <a:lnSpc>
                <a:spcPct val="115000"/>
              </a:lnSpc>
              <a:buNone/>
            </a:pPr>
            <a:r>
              <a:rPr lang="en-US" sz="1150" dirty="0">
                <a:solidFill>
                  <a:srgbClr val="121826"/>
                </a:solidFill>
                <a:latin typeface="Calibri" pitchFamily="34" charset="0"/>
                <a:ea typeface="Calibri" pitchFamily="34" charset="-122"/>
                <a:cs typeface="Calibri" pitchFamily="34" charset="-120"/>
              </a:rPr>
              <a:t>Class &amp; private-session booking engine with capacity rules</a:t>
            </a:r>
            <a:endParaRPr lang="en-US" sz="1150" dirty="0"/>
          </a:p>
        </p:txBody>
      </p:sp>
      <p:sp>
        <p:nvSpPr>
          <p:cNvPr id="25" name="Shape 22"/>
          <p:cNvSpPr/>
          <p:nvPr/>
        </p:nvSpPr>
        <p:spPr>
          <a:xfrm>
            <a:off x="6675120" y="2971800"/>
            <a:ext cx="146304" cy="146304"/>
          </a:xfrm>
          <a:prstGeom prst="ellipse">
            <a:avLst/>
          </a:prstGeom>
          <a:solidFill>
            <a:srgbClr val="9AAF2E"/>
          </a:solidFill>
          <a:ln/>
        </p:spPr>
      </p:sp>
      <p:sp>
        <p:nvSpPr>
          <p:cNvPr id="26" name="Text 23"/>
          <p:cNvSpPr/>
          <p:nvPr/>
        </p:nvSpPr>
        <p:spPr>
          <a:xfrm>
            <a:off x="6967728" y="2871216"/>
            <a:ext cx="4709160" cy="457200"/>
          </a:xfrm>
          <a:prstGeom prst="rect">
            <a:avLst/>
          </a:prstGeom>
          <a:noFill/>
          <a:ln/>
        </p:spPr>
        <p:txBody>
          <a:bodyPr wrap="square" rtlCol="0" anchor="ctr"/>
          <a:lstStyle/>
          <a:p>
            <a:pPr marL="0" indent="0">
              <a:lnSpc>
                <a:spcPct val="115000"/>
              </a:lnSpc>
              <a:buNone/>
            </a:pPr>
            <a:r>
              <a:rPr lang="en-US" sz="1150" dirty="0">
                <a:solidFill>
                  <a:srgbClr val="121826"/>
                </a:solidFill>
                <a:latin typeface="Calibri" pitchFamily="34" charset="0"/>
                <a:ea typeface="Calibri" pitchFamily="34" charset="-122"/>
                <a:cs typeface="Calibri" pitchFamily="34" charset="-120"/>
              </a:rPr>
              <a:t>QR-code attendance check-in tied to each member profile</a:t>
            </a:r>
            <a:endParaRPr lang="en-US" sz="1150" dirty="0"/>
          </a:p>
        </p:txBody>
      </p:sp>
      <p:sp>
        <p:nvSpPr>
          <p:cNvPr id="27" name="Shape 24"/>
          <p:cNvSpPr/>
          <p:nvPr/>
        </p:nvSpPr>
        <p:spPr>
          <a:xfrm>
            <a:off x="6675120" y="3520440"/>
            <a:ext cx="146304" cy="146304"/>
          </a:xfrm>
          <a:prstGeom prst="ellipse">
            <a:avLst/>
          </a:prstGeom>
          <a:solidFill>
            <a:srgbClr val="9AAF2E"/>
          </a:solidFill>
          <a:ln/>
        </p:spPr>
      </p:sp>
      <p:sp>
        <p:nvSpPr>
          <p:cNvPr id="28" name="Text 25"/>
          <p:cNvSpPr/>
          <p:nvPr/>
        </p:nvSpPr>
        <p:spPr>
          <a:xfrm>
            <a:off x="6967728" y="3419856"/>
            <a:ext cx="4709160" cy="457200"/>
          </a:xfrm>
          <a:prstGeom prst="rect">
            <a:avLst/>
          </a:prstGeom>
          <a:noFill/>
          <a:ln/>
        </p:spPr>
        <p:txBody>
          <a:bodyPr wrap="square" rtlCol="0" anchor="ctr"/>
          <a:lstStyle/>
          <a:p>
            <a:pPr marL="0" indent="0">
              <a:lnSpc>
                <a:spcPct val="115000"/>
              </a:lnSpc>
              <a:buNone/>
            </a:pPr>
            <a:r>
              <a:rPr lang="en-US" sz="1150" dirty="0">
                <a:solidFill>
                  <a:srgbClr val="121826"/>
                </a:solidFill>
                <a:latin typeface="Calibri" pitchFamily="34" charset="0"/>
                <a:ea typeface="Calibri" pitchFamily="34" charset="-122"/>
                <a:cs typeface="Calibri" pitchFamily="34" charset="-120"/>
              </a:rPr>
              <a:t>Stripe checkout with automatic invoice generation</a:t>
            </a:r>
            <a:endParaRPr lang="en-US" sz="1150" dirty="0"/>
          </a:p>
        </p:txBody>
      </p:sp>
      <p:sp>
        <p:nvSpPr>
          <p:cNvPr id="29" name="Shape 26"/>
          <p:cNvSpPr/>
          <p:nvPr/>
        </p:nvSpPr>
        <p:spPr>
          <a:xfrm>
            <a:off x="6675120" y="4069080"/>
            <a:ext cx="146304" cy="146304"/>
          </a:xfrm>
          <a:prstGeom prst="ellipse">
            <a:avLst/>
          </a:prstGeom>
          <a:solidFill>
            <a:srgbClr val="9AAF2E"/>
          </a:solidFill>
          <a:ln/>
        </p:spPr>
      </p:sp>
      <p:sp>
        <p:nvSpPr>
          <p:cNvPr id="30" name="Text 27"/>
          <p:cNvSpPr/>
          <p:nvPr/>
        </p:nvSpPr>
        <p:spPr>
          <a:xfrm>
            <a:off x="6967728" y="3968496"/>
            <a:ext cx="4709160" cy="457200"/>
          </a:xfrm>
          <a:prstGeom prst="rect">
            <a:avLst/>
          </a:prstGeom>
          <a:noFill/>
          <a:ln/>
        </p:spPr>
        <p:txBody>
          <a:bodyPr wrap="square" rtlCol="0" anchor="ctr"/>
          <a:lstStyle/>
          <a:p>
            <a:pPr marL="0" indent="0">
              <a:lnSpc>
                <a:spcPct val="115000"/>
              </a:lnSpc>
              <a:buNone/>
            </a:pPr>
            <a:r>
              <a:rPr lang="en-US" sz="1150" dirty="0">
                <a:solidFill>
                  <a:srgbClr val="121826"/>
                </a:solidFill>
                <a:latin typeface="Calibri" pitchFamily="34" charset="0"/>
                <a:ea typeface="Calibri" pitchFamily="34" charset="-122"/>
                <a:cs typeface="Calibri" pitchFamily="34" charset="-120"/>
              </a:rPr>
              <a:t>Admin dashboard backed by a complete audit-log trail</a:t>
            </a:r>
            <a:endParaRPr lang="en-US" sz="1150" dirty="0"/>
          </a:p>
        </p:txBody>
      </p:sp>
      <p:sp>
        <p:nvSpPr>
          <p:cNvPr id="31" name="Shape 28"/>
          <p:cNvSpPr/>
          <p:nvPr/>
        </p:nvSpPr>
        <p:spPr>
          <a:xfrm>
            <a:off x="6675120" y="4617720"/>
            <a:ext cx="146304" cy="146304"/>
          </a:xfrm>
          <a:prstGeom prst="ellipse">
            <a:avLst/>
          </a:prstGeom>
          <a:solidFill>
            <a:srgbClr val="9AAF2E"/>
          </a:solidFill>
          <a:ln/>
        </p:spPr>
      </p:sp>
      <p:sp>
        <p:nvSpPr>
          <p:cNvPr id="32" name="Text 29"/>
          <p:cNvSpPr/>
          <p:nvPr/>
        </p:nvSpPr>
        <p:spPr>
          <a:xfrm>
            <a:off x="6967728" y="4517136"/>
            <a:ext cx="4709160" cy="457200"/>
          </a:xfrm>
          <a:prstGeom prst="rect">
            <a:avLst/>
          </a:prstGeom>
          <a:noFill/>
          <a:ln/>
        </p:spPr>
        <p:txBody>
          <a:bodyPr wrap="square" rtlCol="0" anchor="ctr"/>
          <a:lstStyle/>
          <a:p>
            <a:pPr marL="0" indent="0">
              <a:lnSpc>
                <a:spcPct val="115000"/>
              </a:lnSpc>
              <a:buNone/>
            </a:pPr>
            <a:r>
              <a:rPr lang="en-US" sz="1150" dirty="0">
                <a:solidFill>
                  <a:srgbClr val="121826"/>
                </a:solidFill>
                <a:latin typeface="Calibri" pitchFamily="34" charset="0"/>
                <a:ea typeface="Calibri" pitchFamily="34" charset="-122"/>
                <a:cs typeface="Calibri" pitchFamily="34" charset="-120"/>
              </a:rPr>
              <a:t>Shop module: products, cart, checkout, stock &amp; suppliers</a:t>
            </a:r>
            <a:endParaRPr lang="en-US" sz="1150" dirty="0"/>
          </a:p>
        </p:txBody>
      </p:sp>
      <p:sp>
        <p:nvSpPr>
          <p:cNvPr id="33" name="Shape 30"/>
          <p:cNvSpPr/>
          <p:nvPr/>
        </p:nvSpPr>
        <p:spPr>
          <a:xfrm>
            <a:off x="6675120" y="5166360"/>
            <a:ext cx="146304" cy="146304"/>
          </a:xfrm>
          <a:prstGeom prst="ellipse">
            <a:avLst/>
          </a:prstGeom>
          <a:solidFill>
            <a:srgbClr val="9AAF2E"/>
          </a:solidFill>
          <a:ln/>
        </p:spPr>
      </p:sp>
      <p:sp>
        <p:nvSpPr>
          <p:cNvPr id="34" name="Text 31"/>
          <p:cNvSpPr/>
          <p:nvPr/>
        </p:nvSpPr>
        <p:spPr>
          <a:xfrm>
            <a:off x="6967728" y="5065776"/>
            <a:ext cx="4709160" cy="457200"/>
          </a:xfrm>
          <a:prstGeom prst="rect">
            <a:avLst/>
          </a:prstGeom>
          <a:noFill/>
          <a:ln/>
        </p:spPr>
        <p:txBody>
          <a:bodyPr wrap="square" rtlCol="0" anchor="ctr"/>
          <a:lstStyle/>
          <a:p>
            <a:pPr marL="0" indent="0">
              <a:lnSpc>
                <a:spcPct val="115000"/>
              </a:lnSpc>
              <a:buNone/>
            </a:pPr>
            <a:r>
              <a:rPr lang="en-US" sz="1150" dirty="0">
                <a:solidFill>
                  <a:srgbClr val="121826"/>
                </a:solidFill>
                <a:latin typeface="Calibri" pitchFamily="34" charset="0"/>
                <a:ea typeface="Calibri" pitchFamily="34" charset="-122"/>
                <a:cs typeface="Calibri" pitchFamily="34" charset="-120"/>
              </a:rPr>
              <a:t>Notification engine for renewals, requests &amp; low stock</a:t>
            </a:r>
            <a:endParaRPr lang="en-US" sz="1150" dirty="0"/>
          </a:p>
        </p:txBody>
      </p:sp>
      <p:sp>
        <p:nvSpPr>
          <p:cNvPr id="35" name="Text 32"/>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shield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WHAT WE OVERCAME</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Challenges &amp; Solutions</a:t>
            </a:r>
            <a:endParaRPr lang="en-US" sz="3000" dirty="0"/>
          </a:p>
        </p:txBody>
      </p:sp>
      <p:sp>
        <p:nvSpPr>
          <p:cNvPr id="6" name="Shape 3"/>
          <p:cNvSpPr/>
          <p:nvPr/>
        </p:nvSpPr>
        <p:spPr>
          <a:xfrm>
            <a:off x="502920" y="1691640"/>
            <a:ext cx="2148840" cy="4160520"/>
          </a:xfrm>
          <a:prstGeom prst="roundRect">
            <a:avLst>
              <a:gd name="adj" fmla="val 3404"/>
            </a:avLst>
          </a:prstGeom>
          <a:solidFill>
            <a:srgbClr val="FFFFFF"/>
          </a:solidFill>
          <a:ln w="12700">
            <a:solidFill>
              <a:srgbClr val="D7DCE3"/>
            </a:solidFill>
            <a:prstDash val="solid"/>
          </a:ln>
        </p:spPr>
      </p:sp>
      <p:sp>
        <p:nvSpPr>
          <p:cNvPr id="7" name="Shape 4"/>
          <p:cNvSpPr/>
          <p:nvPr/>
        </p:nvSpPr>
        <p:spPr>
          <a:xfrm>
            <a:off x="1303020" y="1965960"/>
            <a:ext cx="548640" cy="548640"/>
          </a:xfrm>
          <a:prstGeom prst="ellipse">
            <a:avLst/>
          </a:prstGeom>
          <a:solidFill>
            <a:srgbClr val="121826"/>
          </a:solidFill>
          <a:ln/>
        </p:spPr>
      </p:sp>
      <p:pic>
        <p:nvPicPr>
          <p:cNvPr id="8" name="Image 1" descr="/home/claude/work/icons/creditcard.png"/>
          <p:cNvPicPr>
            <a:picLocks noChangeAspect="1"/>
          </p:cNvPicPr>
          <p:nvPr/>
        </p:nvPicPr>
        <p:blipFill>
          <a:blip r:embed="rId4"/>
          <a:stretch>
            <a:fillRect/>
          </a:stretch>
        </p:blipFill>
        <p:spPr>
          <a:xfrm>
            <a:off x="1444752" y="2107692"/>
            <a:ext cx="265176" cy="265176"/>
          </a:xfrm>
          <a:prstGeom prst="rect">
            <a:avLst/>
          </a:prstGeom>
        </p:spPr>
      </p:pic>
      <p:sp>
        <p:nvSpPr>
          <p:cNvPr id="9" name="Text 5"/>
          <p:cNvSpPr/>
          <p:nvPr/>
        </p:nvSpPr>
        <p:spPr>
          <a:xfrm>
            <a:off x="640080" y="2743200"/>
            <a:ext cx="1874520" cy="685800"/>
          </a:xfrm>
          <a:prstGeom prst="rect">
            <a:avLst/>
          </a:prstGeom>
          <a:noFill/>
          <a:ln/>
        </p:spPr>
        <p:txBody>
          <a:bodyPr wrap="square" rtlCol="0" anchor="ctr"/>
          <a:lstStyle/>
          <a:p>
            <a:pPr marL="0" indent="0">
              <a:lnSpc>
                <a:spcPct val="115000"/>
              </a:lnSpc>
              <a:buNone/>
            </a:pPr>
            <a:r>
              <a:rPr lang="en-US" sz="1150" b="1" dirty="0">
                <a:solidFill>
                  <a:srgbClr val="121826"/>
                </a:solidFill>
                <a:latin typeface="Calibri" pitchFamily="34" charset="0"/>
                <a:ea typeface="Calibri" pitchFamily="34" charset="-122"/>
                <a:cs typeface="Calibri" pitchFamily="34" charset="-120"/>
              </a:rPr>
              <a:t>Secure online payments</a:t>
            </a:r>
            <a:endParaRPr lang="en-US" sz="1150" dirty="0"/>
          </a:p>
        </p:txBody>
      </p:sp>
      <p:sp>
        <p:nvSpPr>
          <p:cNvPr id="10" name="Text 6"/>
          <p:cNvSpPr/>
          <p:nvPr/>
        </p:nvSpPr>
        <p:spPr>
          <a:xfrm>
            <a:off x="640080" y="3474720"/>
            <a:ext cx="1874520" cy="2286000"/>
          </a:xfrm>
          <a:prstGeom prst="rect">
            <a:avLst/>
          </a:prstGeom>
          <a:noFill/>
          <a:ln/>
        </p:spPr>
        <p:txBody>
          <a:bodyPr wrap="square" rtlCol="0" anchor="ctr"/>
          <a:lstStyle/>
          <a:p>
            <a:pPr marL="0" indent="0">
              <a:lnSpc>
                <a:spcPct val="125000"/>
              </a:lnSpc>
              <a:buNone/>
            </a:pPr>
            <a:r>
              <a:rPr lang="en-US" sz="970" dirty="0">
                <a:solidFill>
                  <a:srgbClr val="5B6472"/>
                </a:solidFill>
                <a:latin typeface="Calibri" pitchFamily="34" charset="0"/>
                <a:ea typeface="Calibri" pitchFamily="34" charset="-122"/>
                <a:cs typeface="Calibri" pitchFamily="34" charset="-120"/>
              </a:rPr>
              <a:t>Integrated Stripe's checkout API with server-side invoice reconciliation, keeping card data off our servers entirely.</a:t>
            </a:r>
            <a:endParaRPr lang="en-US" sz="970" dirty="0"/>
          </a:p>
        </p:txBody>
      </p:sp>
      <p:sp>
        <p:nvSpPr>
          <p:cNvPr id="11" name="Shape 7"/>
          <p:cNvSpPr/>
          <p:nvPr/>
        </p:nvSpPr>
        <p:spPr>
          <a:xfrm>
            <a:off x="2834640" y="1691640"/>
            <a:ext cx="2148840" cy="4160520"/>
          </a:xfrm>
          <a:prstGeom prst="roundRect">
            <a:avLst>
              <a:gd name="adj" fmla="val 3404"/>
            </a:avLst>
          </a:prstGeom>
          <a:solidFill>
            <a:srgbClr val="1F2A3D"/>
          </a:solidFill>
          <a:ln w="12700">
            <a:solidFill>
              <a:srgbClr val="D7DCE3"/>
            </a:solidFill>
            <a:prstDash val="solid"/>
          </a:ln>
        </p:spPr>
      </p:sp>
      <p:sp>
        <p:nvSpPr>
          <p:cNvPr id="12" name="Shape 8"/>
          <p:cNvSpPr/>
          <p:nvPr/>
        </p:nvSpPr>
        <p:spPr>
          <a:xfrm>
            <a:off x="3634740" y="1965960"/>
            <a:ext cx="548640" cy="548640"/>
          </a:xfrm>
          <a:prstGeom prst="ellipse">
            <a:avLst/>
          </a:prstGeom>
          <a:solidFill>
            <a:srgbClr val="D7FF3D"/>
          </a:solidFill>
          <a:ln/>
        </p:spPr>
      </p:sp>
      <p:pic>
        <p:nvPicPr>
          <p:cNvPr id="13" name="Image 2" descr="/home/claude/work/icons/calendar_navy.png"/>
          <p:cNvPicPr>
            <a:picLocks noChangeAspect="1"/>
          </p:cNvPicPr>
          <p:nvPr/>
        </p:nvPicPr>
        <p:blipFill>
          <a:blip r:embed="rId5"/>
          <a:stretch>
            <a:fillRect/>
          </a:stretch>
        </p:blipFill>
        <p:spPr>
          <a:xfrm>
            <a:off x="3776472" y="2107692"/>
            <a:ext cx="265176" cy="265176"/>
          </a:xfrm>
          <a:prstGeom prst="rect">
            <a:avLst/>
          </a:prstGeom>
        </p:spPr>
      </p:pic>
      <p:sp>
        <p:nvSpPr>
          <p:cNvPr id="14" name="Text 9"/>
          <p:cNvSpPr/>
          <p:nvPr/>
        </p:nvSpPr>
        <p:spPr>
          <a:xfrm>
            <a:off x="2971800" y="2743200"/>
            <a:ext cx="1874520" cy="685800"/>
          </a:xfrm>
          <a:prstGeom prst="rect">
            <a:avLst/>
          </a:prstGeom>
          <a:noFill/>
          <a:ln/>
        </p:spPr>
        <p:txBody>
          <a:bodyPr wrap="square"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Trainer &amp; booking conflicts</a:t>
            </a:r>
            <a:endParaRPr lang="en-US" sz="1150" dirty="0"/>
          </a:p>
        </p:txBody>
      </p:sp>
      <p:sp>
        <p:nvSpPr>
          <p:cNvPr id="15" name="Text 10"/>
          <p:cNvSpPr/>
          <p:nvPr/>
        </p:nvSpPr>
        <p:spPr>
          <a:xfrm>
            <a:off x="2971800" y="3474720"/>
            <a:ext cx="1874520" cy="2286000"/>
          </a:xfrm>
          <a:prstGeom prst="rect">
            <a:avLst/>
          </a:prstGeom>
          <a:noFill/>
          <a:ln/>
        </p:spPr>
        <p:txBody>
          <a:bodyPr wrap="square" rtlCol="0" anchor="ctr"/>
          <a:lstStyle/>
          <a:p>
            <a:pPr marL="0" indent="0">
              <a:lnSpc>
                <a:spcPct val="125000"/>
              </a:lnSpc>
              <a:buNone/>
            </a:pPr>
            <a:r>
              <a:rPr lang="en-US" sz="970" dirty="0">
                <a:solidFill>
                  <a:srgbClr val="AAB4C4"/>
                </a:solidFill>
                <a:latin typeface="Calibri" pitchFamily="34" charset="0"/>
                <a:ea typeface="Calibri" pitchFamily="34" charset="-122"/>
                <a:cs typeface="Calibri" pitchFamily="34" charset="-120"/>
              </a:rPr>
              <a:t>Working-hour records combined with capacity checks in the booking service prevent any double-booking.</a:t>
            </a:r>
            <a:endParaRPr lang="en-US" sz="970" dirty="0"/>
          </a:p>
        </p:txBody>
      </p:sp>
      <p:sp>
        <p:nvSpPr>
          <p:cNvPr id="16" name="Shape 11"/>
          <p:cNvSpPr/>
          <p:nvPr/>
        </p:nvSpPr>
        <p:spPr>
          <a:xfrm>
            <a:off x="5166360" y="1691640"/>
            <a:ext cx="2148840" cy="4160520"/>
          </a:xfrm>
          <a:prstGeom prst="roundRect">
            <a:avLst>
              <a:gd name="adj" fmla="val 3404"/>
            </a:avLst>
          </a:prstGeom>
          <a:solidFill>
            <a:srgbClr val="FFFFFF"/>
          </a:solidFill>
          <a:ln w="12700">
            <a:solidFill>
              <a:srgbClr val="D7DCE3"/>
            </a:solidFill>
            <a:prstDash val="solid"/>
          </a:ln>
        </p:spPr>
      </p:sp>
      <p:sp>
        <p:nvSpPr>
          <p:cNvPr id="17" name="Shape 12"/>
          <p:cNvSpPr/>
          <p:nvPr/>
        </p:nvSpPr>
        <p:spPr>
          <a:xfrm>
            <a:off x="5966460" y="1965960"/>
            <a:ext cx="548640" cy="548640"/>
          </a:xfrm>
          <a:prstGeom prst="ellipse">
            <a:avLst/>
          </a:prstGeom>
          <a:solidFill>
            <a:srgbClr val="121826"/>
          </a:solidFill>
          <a:ln/>
        </p:spPr>
      </p:sp>
      <p:pic>
        <p:nvPicPr>
          <p:cNvPr id="18" name="Image 3" descr="/home/claude/work/icons/qrcode.png"/>
          <p:cNvPicPr>
            <a:picLocks noChangeAspect="1"/>
          </p:cNvPicPr>
          <p:nvPr/>
        </p:nvPicPr>
        <p:blipFill>
          <a:blip r:embed="rId6"/>
          <a:stretch>
            <a:fillRect/>
          </a:stretch>
        </p:blipFill>
        <p:spPr>
          <a:xfrm>
            <a:off x="6108192" y="2107692"/>
            <a:ext cx="265176" cy="265176"/>
          </a:xfrm>
          <a:prstGeom prst="rect">
            <a:avLst/>
          </a:prstGeom>
        </p:spPr>
      </p:pic>
      <p:sp>
        <p:nvSpPr>
          <p:cNvPr id="19" name="Text 13"/>
          <p:cNvSpPr/>
          <p:nvPr/>
        </p:nvSpPr>
        <p:spPr>
          <a:xfrm>
            <a:off x="5303520" y="2743200"/>
            <a:ext cx="1874520" cy="685800"/>
          </a:xfrm>
          <a:prstGeom prst="rect">
            <a:avLst/>
          </a:prstGeom>
          <a:noFill/>
          <a:ln/>
        </p:spPr>
        <p:txBody>
          <a:bodyPr wrap="square" rtlCol="0" anchor="ctr"/>
          <a:lstStyle/>
          <a:p>
            <a:pPr marL="0" indent="0">
              <a:lnSpc>
                <a:spcPct val="115000"/>
              </a:lnSpc>
              <a:buNone/>
            </a:pPr>
            <a:r>
              <a:rPr lang="en-US" sz="1150" b="1" dirty="0">
                <a:solidFill>
                  <a:srgbClr val="121826"/>
                </a:solidFill>
                <a:latin typeface="Calibri" pitchFamily="34" charset="0"/>
                <a:ea typeface="Calibri" pitchFamily="34" charset="-122"/>
                <a:cs typeface="Calibri" pitchFamily="34" charset="-120"/>
              </a:rPr>
              <a:t>Attendance without hardware</a:t>
            </a:r>
            <a:endParaRPr lang="en-US" sz="1150" dirty="0"/>
          </a:p>
        </p:txBody>
      </p:sp>
      <p:sp>
        <p:nvSpPr>
          <p:cNvPr id="20" name="Text 14"/>
          <p:cNvSpPr/>
          <p:nvPr/>
        </p:nvSpPr>
        <p:spPr>
          <a:xfrm>
            <a:off x="5303520" y="3474720"/>
            <a:ext cx="1874520" cy="2286000"/>
          </a:xfrm>
          <a:prstGeom prst="rect">
            <a:avLst/>
          </a:prstGeom>
          <a:noFill/>
          <a:ln/>
        </p:spPr>
        <p:txBody>
          <a:bodyPr wrap="square" rtlCol="0" anchor="ctr"/>
          <a:lstStyle/>
          <a:p>
            <a:pPr marL="0" indent="0">
              <a:lnSpc>
                <a:spcPct val="125000"/>
              </a:lnSpc>
              <a:buNone/>
            </a:pPr>
            <a:r>
              <a:rPr lang="en-US" sz="970" dirty="0">
                <a:solidFill>
                  <a:srgbClr val="5B6472"/>
                </a:solidFill>
                <a:latin typeface="Calibri" pitchFamily="34" charset="0"/>
                <a:ea typeface="Calibri" pitchFamily="34" charset="-122"/>
                <a:cs typeface="Calibri" pitchFamily="34" charset="-120"/>
              </a:rPr>
              <a:t>QR-code check-in tied to each member's profile — no biometric or RFID hardware required.</a:t>
            </a:r>
            <a:endParaRPr lang="en-US" sz="970" dirty="0"/>
          </a:p>
        </p:txBody>
      </p:sp>
      <p:sp>
        <p:nvSpPr>
          <p:cNvPr id="21" name="Shape 15"/>
          <p:cNvSpPr/>
          <p:nvPr/>
        </p:nvSpPr>
        <p:spPr>
          <a:xfrm>
            <a:off x="7498080" y="1691640"/>
            <a:ext cx="2148840" cy="4160520"/>
          </a:xfrm>
          <a:prstGeom prst="roundRect">
            <a:avLst>
              <a:gd name="adj" fmla="val 3404"/>
            </a:avLst>
          </a:prstGeom>
          <a:solidFill>
            <a:srgbClr val="1F2A3D"/>
          </a:solidFill>
          <a:ln w="12700">
            <a:solidFill>
              <a:srgbClr val="D7DCE3"/>
            </a:solidFill>
            <a:prstDash val="solid"/>
          </a:ln>
        </p:spPr>
      </p:sp>
      <p:sp>
        <p:nvSpPr>
          <p:cNvPr id="22" name="Shape 16"/>
          <p:cNvSpPr/>
          <p:nvPr/>
        </p:nvSpPr>
        <p:spPr>
          <a:xfrm>
            <a:off x="8298180" y="1965960"/>
            <a:ext cx="548640" cy="548640"/>
          </a:xfrm>
          <a:prstGeom prst="ellipse">
            <a:avLst/>
          </a:prstGeom>
          <a:solidFill>
            <a:srgbClr val="D7FF3D"/>
          </a:solidFill>
          <a:ln/>
        </p:spPr>
      </p:sp>
      <p:pic>
        <p:nvPicPr>
          <p:cNvPr id="23" name="Image 4" descr="/home/claude/work/icons/clipboard_navy.png"/>
          <p:cNvPicPr>
            <a:picLocks noChangeAspect="1"/>
          </p:cNvPicPr>
          <p:nvPr/>
        </p:nvPicPr>
        <p:blipFill>
          <a:blip r:embed="rId7"/>
          <a:stretch>
            <a:fillRect/>
          </a:stretch>
        </p:blipFill>
        <p:spPr>
          <a:xfrm>
            <a:off x="8439912" y="2107692"/>
            <a:ext cx="265176" cy="265176"/>
          </a:xfrm>
          <a:prstGeom prst="rect">
            <a:avLst/>
          </a:prstGeom>
        </p:spPr>
      </p:pic>
      <p:sp>
        <p:nvSpPr>
          <p:cNvPr id="24" name="Text 17"/>
          <p:cNvSpPr/>
          <p:nvPr/>
        </p:nvSpPr>
        <p:spPr>
          <a:xfrm>
            <a:off x="7635240" y="2743200"/>
            <a:ext cx="1874520" cy="685800"/>
          </a:xfrm>
          <a:prstGeom prst="rect">
            <a:avLst/>
          </a:prstGeom>
          <a:noFill/>
          <a:ln/>
        </p:spPr>
        <p:txBody>
          <a:bodyPr wrap="square" rtlCol="0" anchor="ctr"/>
          <a:lstStyle/>
          <a:p>
            <a:pPr marL="0" indent="0">
              <a:lnSpc>
                <a:spcPct val="115000"/>
              </a:lnSpc>
              <a:buNone/>
            </a:pPr>
            <a:r>
              <a:rPr lang="en-US" sz="1150" b="1" dirty="0">
                <a:solidFill>
                  <a:srgbClr val="FFFFFF"/>
                </a:solidFill>
                <a:latin typeface="Calibri" pitchFamily="34" charset="0"/>
                <a:ea typeface="Calibri" pitchFamily="34" charset="-122"/>
                <a:cs typeface="Calibri" pitchFamily="34" charset="-120"/>
              </a:rPr>
              <a:t>Traceable data changes</a:t>
            </a:r>
            <a:endParaRPr lang="en-US" sz="1150" dirty="0"/>
          </a:p>
        </p:txBody>
      </p:sp>
      <p:sp>
        <p:nvSpPr>
          <p:cNvPr id="25" name="Text 18"/>
          <p:cNvSpPr/>
          <p:nvPr/>
        </p:nvSpPr>
        <p:spPr>
          <a:xfrm>
            <a:off x="7635240" y="3474720"/>
            <a:ext cx="1874520" cy="2286000"/>
          </a:xfrm>
          <a:prstGeom prst="rect">
            <a:avLst/>
          </a:prstGeom>
          <a:noFill/>
          <a:ln/>
        </p:spPr>
        <p:txBody>
          <a:bodyPr wrap="square" rtlCol="0" anchor="ctr"/>
          <a:lstStyle/>
          <a:p>
            <a:pPr marL="0" indent="0">
              <a:lnSpc>
                <a:spcPct val="125000"/>
              </a:lnSpc>
              <a:buNone/>
            </a:pPr>
            <a:r>
              <a:rPr lang="en-US" sz="970" dirty="0">
                <a:solidFill>
                  <a:srgbClr val="AAB4C4"/>
                </a:solidFill>
                <a:latin typeface="Calibri" pitchFamily="34" charset="0"/>
                <a:ea typeface="Calibri" pitchFamily="34" charset="-122"/>
                <a:cs typeface="Calibri" pitchFamily="34" charset="-120"/>
              </a:rPr>
              <a:t>A dedicated audit-log layer records every entity, action and before/after value across the system.</a:t>
            </a:r>
            <a:endParaRPr lang="en-US" sz="970" dirty="0"/>
          </a:p>
        </p:txBody>
      </p:sp>
      <p:sp>
        <p:nvSpPr>
          <p:cNvPr id="26" name="Shape 19"/>
          <p:cNvSpPr/>
          <p:nvPr/>
        </p:nvSpPr>
        <p:spPr>
          <a:xfrm>
            <a:off x="9829800" y="1691640"/>
            <a:ext cx="2148840" cy="4160520"/>
          </a:xfrm>
          <a:prstGeom prst="roundRect">
            <a:avLst>
              <a:gd name="adj" fmla="val 3404"/>
            </a:avLst>
          </a:prstGeom>
          <a:solidFill>
            <a:srgbClr val="FFFFFF"/>
          </a:solidFill>
          <a:ln w="12700">
            <a:solidFill>
              <a:srgbClr val="D7DCE3"/>
            </a:solidFill>
            <a:prstDash val="solid"/>
          </a:ln>
        </p:spPr>
      </p:sp>
      <p:sp>
        <p:nvSpPr>
          <p:cNvPr id="27" name="Shape 20"/>
          <p:cNvSpPr/>
          <p:nvPr/>
        </p:nvSpPr>
        <p:spPr>
          <a:xfrm>
            <a:off x="10629900" y="1965960"/>
            <a:ext cx="548640" cy="548640"/>
          </a:xfrm>
          <a:prstGeom prst="ellipse">
            <a:avLst/>
          </a:prstGeom>
          <a:solidFill>
            <a:srgbClr val="121826"/>
          </a:solidFill>
          <a:ln/>
        </p:spPr>
      </p:sp>
      <p:pic>
        <p:nvPicPr>
          <p:cNvPr id="28" name="Image 5" descr="/home/claude/work/icons/clock.png"/>
          <p:cNvPicPr>
            <a:picLocks noChangeAspect="1"/>
          </p:cNvPicPr>
          <p:nvPr/>
        </p:nvPicPr>
        <p:blipFill>
          <a:blip r:embed="rId8"/>
          <a:stretch>
            <a:fillRect/>
          </a:stretch>
        </p:blipFill>
        <p:spPr>
          <a:xfrm>
            <a:off x="10771632" y="2107692"/>
            <a:ext cx="265176" cy="265176"/>
          </a:xfrm>
          <a:prstGeom prst="rect">
            <a:avLst/>
          </a:prstGeom>
        </p:spPr>
      </p:pic>
      <p:sp>
        <p:nvSpPr>
          <p:cNvPr id="29" name="Text 21"/>
          <p:cNvSpPr/>
          <p:nvPr/>
        </p:nvSpPr>
        <p:spPr>
          <a:xfrm>
            <a:off x="9966960" y="2743200"/>
            <a:ext cx="1874520" cy="685800"/>
          </a:xfrm>
          <a:prstGeom prst="rect">
            <a:avLst/>
          </a:prstGeom>
          <a:noFill/>
          <a:ln/>
        </p:spPr>
        <p:txBody>
          <a:bodyPr wrap="square" rtlCol="0" anchor="ctr"/>
          <a:lstStyle/>
          <a:p>
            <a:pPr marL="0" indent="0">
              <a:lnSpc>
                <a:spcPct val="115000"/>
              </a:lnSpc>
              <a:buNone/>
            </a:pPr>
            <a:r>
              <a:rPr lang="en-US" sz="1150" b="1" dirty="0">
                <a:solidFill>
                  <a:srgbClr val="121826"/>
                </a:solidFill>
                <a:latin typeface="Calibri" pitchFamily="34" charset="0"/>
                <a:ea typeface="Calibri" pitchFamily="34" charset="-122"/>
                <a:cs typeface="Calibri" pitchFamily="34" charset="-120"/>
              </a:rPr>
              <a:t>Reliable scheduled tasks</a:t>
            </a:r>
            <a:endParaRPr lang="en-US" sz="1150" dirty="0"/>
          </a:p>
        </p:txBody>
      </p:sp>
      <p:sp>
        <p:nvSpPr>
          <p:cNvPr id="30" name="Text 22"/>
          <p:cNvSpPr/>
          <p:nvPr/>
        </p:nvSpPr>
        <p:spPr>
          <a:xfrm>
            <a:off x="9966960" y="3474720"/>
            <a:ext cx="1874520" cy="2286000"/>
          </a:xfrm>
          <a:prstGeom prst="rect">
            <a:avLst/>
          </a:prstGeom>
          <a:noFill/>
          <a:ln/>
        </p:spPr>
        <p:txBody>
          <a:bodyPr wrap="square" rtlCol="0" anchor="ctr"/>
          <a:lstStyle/>
          <a:p>
            <a:pPr marL="0" indent="0">
              <a:lnSpc>
                <a:spcPct val="125000"/>
              </a:lnSpc>
              <a:buNone/>
            </a:pPr>
            <a:r>
              <a:rPr lang="en-US" sz="970" dirty="0">
                <a:solidFill>
                  <a:srgbClr val="5B6472"/>
                </a:solidFill>
                <a:latin typeface="Calibri" pitchFamily="34" charset="0"/>
                <a:ea typeface="Calibri" pitchFamily="34" charset="-122"/>
                <a:cs typeface="Calibri" pitchFamily="34" charset="-120"/>
              </a:rPr>
              <a:t>Hangfire handles background jobs — renewals, reminders and expirations — backed by SQL Server storage.</a:t>
            </a:r>
            <a:endParaRPr lang="en-US" sz="970" dirty="0"/>
          </a:p>
        </p:txBody>
      </p:sp>
      <p:sp>
        <p:nvSpPr>
          <p:cNvPr id="31" name="Text 23"/>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121826"/>
        </a:solidFill>
        <a:effectLst/>
      </p:bgPr>
    </p:bg>
    <p:spTree>
      <p:nvGrpSpPr>
        <p:cNvPr id="1" name=""/>
        <p:cNvGrpSpPr/>
        <p:nvPr/>
      </p:nvGrpSpPr>
      <p:grpSpPr>
        <a:xfrm>
          <a:off x="0" y="0"/>
          <a:ext cx="0" cy="0"/>
          <a:chOff x="0" y="0"/>
          <a:chExt cx="0" cy="0"/>
        </a:xfrm>
      </p:grpSpPr>
      <p:sp>
        <p:nvSpPr>
          <p:cNvPr id="2" name="Text 0"/>
          <p:cNvSpPr/>
          <p:nvPr/>
        </p:nvSpPr>
        <p:spPr>
          <a:xfrm>
            <a:off x="502920" y="384048"/>
            <a:ext cx="5486400" cy="320040"/>
          </a:xfrm>
          <a:prstGeom prst="rect">
            <a:avLst/>
          </a:prstGeom>
          <a:noFill/>
          <a:ln/>
        </p:spPr>
        <p:txBody>
          <a:bodyPr wrap="square" rtlCol="0" anchor="ctr"/>
          <a:lstStyle/>
          <a:p>
            <a:pPr marL="0" indent="0">
              <a:buNone/>
            </a:pPr>
            <a:r>
              <a:rPr lang="en-US" sz="1300" b="1" kern="0" spc="300" dirty="0">
                <a:solidFill>
                  <a:srgbClr val="D7FF3D"/>
                </a:solidFill>
                <a:latin typeface="Calibri" pitchFamily="34" charset="0"/>
                <a:ea typeface="Calibri" pitchFamily="34" charset="-122"/>
                <a:cs typeface="Calibri" pitchFamily="34" charset="-120"/>
              </a:rPr>
              <a:t>RESULTS</a:t>
            </a:r>
            <a:endParaRPr lang="en-US" sz="1300" dirty="0"/>
          </a:p>
        </p:txBody>
      </p:sp>
      <p:sp>
        <p:nvSpPr>
          <p:cNvPr id="3" name="Text 1"/>
          <p:cNvSpPr/>
          <p:nvPr/>
        </p:nvSpPr>
        <p:spPr>
          <a:xfrm>
            <a:off x="502920" y="777240"/>
            <a:ext cx="731520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Project Outcome</a:t>
            </a:r>
            <a:endParaRPr lang="en-US" sz="3000" dirty="0"/>
          </a:p>
        </p:txBody>
      </p:sp>
      <p:sp>
        <p:nvSpPr>
          <p:cNvPr id="4" name="Shape 2"/>
          <p:cNvSpPr/>
          <p:nvPr/>
        </p:nvSpPr>
        <p:spPr>
          <a:xfrm>
            <a:off x="502920" y="1600200"/>
            <a:ext cx="3520440" cy="1965960"/>
          </a:xfrm>
          <a:prstGeom prst="roundRect">
            <a:avLst>
              <a:gd name="adj" fmla="val 3721"/>
            </a:avLst>
          </a:prstGeom>
          <a:solidFill>
            <a:srgbClr val="1F2A3D"/>
          </a:solidFill>
          <a:ln/>
        </p:spPr>
      </p:sp>
      <p:sp>
        <p:nvSpPr>
          <p:cNvPr id="5" name="Shape 3"/>
          <p:cNvSpPr/>
          <p:nvPr/>
        </p:nvSpPr>
        <p:spPr>
          <a:xfrm>
            <a:off x="731520" y="1828800"/>
            <a:ext cx="502920" cy="502920"/>
          </a:xfrm>
          <a:prstGeom prst="ellipse">
            <a:avLst/>
          </a:prstGeom>
          <a:solidFill>
            <a:srgbClr val="D7FF3D"/>
          </a:solidFill>
          <a:ln/>
        </p:spPr>
      </p:sp>
      <p:pic>
        <p:nvPicPr>
          <p:cNvPr id="6" name="Image 0" descr="/home/claude/work/icons/layers_navy.png"/>
          <p:cNvPicPr>
            <a:picLocks noChangeAspect="1"/>
          </p:cNvPicPr>
          <p:nvPr/>
        </p:nvPicPr>
        <p:blipFill>
          <a:blip r:embed="rId3"/>
          <a:stretch>
            <a:fillRect/>
          </a:stretch>
        </p:blipFill>
        <p:spPr>
          <a:xfrm>
            <a:off x="859536" y="1956816"/>
            <a:ext cx="246888" cy="246888"/>
          </a:xfrm>
          <a:prstGeom prst="rect">
            <a:avLst/>
          </a:prstGeom>
        </p:spPr>
      </p:pic>
      <p:sp>
        <p:nvSpPr>
          <p:cNvPr id="7" name="Text 4"/>
          <p:cNvSpPr/>
          <p:nvPr/>
        </p:nvSpPr>
        <p:spPr>
          <a:xfrm>
            <a:off x="731520" y="2441448"/>
            <a:ext cx="3063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Full layered Web API</a:t>
            </a:r>
            <a:endParaRPr lang="en-US" sz="1300" dirty="0"/>
          </a:p>
        </p:txBody>
      </p:sp>
      <p:sp>
        <p:nvSpPr>
          <p:cNvPr id="8" name="Text 5"/>
          <p:cNvSpPr/>
          <p:nvPr/>
        </p:nvSpPr>
        <p:spPr>
          <a:xfrm>
            <a:off x="731520" y="2788920"/>
            <a:ext cx="3063240" cy="731520"/>
          </a:xfrm>
          <a:prstGeom prst="rect">
            <a:avLst/>
          </a:prstGeom>
          <a:noFill/>
          <a:ln/>
        </p:spPr>
        <p:txBody>
          <a:bodyPr wrap="square" rtlCol="0" anchor="ctr"/>
          <a:lstStyle/>
          <a:p>
            <a:pPr marL="0" indent="0">
              <a:lnSpc>
                <a:spcPct val="120000"/>
              </a:lnSpc>
              <a:buNone/>
            </a:pPr>
            <a:r>
              <a:rPr lang="en-US" sz="1000" dirty="0">
                <a:solidFill>
                  <a:srgbClr val="AAB4C4"/>
                </a:solidFill>
                <a:latin typeface="Calibri" pitchFamily="34" charset="0"/>
                <a:ea typeface="Calibri" pitchFamily="34" charset="-122"/>
                <a:cs typeface="Calibri" pitchFamily="34" charset="-120"/>
              </a:rPr>
              <a:t>API / BLL / DAL / Shared covering membership, booking, payments &amp; shop end-to-end.</a:t>
            </a:r>
            <a:endParaRPr lang="en-US" sz="1000" dirty="0"/>
          </a:p>
        </p:txBody>
      </p:sp>
      <p:sp>
        <p:nvSpPr>
          <p:cNvPr id="9" name="Shape 6"/>
          <p:cNvSpPr/>
          <p:nvPr/>
        </p:nvSpPr>
        <p:spPr>
          <a:xfrm>
            <a:off x="4251960" y="1600200"/>
            <a:ext cx="3520440" cy="1965960"/>
          </a:xfrm>
          <a:prstGeom prst="roundRect">
            <a:avLst>
              <a:gd name="adj" fmla="val 3721"/>
            </a:avLst>
          </a:prstGeom>
          <a:solidFill>
            <a:srgbClr val="1F2A3D"/>
          </a:solidFill>
          <a:ln/>
        </p:spPr>
      </p:sp>
      <p:sp>
        <p:nvSpPr>
          <p:cNvPr id="10" name="Shape 7"/>
          <p:cNvSpPr/>
          <p:nvPr/>
        </p:nvSpPr>
        <p:spPr>
          <a:xfrm>
            <a:off x="4480560" y="1828800"/>
            <a:ext cx="502920" cy="502920"/>
          </a:xfrm>
          <a:prstGeom prst="ellipse">
            <a:avLst/>
          </a:prstGeom>
          <a:solidFill>
            <a:srgbClr val="D7FF3D"/>
          </a:solidFill>
          <a:ln/>
        </p:spPr>
      </p:sp>
      <p:pic>
        <p:nvPicPr>
          <p:cNvPr id="11" name="Image 1" descr="/home/claude/work/icons/lock_navy.png"/>
          <p:cNvPicPr>
            <a:picLocks noChangeAspect="1"/>
          </p:cNvPicPr>
          <p:nvPr/>
        </p:nvPicPr>
        <p:blipFill>
          <a:blip r:embed="rId4"/>
          <a:stretch>
            <a:fillRect/>
          </a:stretch>
        </p:blipFill>
        <p:spPr>
          <a:xfrm>
            <a:off x="4608576" y="1956816"/>
            <a:ext cx="246888" cy="246888"/>
          </a:xfrm>
          <a:prstGeom prst="rect">
            <a:avLst/>
          </a:prstGeom>
        </p:spPr>
      </p:pic>
      <p:sp>
        <p:nvSpPr>
          <p:cNvPr id="12" name="Text 8"/>
          <p:cNvSpPr/>
          <p:nvPr/>
        </p:nvSpPr>
        <p:spPr>
          <a:xfrm>
            <a:off x="4480560" y="2441448"/>
            <a:ext cx="3063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Secure role-based access</a:t>
            </a:r>
            <a:endParaRPr lang="en-US" sz="1300" dirty="0"/>
          </a:p>
        </p:txBody>
      </p:sp>
      <p:sp>
        <p:nvSpPr>
          <p:cNvPr id="13" name="Text 9"/>
          <p:cNvSpPr/>
          <p:nvPr/>
        </p:nvSpPr>
        <p:spPr>
          <a:xfrm>
            <a:off x="4480560" y="2788920"/>
            <a:ext cx="3063240" cy="731520"/>
          </a:xfrm>
          <a:prstGeom prst="rect">
            <a:avLst/>
          </a:prstGeom>
          <a:noFill/>
          <a:ln/>
        </p:spPr>
        <p:txBody>
          <a:bodyPr wrap="square" rtlCol="0" anchor="ctr"/>
          <a:lstStyle/>
          <a:p>
            <a:pPr marL="0" indent="0">
              <a:lnSpc>
                <a:spcPct val="120000"/>
              </a:lnSpc>
              <a:buNone/>
            </a:pPr>
            <a:r>
              <a:rPr lang="en-US" sz="1000" dirty="0">
                <a:solidFill>
                  <a:srgbClr val="AAB4C4"/>
                </a:solidFill>
                <a:latin typeface="Calibri" pitchFamily="34" charset="0"/>
                <a:ea typeface="Calibri" pitchFamily="34" charset="-122"/>
                <a:cs typeface="Calibri" pitchFamily="34" charset="-120"/>
              </a:rPr>
              <a:t>JWT authentication with authorization across four distinct user roles.</a:t>
            </a:r>
            <a:endParaRPr lang="en-US" sz="1000" dirty="0"/>
          </a:p>
        </p:txBody>
      </p:sp>
      <p:sp>
        <p:nvSpPr>
          <p:cNvPr id="14" name="Shape 10"/>
          <p:cNvSpPr/>
          <p:nvPr/>
        </p:nvSpPr>
        <p:spPr>
          <a:xfrm>
            <a:off x="8001000" y="1600200"/>
            <a:ext cx="3520440" cy="1965960"/>
          </a:xfrm>
          <a:prstGeom prst="roundRect">
            <a:avLst>
              <a:gd name="adj" fmla="val 3721"/>
            </a:avLst>
          </a:prstGeom>
          <a:solidFill>
            <a:srgbClr val="1F2A3D"/>
          </a:solidFill>
          <a:ln/>
        </p:spPr>
      </p:sp>
      <p:sp>
        <p:nvSpPr>
          <p:cNvPr id="15" name="Shape 11"/>
          <p:cNvSpPr/>
          <p:nvPr/>
        </p:nvSpPr>
        <p:spPr>
          <a:xfrm>
            <a:off x="8229600" y="1828800"/>
            <a:ext cx="502920" cy="502920"/>
          </a:xfrm>
          <a:prstGeom prst="ellipse">
            <a:avLst/>
          </a:prstGeom>
          <a:solidFill>
            <a:srgbClr val="D7FF3D"/>
          </a:solidFill>
          <a:ln/>
        </p:spPr>
      </p:sp>
      <p:pic>
        <p:nvPicPr>
          <p:cNvPr id="16" name="Image 2" descr="/home/claude/work/icons/creditcard_navy.png"/>
          <p:cNvPicPr>
            <a:picLocks noChangeAspect="1"/>
          </p:cNvPicPr>
          <p:nvPr/>
        </p:nvPicPr>
        <p:blipFill>
          <a:blip r:embed="rId5"/>
          <a:stretch>
            <a:fillRect/>
          </a:stretch>
        </p:blipFill>
        <p:spPr>
          <a:xfrm>
            <a:off x="8357616" y="1956816"/>
            <a:ext cx="246888" cy="246888"/>
          </a:xfrm>
          <a:prstGeom prst="rect">
            <a:avLst/>
          </a:prstGeom>
        </p:spPr>
      </p:pic>
      <p:sp>
        <p:nvSpPr>
          <p:cNvPr id="17" name="Text 12"/>
          <p:cNvSpPr/>
          <p:nvPr/>
        </p:nvSpPr>
        <p:spPr>
          <a:xfrm>
            <a:off x="8229600" y="2441448"/>
            <a:ext cx="3063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Live payment flow</a:t>
            </a:r>
            <a:endParaRPr lang="en-US" sz="1300" dirty="0"/>
          </a:p>
        </p:txBody>
      </p:sp>
      <p:sp>
        <p:nvSpPr>
          <p:cNvPr id="18" name="Text 13"/>
          <p:cNvSpPr/>
          <p:nvPr/>
        </p:nvSpPr>
        <p:spPr>
          <a:xfrm>
            <a:off x="8229600" y="2788920"/>
            <a:ext cx="3063240" cy="731520"/>
          </a:xfrm>
          <a:prstGeom prst="rect">
            <a:avLst/>
          </a:prstGeom>
          <a:noFill/>
          <a:ln/>
        </p:spPr>
        <p:txBody>
          <a:bodyPr wrap="square" rtlCol="0" anchor="ctr"/>
          <a:lstStyle/>
          <a:p>
            <a:pPr marL="0" indent="0">
              <a:lnSpc>
                <a:spcPct val="120000"/>
              </a:lnSpc>
              <a:buNone/>
            </a:pPr>
            <a:r>
              <a:rPr lang="en-US" sz="1000" dirty="0">
                <a:solidFill>
                  <a:srgbClr val="AAB4C4"/>
                </a:solidFill>
                <a:latin typeface="Calibri" pitchFamily="34" charset="0"/>
                <a:ea typeface="Calibri" pitchFamily="34" charset="-122"/>
                <a:cs typeface="Calibri" pitchFamily="34" charset="-120"/>
              </a:rPr>
              <a:t>Stripe checkout integrated with automatic invoice generation.</a:t>
            </a:r>
            <a:endParaRPr lang="en-US" sz="1000" dirty="0"/>
          </a:p>
        </p:txBody>
      </p:sp>
      <p:sp>
        <p:nvSpPr>
          <p:cNvPr id="19" name="Shape 14"/>
          <p:cNvSpPr/>
          <p:nvPr/>
        </p:nvSpPr>
        <p:spPr>
          <a:xfrm>
            <a:off x="502920" y="3794760"/>
            <a:ext cx="3520440" cy="1965960"/>
          </a:xfrm>
          <a:prstGeom prst="roundRect">
            <a:avLst>
              <a:gd name="adj" fmla="val 3721"/>
            </a:avLst>
          </a:prstGeom>
          <a:solidFill>
            <a:srgbClr val="1F2A3D"/>
          </a:solidFill>
          <a:ln/>
        </p:spPr>
      </p:sp>
      <p:sp>
        <p:nvSpPr>
          <p:cNvPr id="20" name="Shape 15"/>
          <p:cNvSpPr/>
          <p:nvPr/>
        </p:nvSpPr>
        <p:spPr>
          <a:xfrm>
            <a:off x="731520" y="4023360"/>
            <a:ext cx="502920" cy="502920"/>
          </a:xfrm>
          <a:prstGeom prst="ellipse">
            <a:avLst/>
          </a:prstGeom>
          <a:solidFill>
            <a:srgbClr val="D7FF3D"/>
          </a:solidFill>
          <a:ln/>
        </p:spPr>
      </p:sp>
      <p:pic>
        <p:nvPicPr>
          <p:cNvPr id="21" name="Image 3" descr="/home/claude/work/icons/qrcode_navy.png"/>
          <p:cNvPicPr>
            <a:picLocks noChangeAspect="1"/>
          </p:cNvPicPr>
          <p:nvPr/>
        </p:nvPicPr>
        <p:blipFill>
          <a:blip r:embed="rId6"/>
          <a:stretch>
            <a:fillRect/>
          </a:stretch>
        </p:blipFill>
        <p:spPr>
          <a:xfrm>
            <a:off x="859536" y="4151376"/>
            <a:ext cx="246888" cy="246888"/>
          </a:xfrm>
          <a:prstGeom prst="rect">
            <a:avLst/>
          </a:prstGeom>
        </p:spPr>
      </p:pic>
      <p:sp>
        <p:nvSpPr>
          <p:cNvPr id="22" name="Text 16"/>
          <p:cNvSpPr/>
          <p:nvPr/>
        </p:nvSpPr>
        <p:spPr>
          <a:xfrm>
            <a:off x="731520" y="4636008"/>
            <a:ext cx="3063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QR attendance tracking</a:t>
            </a:r>
            <a:endParaRPr lang="en-US" sz="1300" dirty="0"/>
          </a:p>
        </p:txBody>
      </p:sp>
      <p:sp>
        <p:nvSpPr>
          <p:cNvPr id="23" name="Text 17"/>
          <p:cNvSpPr/>
          <p:nvPr/>
        </p:nvSpPr>
        <p:spPr>
          <a:xfrm>
            <a:off x="731520" y="4983480"/>
            <a:ext cx="3063240" cy="731520"/>
          </a:xfrm>
          <a:prstGeom prst="rect">
            <a:avLst/>
          </a:prstGeom>
          <a:noFill/>
          <a:ln/>
        </p:spPr>
        <p:txBody>
          <a:bodyPr wrap="square" rtlCol="0" anchor="ctr"/>
          <a:lstStyle/>
          <a:p>
            <a:pPr marL="0" indent="0">
              <a:lnSpc>
                <a:spcPct val="120000"/>
              </a:lnSpc>
              <a:buNone/>
            </a:pPr>
            <a:r>
              <a:rPr lang="en-US" sz="1000" dirty="0">
                <a:solidFill>
                  <a:srgbClr val="AAB4C4"/>
                </a:solidFill>
                <a:latin typeface="Calibri" pitchFamily="34" charset="0"/>
                <a:ea typeface="Calibri" pitchFamily="34" charset="-122"/>
                <a:cs typeface="Calibri" pitchFamily="34" charset="-120"/>
              </a:rPr>
              <a:t>Replaces manual sign-in sheets with a fast, trackable check-in flow.</a:t>
            </a:r>
            <a:endParaRPr lang="en-US" sz="1000" dirty="0"/>
          </a:p>
        </p:txBody>
      </p:sp>
      <p:sp>
        <p:nvSpPr>
          <p:cNvPr id="24" name="Shape 18"/>
          <p:cNvSpPr/>
          <p:nvPr/>
        </p:nvSpPr>
        <p:spPr>
          <a:xfrm>
            <a:off x="4251960" y="3794760"/>
            <a:ext cx="3520440" cy="1965960"/>
          </a:xfrm>
          <a:prstGeom prst="roundRect">
            <a:avLst>
              <a:gd name="adj" fmla="val 3721"/>
            </a:avLst>
          </a:prstGeom>
          <a:solidFill>
            <a:srgbClr val="1F2A3D"/>
          </a:solidFill>
          <a:ln/>
        </p:spPr>
      </p:sp>
      <p:sp>
        <p:nvSpPr>
          <p:cNvPr id="25" name="Shape 19"/>
          <p:cNvSpPr/>
          <p:nvPr/>
        </p:nvSpPr>
        <p:spPr>
          <a:xfrm>
            <a:off x="4480560" y="4023360"/>
            <a:ext cx="502920" cy="502920"/>
          </a:xfrm>
          <a:prstGeom prst="ellipse">
            <a:avLst/>
          </a:prstGeom>
          <a:solidFill>
            <a:srgbClr val="D7FF3D"/>
          </a:solidFill>
          <a:ln/>
        </p:spPr>
      </p:sp>
      <p:pic>
        <p:nvPicPr>
          <p:cNvPr id="26" name="Image 4" descr="/home/claude/work/icons/clipboard_navy.png"/>
          <p:cNvPicPr>
            <a:picLocks noChangeAspect="1"/>
          </p:cNvPicPr>
          <p:nvPr/>
        </p:nvPicPr>
        <p:blipFill>
          <a:blip r:embed="rId7"/>
          <a:stretch>
            <a:fillRect/>
          </a:stretch>
        </p:blipFill>
        <p:spPr>
          <a:xfrm>
            <a:off x="4608576" y="4151376"/>
            <a:ext cx="246888" cy="246888"/>
          </a:xfrm>
          <a:prstGeom prst="rect">
            <a:avLst/>
          </a:prstGeom>
        </p:spPr>
      </p:pic>
      <p:sp>
        <p:nvSpPr>
          <p:cNvPr id="27" name="Text 20"/>
          <p:cNvSpPr/>
          <p:nvPr/>
        </p:nvSpPr>
        <p:spPr>
          <a:xfrm>
            <a:off x="4480560" y="4636008"/>
            <a:ext cx="3063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Full audit trail</a:t>
            </a:r>
            <a:endParaRPr lang="en-US" sz="1300" dirty="0"/>
          </a:p>
        </p:txBody>
      </p:sp>
      <p:sp>
        <p:nvSpPr>
          <p:cNvPr id="28" name="Text 21"/>
          <p:cNvSpPr/>
          <p:nvPr/>
        </p:nvSpPr>
        <p:spPr>
          <a:xfrm>
            <a:off x="4480560" y="4983480"/>
            <a:ext cx="3063240" cy="731520"/>
          </a:xfrm>
          <a:prstGeom prst="rect">
            <a:avLst/>
          </a:prstGeom>
          <a:noFill/>
          <a:ln/>
        </p:spPr>
        <p:txBody>
          <a:bodyPr wrap="square" rtlCol="0" anchor="ctr"/>
          <a:lstStyle/>
          <a:p>
            <a:pPr marL="0" indent="0">
              <a:lnSpc>
                <a:spcPct val="120000"/>
              </a:lnSpc>
              <a:buNone/>
            </a:pPr>
            <a:r>
              <a:rPr lang="en-US" sz="1000" dirty="0">
                <a:solidFill>
                  <a:srgbClr val="AAB4C4"/>
                </a:solidFill>
                <a:latin typeface="Calibri" pitchFamily="34" charset="0"/>
                <a:ea typeface="Calibri" pitchFamily="34" charset="-122"/>
                <a:cs typeface="Calibri" pitchFamily="34" charset="-120"/>
              </a:rPr>
              <a:t>Every admin action logged for accountability across the dashboard.</a:t>
            </a:r>
            <a:endParaRPr lang="en-US" sz="1000" dirty="0"/>
          </a:p>
        </p:txBody>
      </p:sp>
      <p:sp>
        <p:nvSpPr>
          <p:cNvPr id="29" name="Shape 22"/>
          <p:cNvSpPr/>
          <p:nvPr/>
        </p:nvSpPr>
        <p:spPr>
          <a:xfrm>
            <a:off x="8001000" y="3794760"/>
            <a:ext cx="3520440" cy="1965960"/>
          </a:xfrm>
          <a:prstGeom prst="roundRect">
            <a:avLst>
              <a:gd name="adj" fmla="val 3721"/>
            </a:avLst>
          </a:prstGeom>
          <a:solidFill>
            <a:srgbClr val="1F2A3D"/>
          </a:solidFill>
          <a:ln/>
        </p:spPr>
      </p:sp>
      <p:sp>
        <p:nvSpPr>
          <p:cNvPr id="30" name="Shape 23"/>
          <p:cNvSpPr/>
          <p:nvPr/>
        </p:nvSpPr>
        <p:spPr>
          <a:xfrm>
            <a:off x="8229600" y="4023360"/>
            <a:ext cx="502920" cy="502920"/>
          </a:xfrm>
          <a:prstGeom prst="ellipse">
            <a:avLst/>
          </a:prstGeom>
          <a:solidFill>
            <a:srgbClr val="D7FF3D"/>
          </a:solidFill>
          <a:ln/>
        </p:spPr>
      </p:sp>
      <p:pic>
        <p:nvPicPr>
          <p:cNvPr id="31" name="Image 5" descr="/home/claude/work/icons/rocket_navy.png"/>
          <p:cNvPicPr>
            <a:picLocks noChangeAspect="1"/>
          </p:cNvPicPr>
          <p:nvPr/>
        </p:nvPicPr>
        <p:blipFill>
          <a:blip r:embed="rId8"/>
          <a:stretch>
            <a:fillRect/>
          </a:stretch>
        </p:blipFill>
        <p:spPr>
          <a:xfrm>
            <a:off x="8357616" y="4151376"/>
            <a:ext cx="246888" cy="246888"/>
          </a:xfrm>
          <a:prstGeom prst="rect">
            <a:avLst/>
          </a:prstGeom>
        </p:spPr>
      </p:pic>
      <p:sp>
        <p:nvSpPr>
          <p:cNvPr id="32" name="Text 24"/>
          <p:cNvSpPr/>
          <p:nvPr/>
        </p:nvSpPr>
        <p:spPr>
          <a:xfrm>
            <a:off x="8229600" y="4636008"/>
            <a:ext cx="30632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Ready to scale</a:t>
            </a:r>
            <a:endParaRPr lang="en-US" sz="1300" dirty="0"/>
          </a:p>
        </p:txBody>
      </p:sp>
      <p:sp>
        <p:nvSpPr>
          <p:cNvPr id="33" name="Text 25"/>
          <p:cNvSpPr/>
          <p:nvPr/>
        </p:nvSpPr>
        <p:spPr>
          <a:xfrm>
            <a:off x="8229600" y="4983480"/>
            <a:ext cx="3063240" cy="731520"/>
          </a:xfrm>
          <a:prstGeom prst="rect">
            <a:avLst/>
          </a:prstGeom>
          <a:noFill/>
          <a:ln/>
        </p:spPr>
        <p:txBody>
          <a:bodyPr wrap="square" rtlCol="0" anchor="ctr"/>
          <a:lstStyle/>
          <a:p>
            <a:pPr marL="0" indent="0">
              <a:lnSpc>
                <a:spcPct val="120000"/>
              </a:lnSpc>
              <a:buNone/>
            </a:pPr>
            <a:r>
              <a:rPr lang="en-US" sz="1000" dirty="0">
                <a:solidFill>
                  <a:srgbClr val="AAB4C4"/>
                </a:solidFill>
                <a:latin typeface="Calibri" pitchFamily="34" charset="0"/>
                <a:ea typeface="Calibri" pitchFamily="34" charset="-122"/>
                <a:cs typeface="Calibri" pitchFamily="34" charset="-120"/>
              </a:rPr>
              <a:t>Repository/service architecture built to support future modules with ease.</a:t>
            </a:r>
            <a:endParaRPr lang="en-US" sz="1000" dirty="0"/>
          </a:p>
        </p:txBody>
      </p:sp>
      <p:sp>
        <p:nvSpPr>
          <p:cNvPr id="34" name="Text 26"/>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AAB4C4"/>
                </a:solidFill>
                <a:latin typeface="Calibri" pitchFamily="34" charset="0"/>
                <a:ea typeface="Calibri" pitchFamily="34" charset="-122"/>
                <a:cs typeface="Calibri" pitchFamily="34" charset="-120"/>
              </a:rPr>
              <a:t>FITCORE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121826"/>
          </a:solidFill>
          <a:ln/>
        </p:spPr>
      </p:sp>
      <p:pic>
        <p:nvPicPr>
          <p:cNvPr id="3" name="Image 0" descr="/home/claude/work/icons/rocket_navy.png"/>
          <p:cNvPicPr>
            <a:picLocks noChangeAspect="1"/>
          </p:cNvPicPr>
          <p:nvPr/>
        </p:nvPicPr>
        <p:blipFill>
          <a:blip r:embed="rId3"/>
          <a:stretch>
            <a:fillRect/>
          </a:stretch>
        </p:blipFill>
        <p:spPr>
          <a:xfrm>
            <a:off x="649224" y="603504"/>
            <a:ext cx="274320" cy="274320"/>
          </a:xfrm>
          <a:prstGeom prst="rect">
            <a:avLst/>
          </a:prstGeom>
        </p:spPr>
      </p:pic>
      <p:sp>
        <p:nvSpPr>
          <p:cNvPr id="4" name="Text 1"/>
          <p:cNvSpPr/>
          <p:nvPr/>
        </p:nvSpPr>
        <p:spPr>
          <a:xfrm>
            <a:off x="1234440" y="420624"/>
            <a:ext cx="7315200" cy="274320"/>
          </a:xfrm>
          <a:prstGeom prst="rect">
            <a:avLst/>
          </a:prstGeom>
          <a:noFill/>
          <a:ln/>
        </p:spPr>
        <p:txBody>
          <a:bodyPr wrap="square" rtlCol="0" anchor="ctr"/>
          <a:lstStyle/>
          <a:p>
            <a:pPr marL="0" indent="0">
              <a:buNone/>
            </a:pPr>
            <a:r>
              <a:rPr lang="en-US" sz="1200" b="1" kern="0" spc="200" dirty="0">
                <a:solidFill>
                  <a:srgbClr val="9AAF2E"/>
                </a:solidFill>
                <a:latin typeface="Calibri" pitchFamily="34" charset="0"/>
                <a:ea typeface="Calibri" pitchFamily="34" charset="-122"/>
                <a:cs typeface="Calibri" pitchFamily="34" charset="-120"/>
              </a:rPr>
              <a:t>WHAT'S NEXT</a:t>
            </a:r>
            <a:endParaRPr lang="en-US" sz="1200" dirty="0"/>
          </a:p>
        </p:txBody>
      </p:sp>
      <p:sp>
        <p:nvSpPr>
          <p:cNvPr id="5" name="Text 2"/>
          <p:cNvSpPr/>
          <p:nvPr/>
        </p:nvSpPr>
        <p:spPr>
          <a:xfrm>
            <a:off x="1234440" y="658368"/>
            <a:ext cx="9601200" cy="548640"/>
          </a:xfrm>
          <a:prstGeom prst="rect">
            <a:avLst/>
          </a:prstGeom>
          <a:noFill/>
          <a:ln/>
        </p:spPr>
        <p:txBody>
          <a:bodyPr wrap="square" rtlCol="0" anchor="ctr"/>
          <a:lstStyle/>
          <a:p>
            <a:pPr marL="0" indent="0">
              <a:buNone/>
            </a:pPr>
            <a:r>
              <a:rPr lang="en-US" sz="3000" b="1" dirty="0">
                <a:solidFill>
                  <a:srgbClr val="121826"/>
                </a:solidFill>
                <a:latin typeface="Cambria" pitchFamily="34" charset="0"/>
                <a:ea typeface="Cambria" pitchFamily="34" charset="-122"/>
                <a:cs typeface="Cambria" pitchFamily="34" charset="-120"/>
              </a:rPr>
              <a:t>Future Work</a:t>
            </a:r>
            <a:endParaRPr lang="en-US" sz="3000" dirty="0"/>
          </a:p>
        </p:txBody>
      </p:sp>
      <p:sp>
        <p:nvSpPr>
          <p:cNvPr id="6" name="Shape 3"/>
          <p:cNvSpPr/>
          <p:nvPr/>
        </p:nvSpPr>
        <p:spPr>
          <a:xfrm>
            <a:off x="502920" y="1691640"/>
            <a:ext cx="10287000" cy="502920"/>
          </a:xfrm>
          <a:prstGeom prst="roundRect">
            <a:avLst>
              <a:gd name="adj" fmla="val 10909"/>
            </a:avLst>
          </a:prstGeom>
          <a:solidFill>
            <a:srgbClr val="FFFFFF"/>
          </a:solidFill>
          <a:ln w="9525">
            <a:solidFill>
              <a:srgbClr val="D7DCE3"/>
            </a:solidFill>
            <a:prstDash val="solid"/>
          </a:ln>
        </p:spPr>
      </p:sp>
      <p:sp>
        <p:nvSpPr>
          <p:cNvPr id="7" name="Shape 4"/>
          <p:cNvSpPr/>
          <p:nvPr/>
        </p:nvSpPr>
        <p:spPr>
          <a:xfrm>
            <a:off x="658368" y="1792224"/>
            <a:ext cx="301752" cy="301752"/>
          </a:xfrm>
          <a:prstGeom prst="ellipse">
            <a:avLst/>
          </a:prstGeom>
          <a:solidFill>
            <a:srgbClr val="121826"/>
          </a:solidFill>
          <a:ln/>
        </p:spPr>
      </p:sp>
      <p:sp>
        <p:nvSpPr>
          <p:cNvPr id="8" name="Text 5"/>
          <p:cNvSpPr/>
          <p:nvPr/>
        </p:nvSpPr>
        <p:spPr>
          <a:xfrm>
            <a:off x="658368" y="1792224"/>
            <a:ext cx="301752" cy="301752"/>
          </a:xfrm>
          <a:prstGeom prst="rect">
            <a:avLst/>
          </a:prstGeom>
          <a:noFill/>
          <a:ln/>
        </p:spPr>
        <p:txBody>
          <a:bodyPr wrap="square" rtlCol="0" anchor="ctr"/>
          <a:lstStyle/>
          <a:p>
            <a:pPr marL="0" indent="0" algn="ctr">
              <a:buNone/>
            </a:pPr>
            <a:r>
              <a:rPr lang="en-US" sz="1200" b="1" dirty="0">
                <a:solidFill>
                  <a:srgbClr val="D7FF3D"/>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1143000" y="1691640"/>
            <a:ext cx="9509760" cy="502920"/>
          </a:xfrm>
          <a:prstGeom prst="rect">
            <a:avLst/>
          </a:prstGeom>
          <a:noFill/>
          <a:ln/>
        </p:spPr>
        <p:txBody>
          <a:bodyPr wrap="square" rtlCol="0" anchor="ctr"/>
          <a:lstStyle/>
          <a:p>
            <a:pPr marL="0" indent="0">
              <a:buNone/>
            </a:pPr>
            <a:r>
              <a:rPr lang="en-US" sz="1250" dirty="0">
                <a:solidFill>
                  <a:srgbClr val="121826"/>
                </a:solidFill>
                <a:latin typeface="Calibri" pitchFamily="34" charset="0"/>
                <a:ea typeface="Calibri" pitchFamily="34" charset="-122"/>
                <a:cs typeface="Calibri" pitchFamily="34" charset="-120"/>
              </a:rPr>
              <a:t>Native mobile apps for members and trainers</a:t>
            </a:r>
            <a:endParaRPr lang="en-US" sz="1250" dirty="0"/>
          </a:p>
        </p:txBody>
      </p:sp>
      <p:sp>
        <p:nvSpPr>
          <p:cNvPr id="10" name="Shape 7"/>
          <p:cNvSpPr/>
          <p:nvPr/>
        </p:nvSpPr>
        <p:spPr>
          <a:xfrm>
            <a:off x="502920" y="2313432"/>
            <a:ext cx="10287000" cy="502920"/>
          </a:xfrm>
          <a:prstGeom prst="roundRect">
            <a:avLst>
              <a:gd name="adj" fmla="val 10909"/>
            </a:avLst>
          </a:prstGeom>
          <a:solidFill>
            <a:srgbClr val="EEF1FA"/>
          </a:solidFill>
          <a:ln w="9525">
            <a:solidFill>
              <a:srgbClr val="D7DCE3"/>
            </a:solidFill>
            <a:prstDash val="solid"/>
          </a:ln>
        </p:spPr>
      </p:sp>
      <p:sp>
        <p:nvSpPr>
          <p:cNvPr id="11" name="Shape 8"/>
          <p:cNvSpPr/>
          <p:nvPr/>
        </p:nvSpPr>
        <p:spPr>
          <a:xfrm>
            <a:off x="658368" y="2414016"/>
            <a:ext cx="301752" cy="301752"/>
          </a:xfrm>
          <a:prstGeom prst="ellipse">
            <a:avLst/>
          </a:prstGeom>
          <a:solidFill>
            <a:srgbClr val="121826"/>
          </a:solidFill>
          <a:ln/>
        </p:spPr>
      </p:sp>
      <p:sp>
        <p:nvSpPr>
          <p:cNvPr id="12" name="Text 9"/>
          <p:cNvSpPr/>
          <p:nvPr/>
        </p:nvSpPr>
        <p:spPr>
          <a:xfrm>
            <a:off x="658368" y="2414016"/>
            <a:ext cx="301752" cy="301752"/>
          </a:xfrm>
          <a:prstGeom prst="rect">
            <a:avLst/>
          </a:prstGeom>
          <a:noFill/>
          <a:ln/>
        </p:spPr>
        <p:txBody>
          <a:bodyPr wrap="square" rtlCol="0" anchor="ctr"/>
          <a:lstStyle/>
          <a:p>
            <a:pPr marL="0" indent="0" algn="ctr">
              <a:buNone/>
            </a:pPr>
            <a:r>
              <a:rPr lang="en-US" sz="1200" b="1" dirty="0">
                <a:solidFill>
                  <a:srgbClr val="D7FF3D"/>
                </a:solidFill>
                <a:latin typeface="Calibri" pitchFamily="34" charset="0"/>
                <a:ea typeface="Calibri" pitchFamily="34" charset="-122"/>
                <a:cs typeface="Calibri" pitchFamily="34" charset="-120"/>
              </a:rPr>
              <a:t>2</a:t>
            </a:r>
            <a:endParaRPr lang="en-US" sz="1200" dirty="0"/>
          </a:p>
        </p:txBody>
      </p:sp>
      <p:sp>
        <p:nvSpPr>
          <p:cNvPr id="13" name="Text 10"/>
          <p:cNvSpPr/>
          <p:nvPr/>
        </p:nvSpPr>
        <p:spPr>
          <a:xfrm>
            <a:off x="1143000" y="2313432"/>
            <a:ext cx="9509760" cy="502920"/>
          </a:xfrm>
          <a:prstGeom prst="rect">
            <a:avLst/>
          </a:prstGeom>
          <a:noFill/>
          <a:ln/>
        </p:spPr>
        <p:txBody>
          <a:bodyPr wrap="square" rtlCol="0" anchor="ctr"/>
          <a:lstStyle/>
          <a:p>
            <a:pPr marL="0" indent="0">
              <a:buNone/>
            </a:pPr>
            <a:r>
              <a:rPr lang="en-US" sz="1250" dirty="0">
                <a:solidFill>
                  <a:srgbClr val="121826"/>
                </a:solidFill>
                <a:latin typeface="Calibri" pitchFamily="34" charset="0"/>
                <a:ea typeface="Calibri" pitchFamily="34" charset="-122"/>
                <a:cs typeface="Calibri" pitchFamily="34" charset="-120"/>
              </a:rPr>
              <a:t>Multi-branch / multi-gym franchise support</a:t>
            </a:r>
            <a:endParaRPr lang="en-US" sz="1250" dirty="0"/>
          </a:p>
        </p:txBody>
      </p:sp>
      <p:sp>
        <p:nvSpPr>
          <p:cNvPr id="14" name="Shape 11"/>
          <p:cNvSpPr/>
          <p:nvPr/>
        </p:nvSpPr>
        <p:spPr>
          <a:xfrm>
            <a:off x="502920" y="2935224"/>
            <a:ext cx="10287000" cy="502920"/>
          </a:xfrm>
          <a:prstGeom prst="roundRect">
            <a:avLst>
              <a:gd name="adj" fmla="val 10909"/>
            </a:avLst>
          </a:prstGeom>
          <a:solidFill>
            <a:srgbClr val="FFFFFF"/>
          </a:solidFill>
          <a:ln w="9525">
            <a:solidFill>
              <a:srgbClr val="D7DCE3"/>
            </a:solidFill>
            <a:prstDash val="solid"/>
          </a:ln>
        </p:spPr>
      </p:sp>
      <p:sp>
        <p:nvSpPr>
          <p:cNvPr id="15" name="Shape 12"/>
          <p:cNvSpPr/>
          <p:nvPr/>
        </p:nvSpPr>
        <p:spPr>
          <a:xfrm>
            <a:off x="658368" y="3035808"/>
            <a:ext cx="301752" cy="301752"/>
          </a:xfrm>
          <a:prstGeom prst="ellipse">
            <a:avLst/>
          </a:prstGeom>
          <a:solidFill>
            <a:srgbClr val="121826"/>
          </a:solidFill>
          <a:ln/>
        </p:spPr>
      </p:sp>
      <p:sp>
        <p:nvSpPr>
          <p:cNvPr id="16" name="Text 13"/>
          <p:cNvSpPr/>
          <p:nvPr/>
        </p:nvSpPr>
        <p:spPr>
          <a:xfrm>
            <a:off x="658368" y="3035808"/>
            <a:ext cx="301752" cy="301752"/>
          </a:xfrm>
          <a:prstGeom prst="rect">
            <a:avLst/>
          </a:prstGeom>
          <a:noFill/>
          <a:ln/>
        </p:spPr>
        <p:txBody>
          <a:bodyPr wrap="square" rtlCol="0" anchor="ctr"/>
          <a:lstStyle/>
          <a:p>
            <a:pPr marL="0" indent="0" algn="ctr">
              <a:buNone/>
            </a:pPr>
            <a:r>
              <a:rPr lang="en-US" sz="1200" b="1" dirty="0">
                <a:solidFill>
                  <a:srgbClr val="D7FF3D"/>
                </a:solidFill>
                <a:latin typeface="Calibri" pitchFamily="34" charset="0"/>
                <a:ea typeface="Calibri" pitchFamily="34" charset="-122"/>
                <a:cs typeface="Calibri" pitchFamily="34" charset="-120"/>
              </a:rPr>
              <a:t>3</a:t>
            </a:r>
            <a:endParaRPr lang="en-US" sz="1200" dirty="0"/>
          </a:p>
        </p:txBody>
      </p:sp>
      <p:sp>
        <p:nvSpPr>
          <p:cNvPr id="17" name="Text 14"/>
          <p:cNvSpPr/>
          <p:nvPr/>
        </p:nvSpPr>
        <p:spPr>
          <a:xfrm>
            <a:off x="1143000" y="2935224"/>
            <a:ext cx="9509760" cy="502920"/>
          </a:xfrm>
          <a:prstGeom prst="rect">
            <a:avLst/>
          </a:prstGeom>
          <a:noFill/>
          <a:ln/>
        </p:spPr>
        <p:txBody>
          <a:bodyPr wrap="square" rtlCol="0" anchor="ctr"/>
          <a:lstStyle/>
          <a:p>
            <a:pPr marL="0" indent="0">
              <a:buNone/>
            </a:pPr>
            <a:r>
              <a:rPr lang="en-US" sz="1250" dirty="0">
                <a:solidFill>
                  <a:srgbClr val="121826"/>
                </a:solidFill>
                <a:latin typeface="Calibri" pitchFamily="34" charset="0"/>
                <a:ea typeface="Calibri" pitchFamily="34" charset="-122"/>
                <a:cs typeface="Calibri" pitchFamily="34" charset="-120"/>
              </a:rPr>
              <a:t>AI-driven workout and nutrition recommendations</a:t>
            </a:r>
            <a:endParaRPr lang="en-US" sz="1250" dirty="0"/>
          </a:p>
        </p:txBody>
      </p:sp>
      <p:sp>
        <p:nvSpPr>
          <p:cNvPr id="18" name="Shape 15"/>
          <p:cNvSpPr/>
          <p:nvPr/>
        </p:nvSpPr>
        <p:spPr>
          <a:xfrm>
            <a:off x="502920" y="3557016"/>
            <a:ext cx="10287000" cy="502920"/>
          </a:xfrm>
          <a:prstGeom prst="roundRect">
            <a:avLst>
              <a:gd name="adj" fmla="val 10909"/>
            </a:avLst>
          </a:prstGeom>
          <a:solidFill>
            <a:srgbClr val="EEF1FA"/>
          </a:solidFill>
          <a:ln w="9525">
            <a:solidFill>
              <a:srgbClr val="D7DCE3"/>
            </a:solidFill>
            <a:prstDash val="solid"/>
          </a:ln>
        </p:spPr>
      </p:sp>
      <p:sp>
        <p:nvSpPr>
          <p:cNvPr id="19" name="Shape 16"/>
          <p:cNvSpPr/>
          <p:nvPr/>
        </p:nvSpPr>
        <p:spPr>
          <a:xfrm>
            <a:off x="658368" y="3657600"/>
            <a:ext cx="301752" cy="301752"/>
          </a:xfrm>
          <a:prstGeom prst="ellipse">
            <a:avLst/>
          </a:prstGeom>
          <a:solidFill>
            <a:srgbClr val="121826"/>
          </a:solidFill>
          <a:ln/>
        </p:spPr>
      </p:sp>
      <p:sp>
        <p:nvSpPr>
          <p:cNvPr id="20" name="Text 17"/>
          <p:cNvSpPr/>
          <p:nvPr/>
        </p:nvSpPr>
        <p:spPr>
          <a:xfrm>
            <a:off x="658368" y="3657600"/>
            <a:ext cx="301752" cy="301752"/>
          </a:xfrm>
          <a:prstGeom prst="rect">
            <a:avLst/>
          </a:prstGeom>
          <a:noFill/>
          <a:ln/>
        </p:spPr>
        <p:txBody>
          <a:bodyPr wrap="square" rtlCol="0" anchor="ctr"/>
          <a:lstStyle/>
          <a:p>
            <a:pPr marL="0" indent="0" algn="ctr">
              <a:buNone/>
            </a:pPr>
            <a:r>
              <a:rPr lang="en-US" sz="1200" b="1" dirty="0">
                <a:solidFill>
                  <a:srgbClr val="D7FF3D"/>
                </a:solidFill>
                <a:latin typeface="Calibri" pitchFamily="34" charset="0"/>
                <a:ea typeface="Calibri" pitchFamily="34" charset="-122"/>
                <a:cs typeface="Calibri" pitchFamily="34" charset="-120"/>
              </a:rPr>
              <a:t>4</a:t>
            </a:r>
            <a:endParaRPr lang="en-US" sz="1200" dirty="0"/>
          </a:p>
        </p:txBody>
      </p:sp>
      <p:sp>
        <p:nvSpPr>
          <p:cNvPr id="21" name="Text 18"/>
          <p:cNvSpPr/>
          <p:nvPr/>
        </p:nvSpPr>
        <p:spPr>
          <a:xfrm>
            <a:off x="1143000" y="3557016"/>
            <a:ext cx="9509760" cy="502920"/>
          </a:xfrm>
          <a:prstGeom prst="rect">
            <a:avLst/>
          </a:prstGeom>
          <a:noFill/>
          <a:ln/>
        </p:spPr>
        <p:txBody>
          <a:bodyPr wrap="square" rtlCol="0" anchor="ctr"/>
          <a:lstStyle/>
          <a:p>
            <a:pPr marL="0" indent="0">
              <a:buNone/>
            </a:pPr>
            <a:r>
              <a:rPr lang="en-US" sz="1250" dirty="0">
                <a:solidFill>
                  <a:srgbClr val="121826"/>
                </a:solidFill>
                <a:latin typeface="Calibri" pitchFamily="34" charset="0"/>
                <a:ea typeface="Calibri" pitchFamily="34" charset="-122"/>
                <a:cs typeface="Calibri" pitchFamily="34" charset="-120"/>
              </a:rPr>
              <a:t>Wearable device integration (heart-rate, steps)</a:t>
            </a:r>
            <a:endParaRPr lang="en-US" sz="1250" dirty="0"/>
          </a:p>
        </p:txBody>
      </p:sp>
      <p:sp>
        <p:nvSpPr>
          <p:cNvPr id="22" name="Shape 19"/>
          <p:cNvSpPr/>
          <p:nvPr/>
        </p:nvSpPr>
        <p:spPr>
          <a:xfrm>
            <a:off x="502920" y="4178808"/>
            <a:ext cx="10287000" cy="502920"/>
          </a:xfrm>
          <a:prstGeom prst="roundRect">
            <a:avLst>
              <a:gd name="adj" fmla="val 10909"/>
            </a:avLst>
          </a:prstGeom>
          <a:solidFill>
            <a:srgbClr val="FFFFFF"/>
          </a:solidFill>
          <a:ln w="9525">
            <a:solidFill>
              <a:srgbClr val="D7DCE3"/>
            </a:solidFill>
            <a:prstDash val="solid"/>
          </a:ln>
        </p:spPr>
      </p:sp>
      <p:sp>
        <p:nvSpPr>
          <p:cNvPr id="23" name="Shape 20"/>
          <p:cNvSpPr/>
          <p:nvPr/>
        </p:nvSpPr>
        <p:spPr>
          <a:xfrm>
            <a:off x="658368" y="4279392"/>
            <a:ext cx="301752" cy="301752"/>
          </a:xfrm>
          <a:prstGeom prst="ellipse">
            <a:avLst/>
          </a:prstGeom>
          <a:solidFill>
            <a:srgbClr val="121826"/>
          </a:solidFill>
          <a:ln/>
        </p:spPr>
      </p:sp>
      <p:sp>
        <p:nvSpPr>
          <p:cNvPr id="24" name="Text 21"/>
          <p:cNvSpPr/>
          <p:nvPr/>
        </p:nvSpPr>
        <p:spPr>
          <a:xfrm>
            <a:off x="658368" y="4279392"/>
            <a:ext cx="301752" cy="301752"/>
          </a:xfrm>
          <a:prstGeom prst="rect">
            <a:avLst/>
          </a:prstGeom>
          <a:noFill/>
          <a:ln/>
        </p:spPr>
        <p:txBody>
          <a:bodyPr wrap="square" rtlCol="0" anchor="ctr"/>
          <a:lstStyle/>
          <a:p>
            <a:pPr marL="0" indent="0" algn="ctr">
              <a:buNone/>
            </a:pPr>
            <a:r>
              <a:rPr lang="en-US" sz="1200" b="1" dirty="0">
                <a:solidFill>
                  <a:srgbClr val="D7FF3D"/>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43000" y="4178808"/>
            <a:ext cx="9509760" cy="502920"/>
          </a:xfrm>
          <a:prstGeom prst="rect">
            <a:avLst/>
          </a:prstGeom>
          <a:noFill/>
          <a:ln/>
        </p:spPr>
        <p:txBody>
          <a:bodyPr wrap="square" rtlCol="0" anchor="ctr"/>
          <a:lstStyle/>
          <a:p>
            <a:pPr marL="0" indent="0">
              <a:buNone/>
            </a:pPr>
            <a:r>
              <a:rPr lang="en-US" sz="1250" dirty="0">
                <a:solidFill>
                  <a:srgbClr val="121826"/>
                </a:solidFill>
                <a:latin typeface="Calibri" pitchFamily="34" charset="0"/>
                <a:ea typeface="Calibri" pitchFamily="34" charset="-122"/>
                <a:cs typeface="Calibri" pitchFamily="34" charset="-120"/>
              </a:rPr>
              <a:t>Real-time in-app chat between members and trainers</a:t>
            </a:r>
            <a:endParaRPr lang="en-US" sz="1250" dirty="0"/>
          </a:p>
        </p:txBody>
      </p:sp>
      <p:sp>
        <p:nvSpPr>
          <p:cNvPr id="26" name="Shape 23"/>
          <p:cNvSpPr/>
          <p:nvPr/>
        </p:nvSpPr>
        <p:spPr>
          <a:xfrm>
            <a:off x="502920" y="4800600"/>
            <a:ext cx="10287000" cy="502920"/>
          </a:xfrm>
          <a:prstGeom prst="roundRect">
            <a:avLst>
              <a:gd name="adj" fmla="val 10909"/>
            </a:avLst>
          </a:prstGeom>
          <a:solidFill>
            <a:srgbClr val="EEF1FA"/>
          </a:solidFill>
          <a:ln w="9525">
            <a:solidFill>
              <a:srgbClr val="D7DCE3"/>
            </a:solidFill>
            <a:prstDash val="solid"/>
          </a:ln>
        </p:spPr>
      </p:sp>
      <p:sp>
        <p:nvSpPr>
          <p:cNvPr id="27" name="Shape 24"/>
          <p:cNvSpPr/>
          <p:nvPr/>
        </p:nvSpPr>
        <p:spPr>
          <a:xfrm>
            <a:off x="658368" y="4901184"/>
            <a:ext cx="301752" cy="301752"/>
          </a:xfrm>
          <a:prstGeom prst="ellipse">
            <a:avLst/>
          </a:prstGeom>
          <a:solidFill>
            <a:srgbClr val="121826"/>
          </a:solidFill>
          <a:ln/>
        </p:spPr>
      </p:sp>
      <p:sp>
        <p:nvSpPr>
          <p:cNvPr id="28" name="Text 25"/>
          <p:cNvSpPr/>
          <p:nvPr/>
        </p:nvSpPr>
        <p:spPr>
          <a:xfrm>
            <a:off x="658368" y="4901184"/>
            <a:ext cx="301752" cy="301752"/>
          </a:xfrm>
          <a:prstGeom prst="rect">
            <a:avLst/>
          </a:prstGeom>
          <a:noFill/>
          <a:ln/>
        </p:spPr>
        <p:txBody>
          <a:bodyPr wrap="square" rtlCol="0" anchor="ctr"/>
          <a:lstStyle/>
          <a:p>
            <a:pPr marL="0" indent="0" algn="ctr">
              <a:buNone/>
            </a:pPr>
            <a:r>
              <a:rPr lang="en-US" sz="1200" b="1" dirty="0">
                <a:solidFill>
                  <a:srgbClr val="D7FF3D"/>
                </a:solidFill>
                <a:latin typeface="Calibri" pitchFamily="34" charset="0"/>
                <a:ea typeface="Calibri" pitchFamily="34" charset="-122"/>
                <a:cs typeface="Calibri" pitchFamily="34" charset="-120"/>
              </a:rPr>
              <a:t>6</a:t>
            </a:r>
            <a:endParaRPr lang="en-US" sz="1200" dirty="0"/>
          </a:p>
        </p:txBody>
      </p:sp>
      <p:sp>
        <p:nvSpPr>
          <p:cNvPr id="29" name="Text 26"/>
          <p:cNvSpPr/>
          <p:nvPr/>
        </p:nvSpPr>
        <p:spPr>
          <a:xfrm>
            <a:off x="1143000" y="4800600"/>
            <a:ext cx="9509760" cy="502920"/>
          </a:xfrm>
          <a:prstGeom prst="rect">
            <a:avLst/>
          </a:prstGeom>
          <a:noFill/>
          <a:ln/>
        </p:spPr>
        <p:txBody>
          <a:bodyPr wrap="square" rtlCol="0" anchor="ctr"/>
          <a:lstStyle/>
          <a:p>
            <a:pPr marL="0" indent="0">
              <a:buNone/>
            </a:pPr>
            <a:r>
              <a:rPr lang="en-US" sz="1250" dirty="0">
                <a:solidFill>
                  <a:srgbClr val="121826"/>
                </a:solidFill>
                <a:latin typeface="Calibri" pitchFamily="34" charset="0"/>
                <a:ea typeface="Calibri" pitchFamily="34" charset="-122"/>
                <a:cs typeface="Calibri" pitchFamily="34" charset="-120"/>
              </a:rPr>
              <a:t>Advanced analytics dashboard for business insights</a:t>
            </a:r>
            <a:endParaRPr lang="en-US" sz="1250" dirty="0"/>
          </a:p>
        </p:txBody>
      </p:sp>
      <p:sp>
        <p:nvSpPr>
          <p:cNvPr id="30" name="Shape 27"/>
          <p:cNvSpPr/>
          <p:nvPr/>
        </p:nvSpPr>
        <p:spPr>
          <a:xfrm>
            <a:off x="502920" y="5422392"/>
            <a:ext cx="10287000" cy="502920"/>
          </a:xfrm>
          <a:prstGeom prst="roundRect">
            <a:avLst>
              <a:gd name="adj" fmla="val 10909"/>
            </a:avLst>
          </a:prstGeom>
          <a:solidFill>
            <a:srgbClr val="FFFFFF"/>
          </a:solidFill>
          <a:ln w="9525">
            <a:solidFill>
              <a:srgbClr val="D7DCE3"/>
            </a:solidFill>
            <a:prstDash val="solid"/>
          </a:ln>
        </p:spPr>
      </p:sp>
      <p:sp>
        <p:nvSpPr>
          <p:cNvPr id="31" name="Shape 28"/>
          <p:cNvSpPr/>
          <p:nvPr/>
        </p:nvSpPr>
        <p:spPr>
          <a:xfrm>
            <a:off x="658368" y="5522976"/>
            <a:ext cx="301752" cy="301752"/>
          </a:xfrm>
          <a:prstGeom prst="ellipse">
            <a:avLst/>
          </a:prstGeom>
          <a:solidFill>
            <a:srgbClr val="121826"/>
          </a:solidFill>
          <a:ln/>
        </p:spPr>
      </p:sp>
      <p:sp>
        <p:nvSpPr>
          <p:cNvPr id="32" name="Text 29"/>
          <p:cNvSpPr/>
          <p:nvPr/>
        </p:nvSpPr>
        <p:spPr>
          <a:xfrm>
            <a:off x="658368" y="5522976"/>
            <a:ext cx="301752" cy="301752"/>
          </a:xfrm>
          <a:prstGeom prst="rect">
            <a:avLst/>
          </a:prstGeom>
          <a:noFill/>
          <a:ln/>
        </p:spPr>
        <p:txBody>
          <a:bodyPr wrap="square" rtlCol="0" anchor="ctr"/>
          <a:lstStyle/>
          <a:p>
            <a:pPr marL="0" indent="0" algn="ctr">
              <a:buNone/>
            </a:pPr>
            <a:r>
              <a:rPr lang="en-US" sz="1200" b="1" dirty="0">
                <a:solidFill>
                  <a:srgbClr val="D7FF3D"/>
                </a:solidFill>
                <a:latin typeface="Calibri" pitchFamily="34" charset="0"/>
                <a:ea typeface="Calibri" pitchFamily="34" charset="-122"/>
                <a:cs typeface="Calibri" pitchFamily="34" charset="-120"/>
              </a:rPr>
              <a:t>7</a:t>
            </a:r>
            <a:endParaRPr lang="en-US" sz="1200" dirty="0"/>
          </a:p>
        </p:txBody>
      </p:sp>
      <p:sp>
        <p:nvSpPr>
          <p:cNvPr id="33" name="Text 30"/>
          <p:cNvSpPr/>
          <p:nvPr/>
        </p:nvSpPr>
        <p:spPr>
          <a:xfrm>
            <a:off x="1143000" y="5422392"/>
            <a:ext cx="9509760" cy="502920"/>
          </a:xfrm>
          <a:prstGeom prst="rect">
            <a:avLst/>
          </a:prstGeom>
          <a:noFill/>
          <a:ln/>
        </p:spPr>
        <p:txBody>
          <a:bodyPr wrap="square" rtlCol="0" anchor="ctr"/>
          <a:lstStyle/>
          <a:p>
            <a:pPr marL="0" indent="0">
              <a:buNone/>
            </a:pPr>
            <a:r>
              <a:rPr lang="en-US" sz="1250" dirty="0">
                <a:solidFill>
                  <a:srgbClr val="121826"/>
                </a:solidFill>
                <a:latin typeface="Calibri" pitchFamily="34" charset="0"/>
                <a:ea typeface="Calibri" pitchFamily="34" charset="-122"/>
                <a:cs typeface="Calibri" pitchFamily="34" charset="-120"/>
              </a:rPr>
              <a:t>Loyalty points and member referral program</a:t>
            </a:r>
            <a:endParaRPr lang="en-US" sz="1250" dirty="0"/>
          </a:p>
        </p:txBody>
      </p:sp>
      <p:sp>
        <p:nvSpPr>
          <p:cNvPr id="34" name="Text 31"/>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5B6472"/>
                </a:solidFill>
                <a:latin typeface="Calibri" pitchFamily="34" charset="0"/>
                <a:ea typeface="Calibri" pitchFamily="34" charset="-122"/>
                <a:cs typeface="Calibri" pitchFamily="34" charset="-120"/>
              </a:rPr>
              <a:t>FITCORE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8686800" y="4114800"/>
            <a:ext cx="5029200" cy="5029200"/>
          </a:xfrm>
          <a:prstGeom prst="ellipse">
            <a:avLst/>
          </a:prstGeom>
          <a:solidFill>
            <a:srgbClr val="1F2A3D"/>
          </a:solidFill>
          <a:ln/>
        </p:spPr>
      </p:sp>
      <p:sp>
        <p:nvSpPr>
          <p:cNvPr id="3" name="Text 1"/>
          <p:cNvSpPr/>
          <p:nvPr/>
        </p:nvSpPr>
        <p:spPr>
          <a:xfrm>
            <a:off x="502920" y="384048"/>
            <a:ext cx="5486400" cy="320040"/>
          </a:xfrm>
          <a:prstGeom prst="rect">
            <a:avLst/>
          </a:prstGeom>
          <a:noFill/>
          <a:ln/>
        </p:spPr>
        <p:txBody>
          <a:bodyPr wrap="square" rtlCol="0" anchor="ctr"/>
          <a:lstStyle/>
          <a:p>
            <a:pPr marL="0" indent="0">
              <a:buNone/>
            </a:pPr>
            <a:r>
              <a:rPr lang="en-US" sz="1300" b="1" kern="0" spc="300" dirty="0">
                <a:solidFill>
                  <a:srgbClr val="D7FF3D"/>
                </a:solidFill>
                <a:latin typeface="Calibri" pitchFamily="34" charset="0"/>
                <a:ea typeface="Calibri" pitchFamily="34" charset="-122"/>
                <a:cs typeface="Calibri" pitchFamily="34" charset="-120"/>
              </a:rPr>
              <a:t>WRAPPING UP</a:t>
            </a:r>
            <a:endParaRPr lang="en-US" sz="1300" dirty="0"/>
          </a:p>
        </p:txBody>
      </p:sp>
      <p:sp>
        <p:nvSpPr>
          <p:cNvPr id="4" name="Text 2"/>
          <p:cNvSpPr/>
          <p:nvPr/>
        </p:nvSpPr>
        <p:spPr>
          <a:xfrm>
            <a:off x="502920" y="777240"/>
            <a:ext cx="7315200" cy="54864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5" name="Text 3"/>
          <p:cNvSpPr/>
          <p:nvPr/>
        </p:nvSpPr>
        <p:spPr>
          <a:xfrm>
            <a:off x="502920" y="1828800"/>
            <a:ext cx="7589520" cy="1828800"/>
          </a:xfrm>
          <a:prstGeom prst="rect">
            <a:avLst/>
          </a:prstGeom>
          <a:noFill/>
          <a:ln/>
        </p:spPr>
        <p:txBody>
          <a:bodyPr wrap="square" rtlCol="0" anchor="ctr"/>
          <a:lstStyle/>
          <a:p>
            <a:pPr marL="0" indent="0">
              <a:lnSpc>
                <a:spcPct val="135000"/>
              </a:lnSpc>
              <a:buNone/>
            </a:pPr>
            <a:r>
              <a:rPr lang="en-US" sz="1600" dirty="0">
                <a:solidFill>
                  <a:srgbClr val="FFFFFF"/>
                </a:solidFill>
                <a:latin typeface="Calibri" pitchFamily="34" charset="0"/>
                <a:ea typeface="Calibri" pitchFamily="34" charset="-122"/>
                <a:cs typeface="Calibri" pitchFamily="34" charset="-120"/>
              </a:rPr>
              <a:t>FitCore brings memberships, class and private-session bookings, QR attendance, online payments, and the gym shop together into one secure, layered platform. It replaces scattered spreadsheets and paper processes with a system that members, trainers and admins can all rely on — with every action tracked and accounted for.</a:t>
            </a:r>
            <a:endParaRPr lang="en-US" sz="1600" dirty="0"/>
          </a:p>
        </p:txBody>
      </p:sp>
      <p:sp>
        <p:nvSpPr>
          <p:cNvPr id="6" name="Text 4"/>
          <p:cNvSpPr/>
          <p:nvPr/>
        </p:nvSpPr>
        <p:spPr>
          <a:xfrm>
            <a:off x="502920" y="3749040"/>
            <a:ext cx="7589520" cy="1188720"/>
          </a:xfrm>
          <a:prstGeom prst="rect">
            <a:avLst/>
          </a:prstGeom>
          <a:noFill/>
          <a:ln/>
        </p:spPr>
        <p:txBody>
          <a:bodyPr wrap="square" rtlCol="0" anchor="ctr"/>
          <a:lstStyle/>
          <a:p>
            <a:pPr marL="0" indent="0">
              <a:lnSpc>
                <a:spcPct val="135000"/>
              </a:lnSpc>
              <a:buNone/>
            </a:pPr>
            <a:r>
              <a:rPr lang="en-US" sz="1600" i="1" dirty="0">
                <a:solidFill>
                  <a:srgbClr val="D7FF3D"/>
                </a:solidFill>
                <a:latin typeface="Calibri" pitchFamily="34" charset="0"/>
                <a:ea typeface="Calibri" pitchFamily="34" charset="-122"/>
                <a:cs typeface="Calibri" pitchFamily="34" charset="-120"/>
              </a:rPr>
              <a:t>It stands as a solid, extensible foundation — one built to grow into mobile apps, multi-branch support and smarter, data-driven features down the line.</a:t>
            </a:r>
            <a:endParaRPr lang="en-US" sz="1600" dirty="0"/>
          </a:p>
        </p:txBody>
      </p:sp>
      <p:sp>
        <p:nvSpPr>
          <p:cNvPr id="7" name="Text 5"/>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AAB4C4"/>
                </a:solidFill>
                <a:latin typeface="Calibri" pitchFamily="34" charset="0"/>
                <a:ea typeface="Calibri" pitchFamily="34" charset="-122"/>
                <a:cs typeface="Calibri" pitchFamily="34" charset="-120"/>
              </a:rPr>
              <a:t>FITCORE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2011680" y="-2011680"/>
            <a:ext cx="4572000" cy="4572000"/>
          </a:xfrm>
          <a:prstGeom prst="ellipse">
            <a:avLst/>
          </a:prstGeom>
          <a:solidFill>
            <a:srgbClr val="1F2A3D"/>
          </a:solidFill>
          <a:ln/>
        </p:spPr>
      </p:sp>
      <p:sp>
        <p:nvSpPr>
          <p:cNvPr id="3" name="Text 1"/>
          <p:cNvSpPr/>
          <p:nvPr/>
        </p:nvSpPr>
        <p:spPr>
          <a:xfrm>
            <a:off x="502920" y="548640"/>
            <a:ext cx="7315200" cy="640080"/>
          </a:xfrm>
          <a:prstGeom prst="rect">
            <a:avLst/>
          </a:prstGeom>
          <a:noFill/>
          <a:ln/>
        </p:spPr>
        <p:txBody>
          <a:bodyPr wrap="square" rtlCol="0" anchor="ctr"/>
          <a:lstStyle/>
          <a:p>
            <a:pPr marL="0" indent="0">
              <a:buNone/>
            </a:pPr>
            <a:r>
              <a:rPr lang="en-US" sz="3400" b="1" dirty="0">
                <a:solidFill>
                  <a:srgbClr val="D7FF3D"/>
                </a:solidFill>
                <a:latin typeface="Cambria" pitchFamily="34" charset="0"/>
                <a:ea typeface="Cambria" pitchFamily="34" charset="-122"/>
                <a:cs typeface="Cambria" pitchFamily="34" charset="-120"/>
              </a:rPr>
              <a:t>THANK YOU</a:t>
            </a:r>
            <a:endParaRPr lang="en-US" sz="3400" dirty="0"/>
          </a:p>
        </p:txBody>
      </p:sp>
      <p:sp>
        <p:nvSpPr>
          <p:cNvPr id="4" name="Text 2"/>
          <p:cNvSpPr/>
          <p:nvPr/>
        </p:nvSpPr>
        <p:spPr>
          <a:xfrm>
            <a:off x="502920" y="1188720"/>
            <a:ext cx="7315200" cy="365760"/>
          </a:xfrm>
          <a:prstGeom prst="rect">
            <a:avLst/>
          </a:prstGeom>
          <a:noFill/>
          <a:ln/>
        </p:spPr>
        <p:txBody>
          <a:bodyPr wrap="square" rtlCol="0" anchor="ctr"/>
          <a:lstStyle/>
          <a:p>
            <a:pPr marL="0" indent="0">
              <a:buNone/>
            </a:pPr>
            <a:r>
              <a:rPr lang="en-US" sz="1400" dirty="0">
                <a:solidFill>
                  <a:srgbClr val="AAB4C4"/>
                </a:solidFill>
                <a:latin typeface="Calibri" pitchFamily="34" charset="0"/>
                <a:ea typeface="Calibri" pitchFamily="34" charset="-122"/>
                <a:cs typeface="Calibri" pitchFamily="34" charset="-120"/>
              </a:rPr>
              <a:t>FitCore — Smart Gym Management System</a:t>
            </a:r>
            <a:endParaRPr lang="en-US" sz="1400" dirty="0"/>
          </a:p>
        </p:txBody>
      </p:sp>
      <p:sp>
        <p:nvSpPr>
          <p:cNvPr id="5" name="Text 3"/>
          <p:cNvSpPr/>
          <p:nvPr/>
        </p:nvSpPr>
        <p:spPr>
          <a:xfrm>
            <a:off x="502920" y="1874520"/>
            <a:ext cx="4572000" cy="274320"/>
          </a:xfrm>
          <a:prstGeom prst="rect">
            <a:avLst/>
          </a:prstGeom>
          <a:noFill/>
          <a:ln/>
        </p:spPr>
        <p:txBody>
          <a:bodyPr wrap="square" rtlCol="0" anchor="ctr"/>
          <a:lstStyle/>
          <a:p>
            <a:pPr marL="0" indent="0">
              <a:buNone/>
            </a:pPr>
            <a:r>
              <a:rPr lang="en-US" sz="1150" b="1" kern="0" spc="150" dirty="0">
                <a:solidFill>
                  <a:srgbClr val="9AAF2E"/>
                </a:solidFill>
                <a:latin typeface="Calibri" pitchFamily="34" charset="0"/>
                <a:ea typeface="Calibri" pitchFamily="34" charset="-122"/>
                <a:cs typeface="Calibri" pitchFamily="34" charset="-120"/>
              </a:rPr>
              <a:t>SUPERVISED BY</a:t>
            </a:r>
            <a:endParaRPr lang="en-US" sz="1150" dirty="0"/>
          </a:p>
        </p:txBody>
      </p:sp>
      <p:sp>
        <p:nvSpPr>
          <p:cNvPr id="6" name="Text 4"/>
          <p:cNvSpPr/>
          <p:nvPr/>
        </p:nvSpPr>
        <p:spPr>
          <a:xfrm>
            <a:off x="502920" y="2194560"/>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Abdelrahman Ragab</a:t>
            </a:r>
            <a:endParaRPr lang="en-US" sz="1400" dirty="0"/>
          </a:p>
        </p:txBody>
      </p:sp>
      <p:sp>
        <p:nvSpPr>
          <p:cNvPr id="7" name="Text 5"/>
          <p:cNvSpPr/>
          <p:nvPr/>
        </p:nvSpPr>
        <p:spPr>
          <a:xfrm>
            <a:off x="502920" y="2560320"/>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Sayed Hawas</a:t>
            </a:r>
            <a:endParaRPr lang="en-US" sz="1400" dirty="0"/>
          </a:p>
        </p:txBody>
      </p:sp>
      <p:sp>
        <p:nvSpPr>
          <p:cNvPr id="8" name="Text 6"/>
          <p:cNvSpPr/>
          <p:nvPr/>
        </p:nvSpPr>
        <p:spPr>
          <a:xfrm>
            <a:off x="502920" y="3154680"/>
            <a:ext cx="4572000" cy="274320"/>
          </a:xfrm>
          <a:prstGeom prst="rect">
            <a:avLst/>
          </a:prstGeom>
          <a:noFill/>
          <a:ln/>
        </p:spPr>
        <p:txBody>
          <a:bodyPr wrap="square" rtlCol="0" anchor="ctr"/>
          <a:lstStyle/>
          <a:p>
            <a:pPr marL="0" indent="0">
              <a:buNone/>
            </a:pPr>
            <a:r>
              <a:rPr lang="en-US" sz="1150" b="1" kern="0" spc="150" dirty="0">
                <a:solidFill>
                  <a:srgbClr val="9AAF2E"/>
                </a:solidFill>
                <a:latin typeface="Calibri" pitchFamily="34" charset="0"/>
                <a:ea typeface="Calibri" pitchFamily="34" charset="-122"/>
                <a:cs typeface="Calibri" pitchFamily="34" charset="-120"/>
              </a:rPr>
              <a:t>TEAM</a:t>
            </a:r>
            <a:endParaRPr lang="en-US" sz="1150" dirty="0"/>
          </a:p>
        </p:txBody>
      </p:sp>
      <p:sp>
        <p:nvSpPr>
          <p:cNvPr id="9" name="Shape 7"/>
          <p:cNvSpPr/>
          <p:nvPr/>
        </p:nvSpPr>
        <p:spPr>
          <a:xfrm>
            <a:off x="502920" y="3557016"/>
            <a:ext cx="274320" cy="274320"/>
          </a:xfrm>
          <a:prstGeom prst="ellipse">
            <a:avLst/>
          </a:prstGeom>
          <a:solidFill>
            <a:srgbClr val="D7FF3D"/>
          </a:solidFill>
          <a:ln/>
        </p:spPr>
      </p:sp>
      <p:pic>
        <p:nvPicPr>
          <p:cNvPr id="10" name="Image 0" descr="/home/claude/work/icons/users.png"/>
          <p:cNvPicPr>
            <a:picLocks noChangeAspect="1"/>
          </p:cNvPicPr>
          <p:nvPr/>
        </p:nvPicPr>
        <p:blipFill>
          <a:blip r:embed="rId3"/>
          <a:stretch>
            <a:fillRect/>
          </a:stretch>
        </p:blipFill>
        <p:spPr>
          <a:xfrm>
            <a:off x="557784" y="3611880"/>
            <a:ext cx="164592" cy="164592"/>
          </a:xfrm>
          <a:prstGeom prst="rect">
            <a:avLst/>
          </a:prstGeom>
        </p:spPr>
      </p:pic>
      <p:sp>
        <p:nvSpPr>
          <p:cNvPr id="11" name="Text 8"/>
          <p:cNvSpPr/>
          <p:nvPr/>
        </p:nvSpPr>
        <p:spPr>
          <a:xfrm>
            <a:off x="886968" y="3520440"/>
            <a:ext cx="493776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Youssef Hamdy Abdelsayed  —  Team Leader</a:t>
            </a:r>
            <a:endParaRPr lang="en-US" sz="1250" dirty="0"/>
          </a:p>
        </p:txBody>
      </p:sp>
      <p:sp>
        <p:nvSpPr>
          <p:cNvPr id="12" name="Shape 9"/>
          <p:cNvSpPr/>
          <p:nvPr/>
        </p:nvSpPr>
        <p:spPr>
          <a:xfrm>
            <a:off x="5897880" y="3557016"/>
            <a:ext cx="274320" cy="274320"/>
          </a:xfrm>
          <a:prstGeom prst="ellipse">
            <a:avLst/>
          </a:prstGeom>
          <a:solidFill>
            <a:srgbClr val="1F2A3D"/>
          </a:solidFill>
          <a:ln/>
        </p:spPr>
      </p:sp>
      <p:pic>
        <p:nvPicPr>
          <p:cNvPr id="13" name="Image 1" descr="/home/claude/work/icons/users.png"/>
          <p:cNvPicPr>
            <a:picLocks noChangeAspect="1"/>
          </p:cNvPicPr>
          <p:nvPr/>
        </p:nvPicPr>
        <p:blipFill>
          <a:blip r:embed="rId3"/>
          <a:stretch>
            <a:fillRect/>
          </a:stretch>
        </p:blipFill>
        <p:spPr>
          <a:xfrm>
            <a:off x="5952744" y="3611880"/>
            <a:ext cx="164592" cy="164592"/>
          </a:xfrm>
          <a:prstGeom prst="rect">
            <a:avLst/>
          </a:prstGeom>
        </p:spPr>
      </p:pic>
      <p:sp>
        <p:nvSpPr>
          <p:cNvPr id="14" name="Text 10"/>
          <p:cNvSpPr/>
          <p:nvPr/>
        </p:nvSpPr>
        <p:spPr>
          <a:xfrm>
            <a:off x="6281928" y="3520440"/>
            <a:ext cx="493776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Rewan Mohamed Mostafa</a:t>
            </a:r>
            <a:endParaRPr lang="en-US" sz="1250" dirty="0"/>
          </a:p>
        </p:txBody>
      </p:sp>
      <p:sp>
        <p:nvSpPr>
          <p:cNvPr id="15" name="Shape 11"/>
          <p:cNvSpPr/>
          <p:nvPr/>
        </p:nvSpPr>
        <p:spPr>
          <a:xfrm>
            <a:off x="502920" y="4123944"/>
            <a:ext cx="274320" cy="274320"/>
          </a:xfrm>
          <a:prstGeom prst="ellipse">
            <a:avLst/>
          </a:prstGeom>
          <a:solidFill>
            <a:srgbClr val="1F2A3D"/>
          </a:solidFill>
          <a:ln/>
        </p:spPr>
      </p:sp>
      <p:pic>
        <p:nvPicPr>
          <p:cNvPr id="16" name="Image 2" descr="/home/claude/work/icons/users.png"/>
          <p:cNvPicPr>
            <a:picLocks noChangeAspect="1"/>
          </p:cNvPicPr>
          <p:nvPr/>
        </p:nvPicPr>
        <p:blipFill>
          <a:blip r:embed="rId3"/>
          <a:stretch>
            <a:fillRect/>
          </a:stretch>
        </p:blipFill>
        <p:spPr>
          <a:xfrm>
            <a:off x="557784" y="4178808"/>
            <a:ext cx="164592" cy="164592"/>
          </a:xfrm>
          <a:prstGeom prst="rect">
            <a:avLst/>
          </a:prstGeom>
        </p:spPr>
      </p:pic>
      <p:sp>
        <p:nvSpPr>
          <p:cNvPr id="17" name="Text 12"/>
          <p:cNvSpPr/>
          <p:nvPr/>
        </p:nvSpPr>
        <p:spPr>
          <a:xfrm>
            <a:off x="886968" y="4087368"/>
            <a:ext cx="493776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Rawda Mohamed Mahmoud</a:t>
            </a:r>
            <a:endParaRPr lang="en-US" sz="1250" dirty="0"/>
          </a:p>
        </p:txBody>
      </p:sp>
      <p:sp>
        <p:nvSpPr>
          <p:cNvPr id="18" name="Shape 13"/>
          <p:cNvSpPr/>
          <p:nvPr/>
        </p:nvSpPr>
        <p:spPr>
          <a:xfrm>
            <a:off x="5897880" y="4123944"/>
            <a:ext cx="274320" cy="274320"/>
          </a:xfrm>
          <a:prstGeom prst="ellipse">
            <a:avLst/>
          </a:prstGeom>
          <a:solidFill>
            <a:srgbClr val="1F2A3D"/>
          </a:solidFill>
          <a:ln/>
        </p:spPr>
      </p:sp>
      <p:pic>
        <p:nvPicPr>
          <p:cNvPr id="19" name="Image 3" descr="/home/claude/work/icons/users.png"/>
          <p:cNvPicPr>
            <a:picLocks noChangeAspect="1"/>
          </p:cNvPicPr>
          <p:nvPr/>
        </p:nvPicPr>
        <p:blipFill>
          <a:blip r:embed="rId3"/>
          <a:stretch>
            <a:fillRect/>
          </a:stretch>
        </p:blipFill>
        <p:spPr>
          <a:xfrm>
            <a:off x="5952744" y="4178808"/>
            <a:ext cx="164592" cy="164592"/>
          </a:xfrm>
          <a:prstGeom prst="rect">
            <a:avLst/>
          </a:prstGeom>
        </p:spPr>
      </p:pic>
      <p:sp>
        <p:nvSpPr>
          <p:cNvPr id="20" name="Text 14"/>
          <p:cNvSpPr/>
          <p:nvPr/>
        </p:nvSpPr>
        <p:spPr>
          <a:xfrm>
            <a:off x="6281928" y="4087368"/>
            <a:ext cx="493776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Sarah Mahmoud Mohamed</a:t>
            </a:r>
            <a:endParaRPr lang="en-US" sz="1250" dirty="0"/>
          </a:p>
        </p:txBody>
      </p:sp>
      <p:sp>
        <p:nvSpPr>
          <p:cNvPr id="21" name="Shape 15"/>
          <p:cNvSpPr/>
          <p:nvPr/>
        </p:nvSpPr>
        <p:spPr>
          <a:xfrm>
            <a:off x="502920" y="4690872"/>
            <a:ext cx="274320" cy="274320"/>
          </a:xfrm>
          <a:prstGeom prst="ellipse">
            <a:avLst/>
          </a:prstGeom>
          <a:solidFill>
            <a:srgbClr val="1F2A3D"/>
          </a:solidFill>
          <a:ln/>
        </p:spPr>
      </p:sp>
      <p:pic>
        <p:nvPicPr>
          <p:cNvPr id="22" name="Image 4" descr="/home/claude/work/icons/users.png"/>
          <p:cNvPicPr>
            <a:picLocks noChangeAspect="1"/>
          </p:cNvPicPr>
          <p:nvPr/>
        </p:nvPicPr>
        <p:blipFill>
          <a:blip r:embed="rId3"/>
          <a:stretch>
            <a:fillRect/>
          </a:stretch>
        </p:blipFill>
        <p:spPr>
          <a:xfrm>
            <a:off x="557784" y="4745736"/>
            <a:ext cx="164592" cy="164592"/>
          </a:xfrm>
          <a:prstGeom prst="rect">
            <a:avLst/>
          </a:prstGeom>
        </p:spPr>
      </p:pic>
      <p:sp>
        <p:nvSpPr>
          <p:cNvPr id="23" name="Text 16"/>
          <p:cNvSpPr/>
          <p:nvPr/>
        </p:nvSpPr>
        <p:spPr>
          <a:xfrm>
            <a:off x="886968" y="4654296"/>
            <a:ext cx="493776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Ahmed Ashraf Mohamed</a:t>
            </a:r>
            <a:endParaRPr lang="en-US" sz="1250" dirty="0"/>
          </a:p>
        </p:txBody>
      </p:sp>
      <p:sp>
        <p:nvSpPr>
          <p:cNvPr id="24" name="Shape 17"/>
          <p:cNvSpPr/>
          <p:nvPr/>
        </p:nvSpPr>
        <p:spPr>
          <a:xfrm>
            <a:off x="5897880" y="4690872"/>
            <a:ext cx="274320" cy="274320"/>
          </a:xfrm>
          <a:prstGeom prst="ellipse">
            <a:avLst/>
          </a:prstGeom>
          <a:solidFill>
            <a:srgbClr val="1F2A3D"/>
          </a:solidFill>
          <a:ln/>
        </p:spPr>
      </p:sp>
      <p:pic>
        <p:nvPicPr>
          <p:cNvPr id="25" name="Image 5" descr="/home/claude/work/icons/users.png"/>
          <p:cNvPicPr>
            <a:picLocks noChangeAspect="1"/>
          </p:cNvPicPr>
          <p:nvPr/>
        </p:nvPicPr>
        <p:blipFill>
          <a:blip r:embed="rId3"/>
          <a:stretch>
            <a:fillRect/>
          </a:stretch>
        </p:blipFill>
        <p:spPr>
          <a:xfrm>
            <a:off x="5952744" y="4745736"/>
            <a:ext cx="164592" cy="164592"/>
          </a:xfrm>
          <a:prstGeom prst="rect">
            <a:avLst/>
          </a:prstGeom>
        </p:spPr>
      </p:pic>
      <p:sp>
        <p:nvSpPr>
          <p:cNvPr id="26" name="Text 18"/>
          <p:cNvSpPr/>
          <p:nvPr/>
        </p:nvSpPr>
        <p:spPr>
          <a:xfrm>
            <a:off x="6281928" y="4654296"/>
            <a:ext cx="4937760" cy="365760"/>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Aya Mohamed Elfar</a:t>
            </a:r>
            <a:endParaRPr lang="en-US" sz="1250" dirty="0"/>
          </a:p>
        </p:txBody>
      </p:sp>
      <p:sp>
        <p:nvSpPr>
          <p:cNvPr id="27" name="Text 19"/>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AAB4C4"/>
                </a:solidFill>
                <a:latin typeface="Calibri" pitchFamily="34" charset="0"/>
                <a:ea typeface="Calibri" pitchFamily="34" charset="-122"/>
                <a:cs typeface="Calibri" pitchFamily="34" charset="-120"/>
              </a:rPr>
              <a:t>FITCORE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1F2A3D"/>
          </a:solidFill>
          <a:ln/>
        </p:spPr>
      </p:sp>
      <p:pic>
        <p:nvPicPr>
          <p:cNvPr id="3" name="Image 0" descr="/home/claude/work/icons/dumbbell.png"/>
          <p:cNvPicPr>
            <a:picLocks noChangeAspect="1"/>
          </p:cNvPicPr>
          <p:nvPr/>
        </p:nvPicPr>
        <p:blipFill>
          <a:blip r:embed="rId3"/>
          <a:stretch>
            <a:fillRect/>
          </a:stretch>
        </p:blipFill>
        <p:spPr>
          <a:xfrm>
            <a:off x="5623560" y="1600200"/>
            <a:ext cx="914400" cy="914400"/>
          </a:xfrm>
          <a:prstGeom prst="rect">
            <a:avLst/>
          </a:prstGeom>
        </p:spPr>
      </p:pic>
      <p:sp>
        <p:nvSpPr>
          <p:cNvPr id="4" name="Text 1"/>
          <p:cNvSpPr/>
          <p:nvPr/>
        </p:nvSpPr>
        <p:spPr>
          <a:xfrm>
            <a:off x="1517904" y="3657600"/>
            <a:ext cx="9144000"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5" name="Text 2"/>
          <p:cNvSpPr/>
          <p:nvPr/>
        </p:nvSpPr>
        <p:spPr>
          <a:xfrm>
            <a:off x="1517904" y="4526280"/>
            <a:ext cx="9144000" cy="457200"/>
          </a:xfrm>
          <a:prstGeom prst="rect">
            <a:avLst/>
          </a:prstGeom>
          <a:noFill/>
          <a:ln/>
        </p:spPr>
        <p:txBody>
          <a:bodyPr wrap="square" rtlCol="0" anchor="ctr"/>
          <a:lstStyle/>
          <a:p>
            <a:pPr marL="0" indent="0" algn="ctr">
              <a:buNone/>
            </a:pPr>
            <a:r>
              <a:rPr lang="en-US" sz="1500" dirty="0">
                <a:solidFill>
                  <a:srgbClr val="AAB4C4"/>
                </a:solidFill>
                <a:latin typeface="Calibri" pitchFamily="34" charset="0"/>
                <a:ea typeface="Calibri" pitchFamily="34" charset="-122"/>
                <a:cs typeface="Calibri" pitchFamily="34" charset="-120"/>
              </a:rPr>
              <a:t>We'd love to hear your thoughts on FitCore.</a:t>
            </a:r>
            <a:endParaRPr lang="en-US" sz="1500" dirty="0"/>
          </a:p>
        </p:txBody>
      </p:sp>
      <p:sp>
        <p:nvSpPr>
          <p:cNvPr id="6" name="Text 3"/>
          <p:cNvSpPr/>
          <p:nvPr/>
        </p:nvSpPr>
        <p:spPr>
          <a:xfrm>
            <a:off x="457200" y="6473952"/>
            <a:ext cx="3657600" cy="274320"/>
          </a:xfrm>
          <a:prstGeom prst="rect">
            <a:avLst/>
          </a:prstGeom>
          <a:noFill/>
          <a:ln/>
        </p:spPr>
        <p:txBody>
          <a:bodyPr wrap="square" rtlCol="0" anchor="ctr"/>
          <a:lstStyle/>
          <a:p>
            <a:pPr marL="0" indent="0">
              <a:buNone/>
            </a:pPr>
            <a:r>
              <a:rPr lang="en-US" sz="900" i="1" dirty="0">
                <a:solidFill>
                  <a:srgbClr val="AAB4C4"/>
                </a:solidFill>
                <a:latin typeface="Calibri" pitchFamily="34" charset="0"/>
                <a:ea typeface="Calibri" pitchFamily="34" charset="-122"/>
                <a:cs typeface="Calibri" pitchFamily="34" charset="-120"/>
              </a:rPr>
              <a:t>FITCORE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1832</Words>
  <Application>Microsoft Office PowerPoint</Application>
  <PresentationFormat>Widescreen</PresentationFormat>
  <Paragraphs>285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Youssef Hamdy</cp:lastModifiedBy>
  <cp:revision>2</cp:revision>
  <dcterms:created xsi:type="dcterms:W3CDTF">2026-07-13T19:48:12Z</dcterms:created>
  <dcterms:modified xsi:type="dcterms:W3CDTF">2026-07-13T19:58:42Z</dcterms:modified>
</cp:coreProperties>
</file>